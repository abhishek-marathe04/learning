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1F3B"/>
                </a:solidFill>
                <a:latin typeface="Arial"/>
              </a:defRPr>
            </a:pPr>
            <a:r>
              <a:rPr sz="1600" b="0" i="0" u="none" strike="noStrike">
                <a:solidFill>
                  <a:srgbClr val="1B1F3B"/>
                </a:solidFill>
                <a:latin typeface="Arial"/>
              </a:rPr>
              <a:t>Loss</a:t>
            </a:r>
          </a:p>
        </c:rich>
      </c:tx>
      <c:layout/>
      <c:overlay val="0"/>
    </c:title>
    <c:autoTitleDeleted val="0"/>
    <c:plotArea>
      <c:layout/>
      <c:barChart>
        <c:barDir val="col"/>
        <c:grouping val="clustered"/>
        <c:varyColors val="0"/>
        <c:ser>
          <c:idx val="0"/>
          <c:order val="0"/>
          <c:tx>
            <c:strRef>
              <c:f>Sheet1!$B$1</c:f>
              <c:strCache>
                <c:ptCount val="1"/>
                <c:pt idx="0">
                  <c:v>Loss</c:v>
                </c:pt>
              </c:strCache>
            </c:strRef>
          </c:tx>
          <c:spPr>
            <a:solidFill>
              <a:srgbClr val="F2A541"/>
            </a:solidFill>
            <a:effectLst/>
          </c:spPr>
          <c:invertIfNegative val="0"/>
          <c:dLbls>
            <c:numFmt formatCode="#,##0" sourceLinked="0"/>
            <c:txPr>
              <a:bodyPr/>
              <a:lstStyle/>
              <a:p>
                <a:pPr>
                  <a:defRPr b="0" i="0" strike="noStrike" sz="1600" u="none">
                    <a:solidFill>
                      <a:srgbClr val="1B1F3B"/>
                    </a:solidFill>
                    <a:latin typeface="Arial"/>
                  </a:defRPr>
                </a:pPr>
              </a:p>
            </c:txPr>
            <c:showLegendKey val="0"/>
            <c:showVal val="1"/>
            <c:showCatName val="0"/>
            <c:showSerName val="0"/>
            <c:showPercent val="0"/>
            <c:showBubbleSize val="0"/>
            <c:showLeaderLines val="0"/>
          </c:dLbls>
          <c:cat>
            <c:multiLvlStrRef>
              <c:f>Sheet1!$A$2:$A$3</c:f>
              <c:multiLvlStrCache>
                <c:ptCount val="2"/>
                <c:lvl>
                  <c:pt idx="0">
                    <c:v>Before</c:v>
                  </c:pt>
                  <c:pt idx="1">
                    <c:v>After one nudge</c:v>
                  </c:pt>
                </c:lvl>
              </c:multiLvlStrCache>
            </c:multiLvlStrRef>
          </c:cat>
          <c:val>
            <c:numRef>
              <c:f>Sheet1!$B$2:$B$3</c:f>
              <c:numCache>
                <c:formatCode>General</c:formatCode>
                <c:ptCount val="2"/>
                <c:pt idx="0">
                  <c:v>1600</c:v>
                </c:pt>
                <c:pt idx="1">
                  <c:v>1293</c:v>
                </c:pt>
              </c:numCache>
            </c:numRef>
          </c:val>
        </c:ser>
        <c:dLbls>
          <c:numFmt formatCode="#,##0" sourceLinked="0"/>
          <c:txPr>
            <a:bodyPr/>
            <a:lstStyle/>
            <a:p>
              <a:pPr>
                <a:defRPr b="0" i="0" strike="noStrike" sz="1600" u="none">
                  <a:solidFill>
                    <a:srgbClr val="1B1F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B1F3B"/>
                </a:solidFill>
                <a:latin typeface="Arial"/>
              </a:defRPr>
            </a:pPr>
            <a:endParaRPr lang="en-US"/>
          </a:p>
        </c:txPr>
        <c:crossAx val="2094734552"/>
        <c:crosses val="autoZero"/>
        <c:auto val="1"/>
        <c:lblAlgn val="ctr"/>
        <c:noMultiLvlLbl val="1"/>
      </c:catAx>
      <c:valAx>
        <c:axId val="2094734552"/>
        <c:scaling>
          <c:orientation val="minMax"/>
          <c:max val="19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A6285"/>
                </a:solidFill>
                <a:latin typeface="Arial"/>
              </a:defRPr>
            </a:pPr>
            <a:r>
              <a:rPr sz="1400" b="0" i="0" u="none" strike="noStrike">
                <a:solidFill>
                  <a:srgbClr val="5A6285"/>
                </a:solidFill>
                <a:latin typeface="Arial"/>
              </a:rPr>
              <a:t>A trained model's guesses (illustrative)</a:t>
            </a:r>
          </a:p>
        </c:rich>
      </c:tx>
      <c:layout/>
      <c:overlay val="0"/>
    </c:title>
    <c:autoTitleDeleted val="0"/>
    <c:plotArea>
      <c:layout/>
      <c:barChart>
        <c:barDir val="bar"/>
        <c:grouping val="clustered"/>
        <c:varyColors val="0"/>
        <c:ser>
          <c:idx val="0"/>
          <c:order val="0"/>
          <c:tx>
            <c:strRef>
              <c:f>Sheet1!$B$1</c:f>
              <c:strCache>
                <c:ptCount val="1"/>
                <c:pt idx="0">
                  <c:v>P</c:v>
                </c:pt>
              </c:strCache>
            </c:strRef>
          </c:tx>
          <c:spPr>
            <a:solidFill>
              <a:srgbClr val="3CC6B0"/>
            </a:solidFill>
            <a:effectLst/>
          </c:spPr>
          <c:invertIfNegative val="0"/>
          <c:dLbls>
            <c:numFmt formatCode="0&quot;%&quot;" sourceLinked="0"/>
            <c:txPr>
              <a:bodyPr/>
              <a:lstStyle/>
              <a:p>
                <a:pPr>
                  <a:defRPr b="0" i="0" strike="noStrike" sz="1400" u="none">
                    <a:solidFill>
                      <a:srgbClr val="1B1F3B"/>
                    </a:solidFill>
                    <a:latin typeface="Arial"/>
                  </a:defRPr>
                </a:pPr>
              </a:p>
            </c:txPr>
            <c:showLegendKey val="0"/>
            <c:showVal val="1"/>
            <c:showCatName val="0"/>
            <c:showSerName val="0"/>
            <c:showPercent val="0"/>
            <c:showBubbleSize val="0"/>
            <c:showLeaderLines val="0"/>
          </c:dLbls>
          <c:cat>
            <c:multiLvlStrRef>
              <c:f>Sheet1!$A$2:$A$6</c:f>
              <c:multiLvlStrCache>
                <c:ptCount val="5"/>
                <c:lvl>
                  <c:pt idx="0">
                    <c:v>len</c:v>
                  </c:pt>
                  <c:pt idx="1">
                    <c:v>10</c:v>
                  </c:pt>
                  <c:pt idx="2">
                    <c:v>n</c:v>
                  </c:pt>
                  <c:pt idx="3">
                    <c:v>5</c:v>
                  </c:pt>
                  <c:pt idx="4">
                    <c:v>1</c:v>
                  </c:pt>
                </c:lvl>
              </c:multiLvlStrCache>
            </c:multiLvlStrRef>
          </c:cat>
          <c:val>
            <c:numRef>
              <c:f>Sheet1!$B$2:$B$6</c:f>
              <c:numCache>
                <c:formatCode>General</c:formatCode>
                <c:ptCount val="5"/>
                <c:pt idx="0">
                  <c:v>40</c:v>
                </c:pt>
                <c:pt idx="1">
                  <c:v>18</c:v>
                </c:pt>
                <c:pt idx="2">
                  <c:v>12</c:v>
                </c:pt>
                <c:pt idx="3">
                  <c:v>6</c:v>
                </c:pt>
                <c:pt idx="4">
                  <c:v>5</c:v>
                </c:pt>
              </c:numCache>
            </c:numRef>
          </c:val>
        </c:ser>
        <c:dLbls>
          <c:numFmt formatCode="0&quot;%&quot;" sourceLinked="0"/>
          <c:txPr>
            <a:bodyPr/>
            <a:lstStyle/>
            <a:p>
              <a:pPr>
                <a:defRPr b="0" i="0" strike="noStrike" sz="1400" u="none">
                  <a:solidFill>
                    <a:srgbClr val="1B1F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1B1F3B"/>
                </a:solidFill>
                <a:latin typeface="Courier New"/>
              </a:defRPr>
            </a:pPr>
            <a:endParaRPr lang="en-US"/>
          </a:p>
        </c:txPr>
        <c:crossAx val="2094734552"/>
        <c:crosses val="autoZero"/>
        <c:auto val="1"/>
        <c:lblAlgn val="ctr"/>
        <c:noMultiLvlLbl val="1"/>
      </c:catAx>
      <c:valAx>
        <c:axId val="2094734552"/>
        <c:scaling>
          <c:orientation val="minMax"/>
          <c:max val="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Show of hands: who used an AI assistant today? Keep it up if you could explain what "the model was trained" actually means, mechanically. That gap is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programming: we write rules. Machine learning flips it: we give examples of inputs and correct answers, and training produces the rules, except the rules are numbers, not code. Nobody at any lab wrote a rule for how to indent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Karpathy-style: one tiny example we build up by hand, then scale. Three live demos. Nothing I show needs more than multiplication.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is two things: a fixed recipe (the architecture, a few hundred lines of code) and a pile of knob values. Learning only touches the knobs. Our first model has 2. A big open LLM has 405 billion. The ideas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running example. Everyone here knows F = 1.8C + 32. The model does not. It only gets thermometer readings. One neuron: multiply by w, add b. Start with a bad guess: w=1, b=0.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 model can improve, it needs a scoreboard. Feed in 10 degrees C. Guess: 10. Truth: 50. Miss by 40. Square it: loss 1,600. With many examples you average: still one number. Hold on to 1,600.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definition. Pause on it. No understanding, no rules, no memorising. Knobs, one score, and a way to nudge the knobs so the score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which way to turn? Wiggle. Bump w from 1 to 1.01: guess 10.1, loss 1592, it dropped about 8. Slope about minus 800. Bump b by 0.01: loss drops 0.8, slope minus 80. Negative means turn it up. And w matters ten times more, because it multiplies the input 10. This slope has a name: the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update rule. For every knob: subtract step size times slope. Step size 0.0005. w goes 1 to 1.4, b goes 0 to 0.04. New guess 14.04. Loss drops from 1600 to 1293. One nudge, 19 percent less wrong. Training is this, repeated.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Every knob setting has a loss, so you get a landscape. Learning is a ball rolling downhill. The step size, called the learning rate, matters a lot: too small, forever; too big, you bounce out of the valley. Let me show you,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See script for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wiggle test is honest but hopeless at scale: one extra model run per knob. 405 billion knobs means 405 billion runs for a single nudge. Backprop gets every slope in one forward and one backward pass, roughly 3x the cost of a forward pass, no matter how many knobs. That single trick is why deep learning 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does backprop get every slope in one pass? Chain rule. Think gears: rates multiply. w drives guess at 10x, guess drives miss 1-for-1, miss drives loss at 2 times the miss, minus 80. Multiply back from the loss: minus 800. Same number the wiggle test found. Each node only needs to know its own tiny local rate. Karpathy's micrograd is 100 lines doing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real life you write five lines. model(x) is the forward pass. The loss line is the scoreboard. loss.backward() is the gears: PyTorch recorded every operation and walks it backwards. optimizer.step() is the nudge. That is, in essence, the loop behind every model you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one neuron is a straight line forever. Real data is curvy. Fix: add a bend. ReLU: if negative, output zero. One neuron now makes a hinge. Put many side by side and add them up and you can trace any shape. Layers stack this further. Same loop trains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See script for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leap. An LLM is trained on one task: predict the next token. It outputs a probability for every token in the vocabulary. We reveal the real one and score its surprise. Put 100% on the right token: zero surprise. Guess randomly over 100k tokens: 11.5. Training pushes surprise down. Then backprop, nudge, repeat on trillions of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See script for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steps at every row. What changes is knobs, data, and compute. Figures for Llama 3.1 are Meta's published ballpark: about 15 trillion tokens, trained on around 16 thousand H100s. Tie back: the 140 GB weights blob from the inference talk is exactly these knobs, after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practical consequences. One: the base objective is low surprise, not truth; hallucination is the loss working as designed (post-training helps, but does not change the foundation). Two: it does not learn from your chat; the weights are frozen, memory features just paste text back in. Three: it is best at what it saw most; your internal code got zero nudges, so give it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Knobs. One score. Gradient says which way. Backprop makes it cheap. An LLM is this loop at enormous scale with surprise as the loss. None of it was magic: multiplication, a scoreboard, and patience.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Point to Karpathy's series: this talk is basically lecture 1 and 2 compressed. Leave the demo up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A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0" y="0"/>
            <a:ext cx="6858000" cy="6858000"/>
          </a:xfrm>
          <a:prstGeom prst="rect">
            <a:avLst/>
          </a:prstGeom>
        </p:spPr>
      </p:pic>
      <p:sp>
        <p:nvSpPr>
          <p:cNvPr id="3" name="Text 0"/>
          <p:cNvSpPr txBox="1"/>
          <p:nvPr/>
        </p:nvSpPr>
        <p:spPr>
          <a:xfrm>
            <a:off x="640080" y="1554480"/>
            <a:ext cx="6035040" cy="210312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What does it mean for a machine to learn?</a:t>
            </a:r>
            <a:endParaRPr lang="en-US" sz="4400" dirty="0"/>
          </a:p>
        </p:txBody>
      </p:sp>
      <p:sp>
        <p:nvSpPr>
          <p:cNvPr id="4" name="Text 1"/>
          <p:cNvSpPr txBox="1"/>
          <p:nvPr/>
        </p:nvSpPr>
        <p:spPr>
          <a:xfrm>
            <a:off x="640080" y="3840480"/>
            <a:ext cx="5669280" cy="822960"/>
          </a:xfrm>
          <a:prstGeom prst="rect">
            <a:avLst/>
          </a:prstGeom>
          <a:noFill/>
          <a:ln/>
        </p:spPr>
        <p:txBody>
          <a:bodyPr wrap="square" lIns="0" tIns="0" rIns="0" bIns="0" rtlCol="0" anchor="t"/>
          <a:lstStyle/>
          <a:p>
            <a:pPr indent="0" marL="0">
              <a:buNone/>
            </a:pPr>
            <a:r>
              <a:rPr lang="en-US" sz="2000" dirty="0">
                <a:solidFill>
                  <a:srgbClr val="C9CDEA"/>
                </a:solidFill>
                <a:latin typeface="Calibri" pitchFamily="34" charset="0"/>
                <a:ea typeface="Calibri" pitchFamily="34" charset="-122"/>
                <a:cs typeface="Calibri" pitchFamily="34" charset="-120"/>
              </a:rPr>
              <a:t>How a neural network actually learns, from one knob to an LLM</a:t>
            </a:r>
            <a:endParaRPr lang="en-US" sz="2000" dirty="0"/>
          </a:p>
        </p:txBody>
      </p:sp>
      <p:sp>
        <p:nvSpPr>
          <p:cNvPr id="5" name="Text 2"/>
          <p:cNvSpPr txBox="1"/>
          <p:nvPr/>
        </p:nvSpPr>
        <p:spPr>
          <a:xfrm>
            <a:off x="640080" y="5943600"/>
            <a:ext cx="5486400" cy="365760"/>
          </a:xfrm>
          <a:prstGeom prst="rect">
            <a:avLst/>
          </a:prstGeom>
          <a:noFill/>
          <a:ln/>
        </p:spPr>
        <p:txBody>
          <a:bodyPr wrap="square" lIns="0" tIns="0" rIns="0" bIns="0" rtlCol="0" anchor="t"/>
          <a:lstStyle/>
          <a:p>
            <a:pPr indent="0" marL="0">
              <a:buNone/>
            </a:pPr>
            <a:r>
              <a:rPr lang="en-US" sz="1400" dirty="0">
                <a:solidFill>
                  <a:srgbClr val="9AA2C8"/>
                </a:solidFill>
                <a:latin typeface="Calibri" pitchFamily="34" charset="0"/>
                <a:ea typeface="Calibri" pitchFamily="34" charset="-122"/>
                <a:cs typeface="Calibri" pitchFamily="34" charset="-120"/>
              </a:rPr>
              <a:t>Devocracy   |   Abhishek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Nobody wrote the rules</a:t>
            </a:r>
            <a:endParaRPr lang="en-US" sz="3400" dirty="0"/>
          </a:p>
        </p:txBody>
      </p:sp>
      <p:sp>
        <p:nvSpPr>
          <p:cNvPr id="3" name="Text 1"/>
          <p:cNvSpPr txBox="1"/>
          <p:nvPr/>
        </p:nvSpPr>
        <p:spPr>
          <a:xfrm>
            <a:off x="548640" y="1856232"/>
            <a:ext cx="2194560" cy="457200"/>
          </a:xfrm>
          <a:prstGeom prst="rect">
            <a:avLst/>
          </a:prstGeom>
          <a:noFill/>
          <a:ln/>
        </p:spPr>
        <p:txBody>
          <a:bodyPr wrap="square" lIns="0" tIns="0" rIns="0" bIns="0" rtlCol="0" anchor="t"/>
          <a:lstStyle/>
          <a:p>
            <a:pPr indent="0" marL="0">
              <a:buNone/>
            </a:pPr>
            <a:r>
              <a:rPr lang="en-US" sz="1700" b="1" dirty="0">
                <a:solidFill>
                  <a:srgbClr val="5A6285"/>
                </a:solidFill>
                <a:latin typeface="Calibri" pitchFamily="34" charset="0"/>
                <a:ea typeface="Calibri" pitchFamily="34" charset="-122"/>
                <a:cs typeface="Calibri" pitchFamily="34" charset="-120"/>
              </a:rPr>
              <a:t>Software you write</a:t>
            </a:r>
            <a:endParaRPr lang="en-US" sz="1700" dirty="0"/>
          </a:p>
        </p:txBody>
      </p:sp>
      <p:sp>
        <p:nvSpPr>
          <p:cNvPr id="4" name="Shape 2"/>
          <p:cNvSpPr/>
          <p:nvPr/>
        </p:nvSpPr>
        <p:spPr>
          <a:xfrm>
            <a:off x="2834640" y="1600200"/>
            <a:ext cx="1554480" cy="960120"/>
          </a:xfrm>
          <a:prstGeom prst="roundRect">
            <a:avLst>
              <a:gd name="adj" fmla="val 11429"/>
            </a:avLst>
          </a:prstGeom>
          <a:solidFill>
            <a:srgbClr val="F3F5FA"/>
          </a:solidFill>
          <a:ln w="12700">
            <a:solidFill>
              <a:srgbClr val="F3F5FA"/>
            </a:solidFill>
            <a:prstDash val="solid"/>
          </a:ln>
        </p:spPr>
      </p:sp>
      <p:sp>
        <p:nvSpPr>
          <p:cNvPr id="5" name="Text 3"/>
          <p:cNvSpPr txBox="1"/>
          <p:nvPr/>
        </p:nvSpPr>
        <p:spPr>
          <a:xfrm>
            <a:off x="2834640" y="1600200"/>
            <a:ext cx="1554480" cy="960120"/>
          </a:xfrm>
          <a:prstGeom prst="rect">
            <a:avLst/>
          </a:prstGeom>
          <a:noFill/>
          <a:ln/>
        </p:spPr>
        <p:txBody>
          <a:bodyPr wrap="square" lIns="0" tIns="0" rIns="0" bIns="0" rtlCol="0" anchor="ctr"/>
          <a:lstStyle/>
          <a:p>
            <a:pPr algn="ctr" indent="0" marL="0">
              <a:buNone/>
            </a:pPr>
            <a:r>
              <a:rPr lang="en-US" sz="1800" dirty="0">
                <a:solidFill>
                  <a:srgbClr val="1B1F3B"/>
                </a:solidFill>
                <a:latin typeface="Calibri" pitchFamily="34" charset="0"/>
                <a:ea typeface="Calibri" pitchFamily="34" charset="-122"/>
                <a:cs typeface="Calibri" pitchFamily="34" charset="-120"/>
              </a:rPr>
              <a:t>Rules</a:t>
            </a:r>
            <a:endParaRPr lang="en-US" sz="1800" dirty="0"/>
          </a:p>
        </p:txBody>
      </p:sp>
      <p:sp>
        <p:nvSpPr>
          <p:cNvPr id="6" name="Text 4"/>
          <p:cNvSpPr txBox="1"/>
          <p:nvPr/>
        </p:nvSpPr>
        <p:spPr>
          <a:xfrm>
            <a:off x="4434840" y="1600200"/>
            <a:ext cx="365760" cy="960120"/>
          </a:xfrm>
          <a:prstGeom prst="rect">
            <a:avLst/>
          </a:prstGeom>
          <a:noFill/>
          <a:ln/>
        </p:spPr>
        <p:txBody>
          <a:bodyPr wrap="square" lIns="0" tIns="0" rIns="0" bIns="0" rtlCol="0" anchor="ctr"/>
          <a:lstStyle/>
          <a:p>
            <a:pPr algn="ctr" indent="0" marL="0">
              <a:buNone/>
            </a:pPr>
            <a:r>
              <a:rPr lang="en-US" sz="2400" dirty="0">
                <a:solidFill>
                  <a:srgbClr val="5A6285"/>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4846320" y="1600200"/>
            <a:ext cx="1554480" cy="960120"/>
          </a:xfrm>
          <a:prstGeom prst="roundRect">
            <a:avLst>
              <a:gd name="adj" fmla="val 11429"/>
            </a:avLst>
          </a:prstGeom>
          <a:solidFill>
            <a:srgbClr val="F3F5FA"/>
          </a:solidFill>
          <a:ln w="12700">
            <a:solidFill>
              <a:srgbClr val="F3F5FA"/>
            </a:solidFill>
            <a:prstDash val="solid"/>
          </a:ln>
        </p:spPr>
      </p:sp>
      <p:sp>
        <p:nvSpPr>
          <p:cNvPr id="8" name="Text 6"/>
          <p:cNvSpPr txBox="1"/>
          <p:nvPr/>
        </p:nvSpPr>
        <p:spPr>
          <a:xfrm>
            <a:off x="4846320" y="1600200"/>
            <a:ext cx="1554480" cy="960120"/>
          </a:xfrm>
          <a:prstGeom prst="rect">
            <a:avLst/>
          </a:prstGeom>
          <a:noFill/>
          <a:ln/>
        </p:spPr>
        <p:txBody>
          <a:bodyPr wrap="square" lIns="0" tIns="0" rIns="0" bIns="0" rtlCol="0" anchor="ctr"/>
          <a:lstStyle/>
          <a:p>
            <a:pPr algn="ctr" indent="0" marL="0">
              <a:buNone/>
            </a:pPr>
            <a:r>
              <a:rPr lang="en-US" sz="1800" dirty="0">
                <a:solidFill>
                  <a:srgbClr val="1B1F3B"/>
                </a:solidFill>
                <a:latin typeface="Calibri" pitchFamily="34" charset="0"/>
                <a:ea typeface="Calibri" pitchFamily="34" charset="-122"/>
                <a:cs typeface="Calibri" pitchFamily="34" charset="-120"/>
              </a:rPr>
              <a:t>Data</a:t>
            </a:r>
            <a:endParaRPr lang="en-US" sz="1800" dirty="0"/>
          </a:p>
        </p:txBody>
      </p:sp>
      <p:sp>
        <p:nvSpPr>
          <p:cNvPr id="9" name="Shape 7"/>
          <p:cNvSpPr/>
          <p:nvPr/>
        </p:nvSpPr>
        <p:spPr>
          <a:xfrm>
            <a:off x="6537960" y="2075688"/>
            <a:ext cx="548640" cy="914"/>
          </a:xfrm>
          <a:prstGeom prst="line">
            <a:avLst/>
          </a:prstGeom>
          <a:noFill/>
          <a:ln w="31750">
            <a:solidFill>
              <a:srgbClr val="5A6285"/>
            </a:solidFill>
            <a:prstDash val="solid"/>
            <a:tailEnd type="triangle"/>
          </a:ln>
        </p:spPr>
      </p:sp>
      <p:sp>
        <p:nvSpPr>
          <p:cNvPr id="10" name="Shape 8"/>
          <p:cNvSpPr/>
          <p:nvPr/>
        </p:nvSpPr>
        <p:spPr>
          <a:xfrm>
            <a:off x="7223760" y="1600200"/>
            <a:ext cx="1828800" cy="960120"/>
          </a:xfrm>
          <a:prstGeom prst="roundRect">
            <a:avLst>
              <a:gd name="adj" fmla="val 11429"/>
            </a:avLst>
          </a:prstGeom>
          <a:solidFill>
            <a:srgbClr val="1B1F3B"/>
          </a:solidFill>
          <a:ln w="12700">
            <a:solidFill>
              <a:srgbClr val="1B1F3B"/>
            </a:solidFill>
            <a:prstDash val="solid"/>
          </a:ln>
        </p:spPr>
      </p:sp>
      <p:sp>
        <p:nvSpPr>
          <p:cNvPr id="11" name="Text 9"/>
          <p:cNvSpPr txBox="1"/>
          <p:nvPr/>
        </p:nvSpPr>
        <p:spPr>
          <a:xfrm>
            <a:off x="7223760" y="1600200"/>
            <a:ext cx="1828800" cy="9601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Program</a:t>
            </a:r>
            <a:endParaRPr lang="en-US" sz="1800" dirty="0"/>
          </a:p>
        </p:txBody>
      </p:sp>
      <p:sp>
        <p:nvSpPr>
          <p:cNvPr id="12" name="Shape 10"/>
          <p:cNvSpPr/>
          <p:nvPr/>
        </p:nvSpPr>
        <p:spPr>
          <a:xfrm>
            <a:off x="9189720" y="2075688"/>
            <a:ext cx="548640" cy="914"/>
          </a:xfrm>
          <a:prstGeom prst="line">
            <a:avLst/>
          </a:prstGeom>
          <a:noFill/>
          <a:ln w="31750">
            <a:solidFill>
              <a:srgbClr val="5A6285"/>
            </a:solidFill>
            <a:prstDash val="solid"/>
            <a:tailEnd type="triangle"/>
          </a:ln>
        </p:spPr>
      </p:sp>
      <p:sp>
        <p:nvSpPr>
          <p:cNvPr id="13" name="Shape 11"/>
          <p:cNvSpPr/>
          <p:nvPr/>
        </p:nvSpPr>
        <p:spPr>
          <a:xfrm>
            <a:off x="9875520" y="1600200"/>
            <a:ext cx="1737360" cy="960120"/>
          </a:xfrm>
          <a:prstGeom prst="roundRect">
            <a:avLst>
              <a:gd name="adj" fmla="val 11429"/>
            </a:avLst>
          </a:prstGeom>
          <a:solidFill>
            <a:srgbClr val="F3F5FA"/>
          </a:solidFill>
          <a:ln w="12700">
            <a:solidFill>
              <a:srgbClr val="F3F5FA"/>
            </a:solidFill>
            <a:prstDash val="solid"/>
          </a:ln>
        </p:spPr>
      </p:sp>
      <p:sp>
        <p:nvSpPr>
          <p:cNvPr id="14" name="Text 12"/>
          <p:cNvSpPr txBox="1"/>
          <p:nvPr/>
        </p:nvSpPr>
        <p:spPr>
          <a:xfrm>
            <a:off x="9875520" y="1600200"/>
            <a:ext cx="1737360" cy="960120"/>
          </a:xfrm>
          <a:prstGeom prst="rect">
            <a:avLst/>
          </a:prstGeom>
          <a:noFill/>
          <a:ln/>
        </p:spPr>
        <p:txBody>
          <a:bodyPr wrap="square" lIns="0" tIns="0" rIns="0" bIns="0" rtlCol="0" anchor="ctr"/>
          <a:lstStyle/>
          <a:p>
            <a:pPr algn="ctr" indent="0" marL="0">
              <a:buNone/>
            </a:pPr>
            <a:r>
              <a:rPr lang="en-US" sz="1800" b="1" dirty="0">
                <a:solidFill>
                  <a:srgbClr val="1B1F3B"/>
                </a:solidFill>
                <a:latin typeface="Calibri" pitchFamily="34" charset="0"/>
                <a:ea typeface="Calibri" pitchFamily="34" charset="-122"/>
                <a:cs typeface="Calibri" pitchFamily="34" charset="-120"/>
              </a:rPr>
              <a:t>Answers</a:t>
            </a:r>
            <a:endParaRPr lang="en-US" sz="1800" dirty="0"/>
          </a:p>
        </p:txBody>
      </p:sp>
      <p:sp>
        <p:nvSpPr>
          <p:cNvPr id="15" name="Text 13"/>
          <p:cNvSpPr txBox="1"/>
          <p:nvPr/>
        </p:nvSpPr>
        <p:spPr>
          <a:xfrm>
            <a:off x="548640" y="3273552"/>
            <a:ext cx="2194560" cy="457200"/>
          </a:xfrm>
          <a:prstGeom prst="rect">
            <a:avLst/>
          </a:prstGeom>
          <a:noFill/>
          <a:ln/>
        </p:spPr>
        <p:txBody>
          <a:bodyPr wrap="square" lIns="0" tIns="0" rIns="0" bIns="0" rtlCol="0" anchor="t"/>
          <a:lstStyle/>
          <a:p>
            <a:pPr indent="0" marL="0">
              <a:buNone/>
            </a:pPr>
            <a:r>
              <a:rPr lang="en-US" sz="1700" b="1" dirty="0">
                <a:solidFill>
                  <a:srgbClr val="5A6285"/>
                </a:solidFill>
                <a:latin typeface="Calibri" pitchFamily="34" charset="0"/>
                <a:ea typeface="Calibri" pitchFamily="34" charset="-122"/>
                <a:cs typeface="Calibri" pitchFamily="34" charset="-120"/>
              </a:rPr>
              <a:t>Software that learns</a:t>
            </a:r>
            <a:endParaRPr lang="en-US" sz="1700" dirty="0"/>
          </a:p>
        </p:txBody>
      </p:sp>
      <p:sp>
        <p:nvSpPr>
          <p:cNvPr id="16" name="Shape 14"/>
          <p:cNvSpPr/>
          <p:nvPr/>
        </p:nvSpPr>
        <p:spPr>
          <a:xfrm>
            <a:off x="2834640" y="3017520"/>
            <a:ext cx="1554480" cy="960120"/>
          </a:xfrm>
          <a:prstGeom prst="roundRect">
            <a:avLst>
              <a:gd name="adj" fmla="val 11429"/>
            </a:avLst>
          </a:prstGeom>
          <a:solidFill>
            <a:srgbClr val="F3F5FA"/>
          </a:solidFill>
          <a:ln w="12700">
            <a:solidFill>
              <a:srgbClr val="F3F5FA"/>
            </a:solidFill>
            <a:prstDash val="solid"/>
          </a:ln>
        </p:spPr>
      </p:sp>
      <p:sp>
        <p:nvSpPr>
          <p:cNvPr id="17" name="Text 15"/>
          <p:cNvSpPr txBox="1"/>
          <p:nvPr/>
        </p:nvSpPr>
        <p:spPr>
          <a:xfrm>
            <a:off x="2834640" y="3017520"/>
            <a:ext cx="1554480" cy="960120"/>
          </a:xfrm>
          <a:prstGeom prst="rect">
            <a:avLst/>
          </a:prstGeom>
          <a:noFill/>
          <a:ln/>
        </p:spPr>
        <p:txBody>
          <a:bodyPr wrap="square" lIns="0" tIns="0" rIns="0" bIns="0" rtlCol="0" anchor="ctr"/>
          <a:lstStyle/>
          <a:p>
            <a:pPr algn="ctr" indent="0" marL="0">
              <a:buNone/>
            </a:pPr>
            <a:r>
              <a:rPr lang="en-US" sz="1800" dirty="0">
                <a:solidFill>
                  <a:srgbClr val="1B1F3B"/>
                </a:solidFill>
                <a:latin typeface="Calibri" pitchFamily="34" charset="0"/>
                <a:ea typeface="Calibri" pitchFamily="34" charset="-122"/>
                <a:cs typeface="Calibri" pitchFamily="34" charset="-120"/>
              </a:rPr>
              <a:t>Data</a:t>
            </a:r>
            <a:endParaRPr lang="en-US" sz="1800" dirty="0"/>
          </a:p>
        </p:txBody>
      </p:sp>
      <p:sp>
        <p:nvSpPr>
          <p:cNvPr id="18" name="Text 16"/>
          <p:cNvSpPr txBox="1"/>
          <p:nvPr/>
        </p:nvSpPr>
        <p:spPr>
          <a:xfrm>
            <a:off x="4434840" y="3017520"/>
            <a:ext cx="365760" cy="960120"/>
          </a:xfrm>
          <a:prstGeom prst="rect">
            <a:avLst/>
          </a:prstGeom>
          <a:noFill/>
          <a:ln/>
        </p:spPr>
        <p:txBody>
          <a:bodyPr wrap="square" lIns="0" tIns="0" rIns="0" bIns="0" rtlCol="0" anchor="ctr"/>
          <a:lstStyle/>
          <a:p>
            <a:pPr algn="ctr" indent="0" marL="0">
              <a:buNone/>
            </a:pPr>
            <a:r>
              <a:rPr lang="en-US" sz="2400" dirty="0">
                <a:solidFill>
                  <a:srgbClr val="5A6285"/>
                </a:solidFill>
                <a:latin typeface="Calibri" pitchFamily="34" charset="0"/>
                <a:ea typeface="Calibri" pitchFamily="34" charset="-122"/>
                <a:cs typeface="Calibri" pitchFamily="34" charset="-120"/>
              </a:rPr>
              <a:t>+</a:t>
            </a:r>
            <a:endParaRPr lang="en-US" sz="2400" dirty="0"/>
          </a:p>
        </p:txBody>
      </p:sp>
      <p:sp>
        <p:nvSpPr>
          <p:cNvPr id="19" name="Shape 17"/>
          <p:cNvSpPr/>
          <p:nvPr/>
        </p:nvSpPr>
        <p:spPr>
          <a:xfrm>
            <a:off x="4846320" y="3017520"/>
            <a:ext cx="1554480" cy="960120"/>
          </a:xfrm>
          <a:prstGeom prst="roundRect">
            <a:avLst>
              <a:gd name="adj" fmla="val 11429"/>
            </a:avLst>
          </a:prstGeom>
          <a:solidFill>
            <a:srgbClr val="F3F5FA"/>
          </a:solidFill>
          <a:ln w="12700">
            <a:solidFill>
              <a:srgbClr val="F3F5FA"/>
            </a:solidFill>
            <a:prstDash val="solid"/>
          </a:ln>
        </p:spPr>
      </p:sp>
      <p:sp>
        <p:nvSpPr>
          <p:cNvPr id="20" name="Text 18"/>
          <p:cNvSpPr txBox="1"/>
          <p:nvPr/>
        </p:nvSpPr>
        <p:spPr>
          <a:xfrm>
            <a:off x="4846320" y="3017520"/>
            <a:ext cx="1554480" cy="960120"/>
          </a:xfrm>
          <a:prstGeom prst="rect">
            <a:avLst/>
          </a:prstGeom>
          <a:noFill/>
          <a:ln/>
        </p:spPr>
        <p:txBody>
          <a:bodyPr wrap="square" lIns="0" tIns="0" rIns="0" bIns="0" rtlCol="0" anchor="ctr"/>
          <a:lstStyle/>
          <a:p>
            <a:pPr algn="ctr" indent="0" marL="0">
              <a:buNone/>
            </a:pPr>
            <a:r>
              <a:rPr lang="en-US" sz="1800" dirty="0">
                <a:solidFill>
                  <a:srgbClr val="1B1F3B"/>
                </a:solidFill>
                <a:latin typeface="Calibri" pitchFamily="34" charset="0"/>
                <a:ea typeface="Calibri" pitchFamily="34" charset="-122"/>
                <a:cs typeface="Calibri" pitchFamily="34" charset="-120"/>
              </a:rPr>
              <a:t>Answers</a:t>
            </a:r>
            <a:endParaRPr lang="en-US" sz="1800" dirty="0"/>
          </a:p>
        </p:txBody>
      </p:sp>
      <p:sp>
        <p:nvSpPr>
          <p:cNvPr id="21" name="Shape 19"/>
          <p:cNvSpPr/>
          <p:nvPr/>
        </p:nvSpPr>
        <p:spPr>
          <a:xfrm>
            <a:off x="6537960" y="3493008"/>
            <a:ext cx="548640" cy="914"/>
          </a:xfrm>
          <a:prstGeom prst="line">
            <a:avLst/>
          </a:prstGeom>
          <a:noFill/>
          <a:ln w="31750">
            <a:solidFill>
              <a:srgbClr val="5A6285"/>
            </a:solidFill>
            <a:prstDash val="solid"/>
            <a:tailEnd type="triangle"/>
          </a:ln>
        </p:spPr>
      </p:sp>
      <p:sp>
        <p:nvSpPr>
          <p:cNvPr id="22" name="Shape 20"/>
          <p:cNvSpPr/>
          <p:nvPr/>
        </p:nvSpPr>
        <p:spPr>
          <a:xfrm>
            <a:off x="7223760" y="3017520"/>
            <a:ext cx="1828800" cy="960120"/>
          </a:xfrm>
          <a:prstGeom prst="roundRect">
            <a:avLst>
              <a:gd name="adj" fmla="val 11429"/>
            </a:avLst>
          </a:prstGeom>
          <a:solidFill>
            <a:srgbClr val="1B1F3B"/>
          </a:solidFill>
          <a:ln w="12700">
            <a:solidFill>
              <a:srgbClr val="1B1F3B"/>
            </a:solidFill>
            <a:prstDash val="solid"/>
          </a:ln>
        </p:spPr>
      </p:sp>
      <p:sp>
        <p:nvSpPr>
          <p:cNvPr id="23" name="Text 21"/>
          <p:cNvSpPr txBox="1"/>
          <p:nvPr/>
        </p:nvSpPr>
        <p:spPr>
          <a:xfrm>
            <a:off x="7223760" y="3017520"/>
            <a:ext cx="1828800" cy="9601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Training</a:t>
            </a:r>
            <a:endParaRPr lang="en-US" sz="1800" dirty="0"/>
          </a:p>
        </p:txBody>
      </p:sp>
      <p:sp>
        <p:nvSpPr>
          <p:cNvPr id="24" name="Shape 22"/>
          <p:cNvSpPr/>
          <p:nvPr/>
        </p:nvSpPr>
        <p:spPr>
          <a:xfrm>
            <a:off x="9189720" y="3493008"/>
            <a:ext cx="548640" cy="914"/>
          </a:xfrm>
          <a:prstGeom prst="line">
            <a:avLst/>
          </a:prstGeom>
          <a:noFill/>
          <a:ln w="31750">
            <a:solidFill>
              <a:srgbClr val="5A6285"/>
            </a:solidFill>
            <a:prstDash val="solid"/>
            <a:tailEnd type="triangle"/>
          </a:ln>
        </p:spPr>
      </p:sp>
      <p:sp>
        <p:nvSpPr>
          <p:cNvPr id="25" name="Shape 23"/>
          <p:cNvSpPr/>
          <p:nvPr/>
        </p:nvSpPr>
        <p:spPr>
          <a:xfrm>
            <a:off x="9875520" y="3017520"/>
            <a:ext cx="1737360" cy="960120"/>
          </a:xfrm>
          <a:prstGeom prst="roundRect">
            <a:avLst>
              <a:gd name="adj" fmla="val 11429"/>
            </a:avLst>
          </a:prstGeom>
          <a:solidFill>
            <a:srgbClr val="E3F6F2"/>
          </a:solidFill>
          <a:ln w="12700">
            <a:solidFill>
              <a:srgbClr val="E3F6F2"/>
            </a:solidFill>
            <a:prstDash val="solid"/>
          </a:ln>
        </p:spPr>
      </p:sp>
      <p:sp>
        <p:nvSpPr>
          <p:cNvPr id="26" name="Text 24"/>
          <p:cNvSpPr txBox="1"/>
          <p:nvPr/>
        </p:nvSpPr>
        <p:spPr>
          <a:xfrm>
            <a:off x="9875520" y="3017520"/>
            <a:ext cx="1737360" cy="960120"/>
          </a:xfrm>
          <a:prstGeom prst="rect">
            <a:avLst/>
          </a:prstGeom>
          <a:noFill/>
          <a:ln/>
        </p:spPr>
        <p:txBody>
          <a:bodyPr wrap="square" lIns="0" tIns="0" rIns="0" bIns="0" rtlCol="0" anchor="ctr"/>
          <a:lstStyle/>
          <a:p>
            <a:pPr algn="ctr" indent="0" marL="0">
              <a:buNone/>
            </a:pPr>
            <a:r>
              <a:rPr lang="en-US" sz="1800" b="1" dirty="0">
                <a:solidFill>
                  <a:srgbClr val="13897A"/>
                </a:solidFill>
                <a:latin typeface="Calibri" pitchFamily="34" charset="0"/>
                <a:ea typeface="Calibri" pitchFamily="34" charset="-122"/>
                <a:cs typeface="Calibri" pitchFamily="34" charset="-120"/>
              </a:rPr>
              <a:t>Rules, stored as numbers</a:t>
            </a:r>
            <a:endParaRPr lang="en-US" sz="1800" dirty="0"/>
          </a:p>
        </p:txBody>
      </p:sp>
      <p:sp>
        <p:nvSpPr>
          <p:cNvPr id="27" name="Shape 25"/>
          <p:cNvSpPr/>
          <p:nvPr/>
        </p:nvSpPr>
        <p:spPr>
          <a:xfrm>
            <a:off x="548640" y="4617720"/>
            <a:ext cx="11064240" cy="1417320"/>
          </a:xfrm>
          <a:prstGeom prst="roundRect">
            <a:avLst>
              <a:gd name="adj" fmla="val 7742"/>
            </a:avLst>
          </a:prstGeom>
          <a:solidFill>
            <a:srgbClr val="FDF1DF"/>
          </a:solidFill>
          <a:ln w="12700">
            <a:solidFill>
              <a:srgbClr val="FDF1DF"/>
            </a:solidFill>
            <a:prstDash val="solid"/>
          </a:ln>
        </p:spPr>
      </p:sp>
      <p:sp>
        <p:nvSpPr>
          <p:cNvPr id="28" name="Text 26"/>
          <p:cNvSpPr txBox="1"/>
          <p:nvPr/>
        </p:nvSpPr>
        <p:spPr>
          <a:xfrm>
            <a:off x="868680" y="4800600"/>
            <a:ext cx="10424160" cy="1097280"/>
          </a:xfrm>
          <a:prstGeom prst="rect">
            <a:avLst/>
          </a:prstGeom>
          <a:noFill/>
          <a:ln/>
        </p:spPr>
        <p:txBody>
          <a:bodyPr wrap="square" lIns="0" tIns="0" rIns="0" bIns="0" rtlCol="0" anchor="ctr"/>
          <a:lstStyle/>
          <a:p>
            <a:pPr indent="0" marL="0">
              <a:buNone/>
            </a:pPr>
            <a:r>
              <a:rPr lang="en-US" sz="1900" b="1" dirty="0">
                <a:solidFill>
                  <a:srgbClr val="1B1F3B"/>
                </a:solidFill>
                <a:latin typeface="Calibri" pitchFamily="34" charset="0"/>
                <a:ea typeface="Calibri" pitchFamily="34" charset="-122"/>
                <a:cs typeface="Calibri" pitchFamily="34" charset="-120"/>
              </a:rPr>
              <a:t>Your coding assistant has no if-statement for Python syntax, politeness, or what a race condition is. </a:t>
            </a:r>
            <a:pPr indent="0" marL="0">
              <a:buNone/>
            </a:pPr>
            <a:r>
              <a:rPr lang="en-US" sz="1900" dirty="0">
                <a:solidFill>
                  <a:srgbClr val="1B1F3B"/>
                </a:solidFill>
                <a:latin typeface="Calibri" pitchFamily="34" charset="0"/>
                <a:ea typeface="Calibri" pitchFamily="34" charset="-122"/>
                <a:cs typeface="Calibri" pitchFamily="34" charset="-120"/>
              </a:rPr>
              <a:t>Every one of those behaviours was found by training, not written by a person. Today: how that finding works.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Where we're going</a:t>
            </a:r>
            <a:endParaRPr lang="en-US" sz="3400" dirty="0"/>
          </a:p>
        </p:txBody>
      </p:sp>
      <p:sp>
        <p:nvSpPr>
          <p:cNvPr id="3" name="Shape 1"/>
          <p:cNvSpPr/>
          <p:nvPr/>
        </p:nvSpPr>
        <p:spPr>
          <a:xfrm>
            <a:off x="1234440" y="2377440"/>
            <a:ext cx="9692640" cy="0"/>
          </a:xfrm>
          <a:prstGeom prst="line">
            <a:avLst/>
          </a:prstGeom>
          <a:noFill/>
          <a:ln w="38100">
            <a:solidFill>
              <a:srgbClr val="D5D8E8"/>
            </a:solidFill>
            <a:prstDash val="solid"/>
          </a:ln>
        </p:spPr>
      </p:sp>
      <p:sp>
        <p:nvSpPr>
          <p:cNvPr id="4" name="Shape 2"/>
          <p:cNvSpPr/>
          <p:nvPr/>
        </p:nvSpPr>
        <p:spPr>
          <a:xfrm>
            <a:off x="850392" y="1993392"/>
            <a:ext cx="768096" cy="768096"/>
          </a:xfrm>
          <a:prstGeom prst="ellipse">
            <a:avLst/>
          </a:prstGeom>
          <a:solidFill>
            <a:srgbClr val="3CC6B0"/>
          </a:solidFill>
          <a:ln w="38100">
            <a:solidFill>
              <a:srgbClr val="FFFFFF"/>
            </a:solidFill>
            <a:prstDash val="solid"/>
          </a:ln>
        </p:spPr>
      </p:sp>
      <p:sp>
        <p:nvSpPr>
          <p:cNvPr id="5" name="Text 3"/>
          <p:cNvSpPr txBox="1"/>
          <p:nvPr/>
        </p:nvSpPr>
        <p:spPr>
          <a:xfrm>
            <a:off x="850392" y="1993392"/>
            <a:ext cx="768096" cy="768096"/>
          </a:xfrm>
          <a:prstGeom prst="rect">
            <a:avLst/>
          </a:prstGeom>
          <a:noFill/>
          <a:ln/>
        </p:spPr>
        <p:txBody>
          <a:bodyPr wrap="square" lIns="0" tIns="0" rIns="0" bIns="0" rtlCol="0" anchor="ctr"/>
          <a:lstStyle/>
          <a:p>
            <a:pPr algn="ctr" indent="0" marL="0">
              <a:buNone/>
            </a:pPr>
            <a:r>
              <a:rPr lang="en-US" sz="2200" b="1" dirty="0">
                <a:solidFill>
                  <a:srgbClr val="0E2A27"/>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320040" y="2971800"/>
            <a:ext cx="1828800" cy="411480"/>
          </a:xfrm>
          <a:prstGeom prst="rect">
            <a:avLst/>
          </a:prstGeom>
          <a:noFill/>
          <a:ln/>
        </p:spPr>
        <p:txBody>
          <a:bodyPr wrap="square" lIns="0" tIns="0" rIns="0" bIns="0" rtlCol="0" anchor="t"/>
          <a:lstStyle/>
          <a:p>
            <a:pPr algn="ctr" indent="0" marL="0">
              <a:buNone/>
            </a:pPr>
            <a:r>
              <a:rPr lang="en-US" sz="2000" b="1" dirty="0">
                <a:solidFill>
                  <a:srgbClr val="1B1F3B"/>
                </a:solidFill>
                <a:latin typeface="Calibri" pitchFamily="34" charset="0"/>
                <a:ea typeface="Calibri" pitchFamily="34" charset="-122"/>
                <a:cs typeface="Calibri" pitchFamily="34" charset="-120"/>
              </a:rPr>
              <a:t>Knobs</a:t>
            </a:r>
            <a:endParaRPr lang="en-US" sz="2000" dirty="0"/>
          </a:p>
        </p:txBody>
      </p:sp>
      <p:sp>
        <p:nvSpPr>
          <p:cNvPr id="7" name="Text 5"/>
          <p:cNvSpPr txBox="1"/>
          <p:nvPr/>
        </p:nvSpPr>
        <p:spPr>
          <a:xfrm>
            <a:off x="320040" y="3401568"/>
            <a:ext cx="1828800" cy="731520"/>
          </a:xfrm>
          <a:prstGeom prst="rect">
            <a:avLst/>
          </a:prstGeom>
          <a:noFill/>
          <a:ln/>
        </p:spPr>
        <p:txBody>
          <a:bodyPr wrap="square" lIns="0" tIns="0" rIns="0" bIns="0" rtlCol="0" anchor="t"/>
          <a:lstStyle/>
          <a:p>
            <a:pPr algn="ctr" indent="0" marL="0">
              <a:buNone/>
            </a:pPr>
            <a:r>
              <a:rPr lang="en-US" sz="1400" dirty="0">
                <a:solidFill>
                  <a:srgbClr val="5A6285"/>
                </a:solidFill>
                <a:latin typeface="Calibri" pitchFamily="34" charset="0"/>
                <a:ea typeface="Calibri" pitchFamily="34" charset="-122"/>
                <a:cs typeface="Calibri" pitchFamily="34" charset="-120"/>
              </a:rPr>
              <a:t>A model is a function with dials</a:t>
            </a:r>
            <a:endParaRPr lang="en-US" sz="1400" dirty="0"/>
          </a:p>
        </p:txBody>
      </p:sp>
      <p:sp>
        <p:nvSpPr>
          <p:cNvPr id="8" name="Shape 6"/>
          <p:cNvSpPr/>
          <p:nvPr/>
        </p:nvSpPr>
        <p:spPr>
          <a:xfrm>
            <a:off x="2788920" y="1993392"/>
            <a:ext cx="768096" cy="768096"/>
          </a:xfrm>
          <a:prstGeom prst="ellipse">
            <a:avLst/>
          </a:prstGeom>
          <a:solidFill>
            <a:srgbClr val="3CC6B0"/>
          </a:solidFill>
          <a:ln w="38100">
            <a:solidFill>
              <a:srgbClr val="FFFFFF"/>
            </a:solidFill>
            <a:prstDash val="solid"/>
          </a:ln>
        </p:spPr>
      </p:sp>
      <p:sp>
        <p:nvSpPr>
          <p:cNvPr id="9" name="Text 7"/>
          <p:cNvSpPr txBox="1"/>
          <p:nvPr/>
        </p:nvSpPr>
        <p:spPr>
          <a:xfrm>
            <a:off x="2788920" y="1993392"/>
            <a:ext cx="768096" cy="768096"/>
          </a:xfrm>
          <a:prstGeom prst="rect">
            <a:avLst/>
          </a:prstGeom>
          <a:noFill/>
          <a:ln/>
        </p:spPr>
        <p:txBody>
          <a:bodyPr wrap="square" lIns="0" tIns="0" rIns="0" bIns="0" rtlCol="0" anchor="ctr"/>
          <a:lstStyle/>
          <a:p>
            <a:pPr algn="ctr" indent="0" marL="0">
              <a:buNone/>
            </a:pPr>
            <a:r>
              <a:rPr lang="en-US" sz="2200" b="1" dirty="0">
                <a:solidFill>
                  <a:srgbClr val="0E2A27"/>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2258568" y="2971800"/>
            <a:ext cx="1828800" cy="411480"/>
          </a:xfrm>
          <a:prstGeom prst="rect">
            <a:avLst/>
          </a:prstGeom>
          <a:noFill/>
          <a:ln/>
        </p:spPr>
        <p:txBody>
          <a:bodyPr wrap="square" lIns="0" tIns="0" rIns="0" bIns="0" rtlCol="0" anchor="t"/>
          <a:lstStyle/>
          <a:p>
            <a:pPr algn="ctr" indent="0" marL="0">
              <a:buNone/>
            </a:pPr>
            <a:r>
              <a:rPr lang="en-US" sz="2000" b="1" dirty="0">
                <a:solidFill>
                  <a:srgbClr val="1B1F3B"/>
                </a:solidFill>
                <a:latin typeface="Calibri" pitchFamily="34" charset="0"/>
                <a:ea typeface="Calibri" pitchFamily="34" charset="-122"/>
                <a:cs typeface="Calibri" pitchFamily="34" charset="-120"/>
              </a:rPr>
              <a:t>Score</a:t>
            </a:r>
            <a:endParaRPr lang="en-US" sz="2000" dirty="0"/>
          </a:p>
        </p:txBody>
      </p:sp>
      <p:sp>
        <p:nvSpPr>
          <p:cNvPr id="11" name="Text 9"/>
          <p:cNvSpPr txBox="1"/>
          <p:nvPr/>
        </p:nvSpPr>
        <p:spPr>
          <a:xfrm>
            <a:off x="2258568" y="3401568"/>
            <a:ext cx="1828800" cy="731520"/>
          </a:xfrm>
          <a:prstGeom prst="rect">
            <a:avLst/>
          </a:prstGeom>
          <a:noFill/>
          <a:ln/>
        </p:spPr>
        <p:txBody>
          <a:bodyPr wrap="square" lIns="0" tIns="0" rIns="0" bIns="0" rtlCol="0" anchor="t"/>
          <a:lstStyle/>
          <a:p>
            <a:pPr algn="ctr" indent="0" marL="0">
              <a:buNone/>
            </a:pPr>
            <a:r>
              <a:rPr lang="en-US" sz="1400" dirty="0">
                <a:solidFill>
                  <a:srgbClr val="5A6285"/>
                </a:solidFill>
                <a:latin typeface="Calibri" pitchFamily="34" charset="0"/>
                <a:ea typeface="Calibri" pitchFamily="34" charset="-122"/>
                <a:cs typeface="Calibri" pitchFamily="34" charset="-120"/>
              </a:rPr>
              <a:t>One number for how wrong</a:t>
            </a:r>
            <a:endParaRPr lang="en-US" sz="1400" dirty="0"/>
          </a:p>
        </p:txBody>
      </p:sp>
      <p:sp>
        <p:nvSpPr>
          <p:cNvPr id="12" name="Shape 10"/>
          <p:cNvSpPr/>
          <p:nvPr/>
        </p:nvSpPr>
        <p:spPr>
          <a:xfrm>
            <a:off x="4727448" y="1993392"/>
            <a:ext cx="768096" cy="768096"/>
          </a:xfrm>
          <a:prstGeom prst="ellipse">
            <a:avLst/>
          </a:prstGeom>
          <a:solidFill>
            <a:srgbClr val="3CC6B0"/>
          </a:solidFill>
          <a:ln w="38100">
            <a:solidFill>
              <a:srgbClr val="FFFFFF"/>
            </a:solidFill>
            <a:prstDash val="solid"/>
          </a:ln>
        </p:spPr>
      </p:sp>
      <p:sp>
        <p:nvSpPr>
          <p:cNvPr id="13" name="Text 11"/>
          <p:cNvSpPr txBox="1"/>
          <p:nvPr/>
        </p:nvSpPr>
        <p:spPr>
          <a:xfrm>
            <a:off x="4727448" y="1993392"/>
            <a:ext cx="768096" cy="768096"/>
          </a:xfrm>
          <a:prstGeom prst="rect">
            <a:avLst/>
          </a:prstGeom>
          <a:noFill/>
          <a:ln/>
        </p:spPr>
        <p:txBody>
          <a:bodyPr wrap="square" lIns="0" tIns="0" rIns="0" bIns="0" rtlCol="0" anchor="ctr"/>
          <a:lstStyle/>
          <a:p>
            <a:pPr algn="ctr" indent="0" marL="0">
              <a:buNone/>
            </a:pPr>
            <a:r>
              <a:rPr lang="en-US" sz="2200" b="1" dirty="0">
                <a:solidFill>
                  <a:srgbClr val="0E2A27"/>
                </a:solidFill>
                <a:latin typeface="Calibri" pitchFamily="34" charset="0"/>
                <a:ea typeface="Calibri" pitchFamily="34" charset="-122"/>
                <a:cs typeface="Calibri" pitchFamily="34" charset="-120"/>
              </a:rPr>
              <a:t>3</a:t>
            </a:r>
            <a:endParaRPr lang="en-US" sz="2200" dirty="0"/>
          </a:p>
        </p:txBody>
      </p:sp>
      <p:sp>
        <p:nvSpPr>
          <p:cNvPr id="14" name="Text 12"/>
          <p:cNvSpPr txBox="1"/>
          <p:nvPr/>
        </p:nvSpPr>
        <p:spPr>
          <a:xfrm>
            <a:off x="4197096" y="2971800"/>
            <a:ext cx="1828800" cy="411480"/>
          </a:xfrm>
          <a:prstGeom prst="rect">
            <a:avLst/>
          </a:prstGeom>
          <a:noFill/>
          <a:ln/>
        </p:spPr>
        <p:txBody>
          <a:bodyPr wrap="square" lIns="0" tIns="0" rIns="0" bIns="0" rtlCol="0" anchor="t"/>
          <a:lstStyle/>
          <a:p>
            <a:pPr algn="ctr" indent="0" marL="0">
              <a:buNone/>
            </a:pPr>
            <a:r>
              <a:rPr lang="en-US" sz="2000" b="1" dirty="0">
                <a:solidFill>
                  <a:srgbClr val="1B1F3B"/>
                </a:solidFill>
                <a:latin typeface="Calibri" pitchFamily="34" charset="0"/>
                <a:ea typeface="Calibri" pitchFamily="34" charset="-122"/>
                <a:cs typeface="Calibri" pitchFamily="34" charset="-120"/>
              </a:rPr>
              <a:t>Nudge</a:t>
            </a:r>
            <a:endParaRPr lang="en-US" sz="2000" dirty="0"/>
          </a:p>
        </p:txBody>
      </p:sp>
      <p:sp>
        <p:nvSpPr>
          <p:cNvPr id="15" name="Text 13"/>
          <p:cNvSpPr txBox="1"/>
          <p:nvPr/>
        </p:nvSpPr>
        <p:spPr>
          <a:xfrm>
            <a:off x="4197096" y="3401568"/>
            <a:ext cx="1828800" cy="731520"/>
          </a:xfrm>
          <a:prstGeom prst="rect">
            <a:avLst/>
          </a:prstGeom>
          <a:noFill/>
          <a:ln/>
        </p:spPr>
        <p:txBody>
          <a:bodyPr wrap="square" lIns="0" tIns="0" rIns="0" bIns="0" rtlCol="0" anchor="t"/>
          <a:lstStyle/>
          <a:p>
            <a:pPr algn="ctr" indent="0" marL="0">
              <a:buNone/>
            </a:pPr>
            <a:r>
              <a:rPr lang="en-US" sz="1400" dirty="0">
                <a:solidFill>
                  <a:srgbClr val="5A6285"/>
                </a:solidFill>
                <a:latin typeface="Calibri" pitchFamily="34" charset="0"/>
                <a:ea typeface="Calibri" pitchFamily="34" charset="-122"/>
                <a:cs typeface="Calibri" pitchFamily="34" charset="-120"/>
              </a:rPr>
              <a:t>Turn every dial downhill</a:t>
            </a:r>
            <a:endParaRPr lang="en-US" sz="1400" dirty="0"/>
          </a:p>
        </p:txBody>
      </p:sp>
      <p:sp>
        <p:nvSpPr>
          <p:cNvPr id="16" name="Shape 14"/>
          <p:cNvSpPr/>
          <p:nvPr/>
        </p:nvSpPr>
        <p:spPr>
          <a:xfrm>
            <a:off x="4562856" y="4343400"/>
            <a:ext cx="1097280" cy="384048"/>
          </a:xfrm>
          <a:prstGeom prst="roundRect">
            <a:avLst>
              <a:gd name="adj" fmla="val 28571"/>
            </a:avLst>
          </a:prstGeom>
          <a:solidFill>
            <a:srgbClr val="1B1F3B"/>
          </a:solidFill>
          <a:ln w="12700">
            <a:solidFill>
              <a:srgbClr val="1B1F3B"/>
            </a:solidFill>
            <a:prstDash val="solid"/>
          </a:ln>
        </p:spPr>
      </p:sp>
      <p:sp>
        <p:nvSpPr>
          <p:cNvPr id="17" name="Text 15"/>
          <p:cNvSpPr txBox="1"/>
          <p:nvPr/>
        </p:nvSpPr>
        <p:spPr>
          <a:xfrm>
            <a:off x="4562856" y="43434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Demo 1</a:t>
            </a:r>
            <a:endParaRPr lang="en-US" sz="1300" dirty="0"/>
          </a:p>
        </p:txBody>
      </p:sp>
      <p:sp>
        <p:nvSpPr>
          <p:cNvPr id="18" name="Shape 16"/>
          <p:cNvSpPr/>
          <p:nvPr/>
        </p:nvSpPr>
        <p:spPr>
          <a:xfrm>
            <a:off x="6665976" y="1993392"/>
            <a:ext cx="768096" cy="768096"/>
          </a:xfrm>
          <a:prstGeom prst="ellipse">
            <a:avLst/>
          </a:prstGeom>
          <a:solidFill>
            <a:srgbClr val="3CC6B0"/>
          </a:solidFill>
          <a:ln w="38100">
            <a:solidFill>
              <a:srgbClr val="FFFFFF"/>
            </a:solidFill>
            <a:prstDash val="solid"/>
          </a:ln>
        </p:spPr>
      </p:sp>
      <p:sp>
        <p:nvSpPr>
          <p:cNvPr id="19" name="Text 17"/>
          <p:cNvSpPr txBox="1"/>
          <p:nvPr/>
        </p:nvSpPr>
        <p:spPr>
          <a:xfrm>
            <a:off x="6665976" y="1993392"/>
            <a:ext cx="768096" cy="768096"/>
          </a:xfrm>
          <a:prstGeom prst="rect">
            <a:avLst/>
          </a:prstGeom>
          <a:noFill/>
          <a:ln/>
        </p:spPr>
        <p:txBody>
          <a:bodyPr wrap="square" lIns="0" tIns="0" rIns="0" bIns="0" rtlCol="0" anchor="ctr"/>
          <a:lstStyle/>
          <a:p>
            <a:pPr algn="ctr" indent="0" marL="0">
              <a:buNone/>
            </a:pPr>
            <a:r>
              <a:rPr lang="en-US" sz="2200" b="1" dirty="0">
                <a:solidFill>
                  <a:srgbClr val="0E2A27"/>
                </a:solidFill>
                <a:latin typeface="Calibri" pitchFamily="34" charset="0"/>
                <a:ea typeface="Calibri" pitchFamily="34" charset="-122"/>
                <a:cs typeface="Calibri" pitchFamily="34" charset="-120"/>
              </a:rPr>
              <a:t>4</a:t>
            </a:r>
            <a:endParaRPr lang="en-US" sz="2200" dirty="0"/>
          </a:p>
        </p:txBody>
      </p:sp>
      <p:sp>
        <p:nvSpPr>
          <p:cNvPr id="20" name="Text 18"/>
          <p:cNvSpPr txBox="1"/>
          <p:nvPr/>
        </p:nvSpPr>
        <p:spPr>
          <a:xfrm>
            <a:off x="6135624" y="2971800"/>
            <a:ext cx="1828800" cy="411480"/>
          </a:xfrm>
          <a:prstGeom prst="rect">
            <a:avLst/>
          </a:prstGeom>
          <a:noFill/>
          <a:ln/>
        </p:spPr>
        <p:txBody>
          <a:bodyPr wrap="square" lIns="0" tIns="0" rIns="0" bIns="0" rtlCol="0" anchor="t"/>
          <a:lstStyle/>
          <a:p>
            <a:pPr algn="ctr" indent="0" marL="0">
              <a:buNone/>
            </a:pPr>
            <a:r>
              <a:rPr lang="en-US" sz="2000" b="1" dirty="0">
                <a:solidFill>
                  <a:srgbClr val="1B1F3B"/>
                </a:solidFill>
                <a:latin typeface="Calibri" pitchFamily="34" charset="0"/>
                <a:ea typeface="Calibri" pitchFamily="34" charset="-122"/>
                <a:cs typeface="Calibri" pitchFamily="34" charset="-120"/>
              </a:rPr>
              <a:t>Backprop</a:t>
            </a:r>
            <a:endParaRPr lang="en-US" sz="2000" dirty="0"/>
          </a:p>
        </p:txBody>
      </p:sp>
      <p:sp>
        <p:nvSpPr>
          <p:cNvPr id="21" name="Text 19"/>
          <p:cNvSpPr txBox="1"/>
          <p:nvPr/>
        </p:nvSpPr>
        <p:spPr>
          <a:xfrm>
            <a:off x="6135624" y="3401568"/>
            <a:ext cx="1828800" cy="731520"/>
          </a:xfrm>
          <a:prstGeom prst="rect">
            <a:avLst/>
          </a:prstGeom>
          <a:noFill/>
          <a:ln/>
        </p:spPr>
        <p:txBody>
          <a:bodyPr wrap="square" lIns="0" tIns="0" rIns="0" bIns="0" rtlCol="0" anchor="t"/>
          <a:lstStyle/>
          <a:p>
            <a:pPr algn="ctr" indent="0" marL="0">
              <a:buNone/>
            </a:pPr>
            <a:r>
              <a:rPr lang="en-US" sz="1400" dirty="0">
                <a:solidFill>
                  <a:srgbClr val="5A6285"/>
                </a:solidFill>
                <a:latin typeface="Calibri" pitchFamily="34" charset="0"/>
                <a:ea typeface="Calibri" pitchFamily="34" charset="-122"/>
                <a:cs typeface="Calibri" pitchFamily="34" charset="-120"/>
              </a:rPr>
              <a:t>All the slopes, fast</a:t>
            </a:r>
            <a:endParaRPr lang="en-US" sz="1400" dirty="0"/>
          </a:p>
        </p:txBody>
      </p:sp>
      <p:sp>
        <p:nvSpPr>
          <p:cNvPr id="22" name="Shape 20"/>
          <p:cNvSpPr/>
          <p:nvPr/>
        </p:nvSpPr>
        <p:spPr>
          <a:xfrm>
            <a:off x="8604504" y="1993392"/>
            <a:ext cx="768096" cy="768096"/>
          </a:xfrm>
          <a:prstGeom prst="ellipse">
            <a:avLst/>
          </a:prstGeom>
          <a:solidFill>
            <a:srgbClr val="3CC6B0"/>
          </a:solidFill>
          <a:ln w="38100">
            <a:solidFill>
              <a:srgbClr val="FFFFFF"/>
            </a:solidFill>
            <a:prstDash val="solid"/>
          </a:ln>
        </p:spPr>
      </p:sp>
      <p:sp>
        <p:nvSpPr>
          <p:cNvPr id="23" name="Text 21"/>
          <p:cNvSpPr txBox="1"/>
          <p:nvPr/>
        </p:nvSpPr>
        <p:spPr>
          <a:xfrm>
            <a:off x="8604504" y="1993392"/>
            <a:ext cx="768096" cy="768096"/>
          </a:xfrm>
          <a:prstGeom prst="rect">
            <a:avLst/>
          </a:prstGeom>
          <a:noFill/>
          <a:ln/>
        </p:spPr>
        <p:txBody>
          <a:bodyPr wrap="square" lIns="0" tIns="0" rIns="0" bIns="0" rtlCol="0" anchor="ctr"/>
          <a:lstStyle/>
          <a:p>
            <a:pPr algn="ctr" indent="0" marL="0">
              <a:buNone/>
            </a:pPr>
            <a:r>
              <a:rPr lang="en-US" sz="2200" b="1" dirty="0">
                <a:solidFill>
                  <a:srgbClr val="0E2A27"/>
                </a:solidFill>
                <a:latin typeface="Calibri" pitchFamily="34" charset="0"/>
                <a:ea typeface="Calibri" pitchFamily="34" charset="-122"/>
                <a:cs typeface="Calibri" pitchFamily="34" charset="-120"/>
              </a:rPr>
              <a:t>5</a:t>
            </a:r>
            <a:endParaRPr lang="en-US" sz="2200" dirty="0"/>
          </a:p>
        </p:txBody>
      </p:sp>
      <p:sp>
        <p:nvSpPr>
          <p:cNvPr id="24" name="Text 22"/>
          <p:cNvSpPr txBox="1"/>
          <p:nvPr/>
        </p:nvSpPr>
        <p:spPr>
          <a:xfrm>
            <a:off x="8074152" y="2971800"/>
            <a:ext cx="1828800" cy="411480"/>
          </a:xfrm>
          <a:prstGeom prst="rect">
            <a:avLst/>
          </a:prstGeom>
          <a:noFill/>
          <a:ln/>
        </p:spPr>
        <p:txBody>
          <a:bodyPr wrap="square" lIns="0" tIns="0" rIns="0" bIns="0" rtlCol="0" anchor="t"/>
          <a:lstStyle/>
          <a:p>
            <a:pPr algn="ctr" indent="0" marL="0">
              <a:buNone/>
            </a:pPr>
            <a:r>
              <a:rPr lang="en-US" sz="2000" b="1" dirty="0">
                <a:solidFill>
                  <a:srgbClr val="1B1F3B"/>
                </a:solidFill>
                <a:latin typeface="Calibri" pitchFamily="34" charset="0"/>
                <a:ea typeface="Calibri" pitchFamily="34" charset="-122"/>
                <a:cs typeface="Calibri" pitchFamily="34" charset="-120"/>
              </a:rPr>
              <a:t>Bends</a:t>
            </a:r>
            <a:endParaRPr lang="en-US" sz="2000" dirty="0"/>
          </a:p>
        </p:txBody>
      </p:sp>
      <p:sp>
        <p:nvSpPr>
          <p:cNvPr id="25" name="Text 23"/>
          <p:cNvSpPr txBox="1"/>
          <p:nvPr/>
        </p:nvSpPr>
        <p:spPr>
          <a:xfrm>
            <a:off x="8074152" y="3401568"/>
            <a:ext cx="1828800" cy="731520"/>
          </a:xfrm>
          <a:prstGeom prst="rect">
            <a:avLst/>
          </a:prstGeom>
          <a:noFill/>
          <a:ln/>
        </p:spPr>
        <p:txBody>
          <a:bodyPr wrap="square" lIns="0" tIns="0" rIns="0" bIns="0" rtlCol="0" anchor="t"/>
          <a:lstStyle/>
          <a:p>
            <a:pPr algn="ctr" indent="0" marL="0">
              <a:buNone/>
            </a:pPr>
            <a:r>
              <a:rPr lang="en-US" sz="1400" dirty="0">
                <a:solidFill>
                  <a:srgbClr val="5A6285"/>
                </a:solidFill>
                <a:latin typeface="Calibri" pitchFamily="34" charset="0"/>
                <a:ea typeface="Calibri" pitchFamily="34" charset="-122"/>
                <a:cs typeface="Calibri" pitchFamily="34" charset="-120"/>
              </a:rPr>
              <a:t>From straight lines to any shape</a:t>
            </a:r>
            <a:endParaRPr lang="en-US" sz="1400" dirty="0"/>
          </a:p>
        </p:txBody>
      </p:sp>
      <p:sp>
        <p:nvSpPr>
          <p:cNvPr id="26" name="Shape 24"/>
          <p:cNvSpPr/>
          <p:nvPr/>
        </p:nvSpPr>
        <p:spPr>
          <a:xfrm>
            <a:off x="8439912" y="4343400"/>
            <a:ext cx="1097280" cy="384048"/>
          </a:xfrm>
          <a:prstGeom prst="roundRect">
            <a:avLst>
              <a:gd name="adj" fmla="val 28571"/>
            </a:avLst>
          </a:prstGeom>
          <a:solidFill>
            <a:srgbClr val="1B1F3B"/>
          </a:solidFill>
          <a:ln w="12700">
            <a:solidFill>
              <a:srgbClr val="1B1F3B"/>
            </a:solidFill>
            <a:prstDash val="solid"/>
          </a:ln>
        </p:spPr>
      </p:sp>
      <p:sp>
        <p:nvSpPr>
          <p:cNvPr id="27" name="Text 25"/>
          <p:cNvSpPr txBox="1"/>
          <p:nvPr/>
        </p:nvSpPr>
        <p:spPr>
          <a:xfrm>
            <a:off x="8439912" y="43434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Demo 2</a:t>
            </a:r>
            <a:endParaRPr lang="en-US" sz="1300" dirty="0"/>
          </a:p>
        </p:txBody>
      </p:sp>
      <p:sp>
        <p:nvSpPr>
          <p:cNvPr id="28" name="Shape 26"/>
          <p:cNvSpPr/>
          <p:nvPr/>
        </p:nvSpPr>
        <p:spPr>
          <a:xfrm>
            <a:off x="10543032" y="1993392"/>
            <a:ext cx="768096" cy="768096"/>
          </a:xfrm>
          <a:prstGeom prst="ellipse">
            <a:avLst/>
          </a:prstGeom>
          <a:solidFill>
            <a:srgbClr val="F2A541"/>
          </a:solidFill>
          <a:ln w="38100">
            <a:solidFill>
              <a:srgbClr val="FFFFFF"/>
            </a:solidFill>
            <a:prstDash val="solid"/>
          </a:ln>
        </p:spPr>
      </p:sp>
      <p:sp>
        <p:nvSpPr>
          <p:cNvPr id="29" name="Text 27"/>
          <p:cNvSpPr txBox="1"/>
          <p:nvPr/>
        </p:nvSpPr>
        <p:spPr>
          <a:xfrm>
            <a:off x="10543032" y="1993392"/>
            <a:ext cx="768096" cy="768096"/>
          </a:xfrm>
          <a:prstGeom prst="rect">
            <a:avLst/>
          </a:prstGeom>
          <a:noFill/>
          <a:ln/>
        </p:spPr>
        <p:txBody>
          <a:bodyPr wrap="square" lIns="0" tIns="0" rIns="0" bIns="0" rtlCol="0" anchor="ctr"/>
          <a:lstStyle/>
          <a:p>
            <a:pPr algn="ctr" indent="0" marL="0">
              <a:buNone/>
            </a:pPr>
            <a:r>
              <a:rPr lang="en-US" sz="2200" b="1" dirty="0">
                <a:solidFill>
                  <a:srgbClr val="1B1F3B"/>
                </a:solidFill>
                <a:latin typeface="Calibri" pitchFamily="34" charset="0"/>
                <a:ea typeface="Calibri" pitchFamily="34" charset="-122"/>
                <a:cs typeface="Calibri" pitchFamily="34" charset="-120"/>
              </a:rPr>
              <a:t>6</a:t>
            </a:r>
            <a:endParaRPr lang="en-US" sz="2200" dirty="0"/>
          </a:p>
        </p:txBody>
      </p:sp>
      <p:sp>
        <p:nvSpPr>
          <p:cNvPr id="30" name="Text 28"/>
          <p:cNvSpPr txBox="1"/>
          <p:nvPr/>
        </p:nvSpPr>
        <p:spPr>
          <a:xfrm>
            <a:off x="10012680" y="2971800"/>
            <a:ext cx="1828800" cy="411480"/>
          </a:xfrm>
          <a:prstGeom prst="rect">
            <a:avLst/>
          </a:prstGeom>
          <a:noFill/>
          <a:ln/>
        </p:spPr>
        <p:txBody>
          <a:bodyPr wrap="square" lIns="0" tIns="0" rIns="0" bIns="0" rtlCol="0" anchor="t"/>
          <a:lstStyle/>
          <a:p>
            <a:pPr algn="ctr" indent="0" marL="0">
              <a:buNone/>
            </a:pPr>
            <a:r>
              <a:rPr lang="en-US" sz="2000" b="1" dirty="0">
                <a:solidFill>
                  <a:srgbClr val="1B1F3B"/>
                </a:solidFill>
                <a:latin typeface="Calibri" pitchFamily="34" charset="0"/>
                <a:ea typeface="Calibri" pitchFamily="34" charset="-122"/>
                <a:cs typeface="Calibri" pitchFamily="34" charset="-120"/>
              </a:rPr>
              <a:t>Next token</a:t>
            </a:r>
            <a:endParaRPr lang="en-US" sz="2000" dirty="0"/>
          </a:p>
        </p:txBody>
      </p:sp>
      <p:sp>
        <p:nvSpPr>
          <p:cNvPr id="31" name="Text 29"/>
          <p:cNvSpPr txBox="1"/>
          <p:nvPr/>
        </p:nvSpPr>
        <p:spPr>
          <a:xfrm>
            <a:off x="10012680" y="3401568"/>
            <a:ext cx="1828800" cy="731520"/>
          </a:xfrm>
          <a:prstGeom prst="rect">
            <a:avLst/>
          </a:prstGeom>
          <a:noFill/>
          <a:ln/>
        </p:spPr>
        <p:txBody>
          <a:bodyPr wrap="square" lIns="0" tIns="0" rIns="0" bIns="0" rtlCol="0" anchor="t"/>
          <a:lstStyle/>
          <a:p>
            <a:pPr algn="ctr" indent="0" marL="0">
              <a:buNone/>
            </a:pPr>
            <a:r>
              <a:rPr lang="en-US" sz="1400" dirty="0">
                <a:solidFill>
                  <a:srgbClr val="5A6285"/>
                </a:solidFill>
                <a:latin typeface="Calibri" pitchFamily="34" charset="0"/>
                <a:ea typeface="Calibri" pitchFamily="34" charset="-122"/>
                <a:cs typeface="Calibri" pitchFamily="34" charset="-120"/>
              </a:rPr>
              <a:t>The same loop, at LLM scale</a:t>
            </a:r>
            <a:endParaRPr lang="en-US" sz="1400" dirty="0"/>
          </a:p>
        </p:txBody>
      </p:sp>
      <p:sp>
        <p:nvSpPr>
          <p:cNvPr id="32" name="Shape 30"/>
          <p:cNvSpPr/>
          <p:nvPr/>
        </p:nvSpPr>
        <p:spPr>
          <a:xfrm>
            <a:off x="10378440" y="4343400"/>
            <a:ext cx="1097280" cy="384048"/>
          </a:xfrm>
          <a:prstGeom prst="roundRect">
            <a:avLst>
              <a:gd name="adj" fmla="val 28571"/>
            </a:avLst>
          </a:prstGeom>
          <a:solidFill>
            <a:srgbClr val="1B1F3B"/>
          </a:solidFill>
          <a:ln w="12700">
            <a:solidFill>
              <a:srgbClr val="1B1F3B"/>
            </a:solidFill>
            <a:prstDash val="solid"/>
          </a:ln>
        </p:spPr>
      </p:sp>
      <p:sp>
        <p:nvSpPr>
          <p:cNvPr id="33" name="Text 31"/>
          <p:cNvSpPr txBox="1"/>
          <p:nvPr/>
        </p:nvSpPr>
        <p:spPr>
          <a:xfrm>
            <a:off x="10378440" y="4343400"/>
            <a:ext cx="10972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Demo 3</a:t>
            </a:r>
            <a:endParaRPr lang="en-US" sz="1300" dirty="0"/>
          </a:p>
        </p:txBody>
      </p:sp>
      <p:sp>
        <p:nvSpPr>
          <p:cNvPr id="34" name="Text 32"/>
          <p:cNvSpPr txBox="1"/>
          <p:nvPr/>
        </p:nvSpPr>
        <p:spPr>
          <a:xfrm>
            <a:off x="548640" y="5394960"/>
            <a:ext cx="11064240" cy="548640"/>
          </a:xfrm>
          <a:prstGeom prst="rect">
            <a:avLst/>
          </a:prstGeom>
          <a:noFill/>
          <a:ln/>
        </p:spPr>
        <p:txBody>
          <a:bodyPr wrap="square" lIns="0" tIns="0" rIns="0" bIns="0" rtlCol="0" anchor="t"/>
          <a:lstStyle/>
          <a:p>
            <a:pPr algn="ctr" indent="0" marL="0">
              <a:buNone/>
            </a:pPr>
            <a:r>
              <a:rPr lang="en-US" sz="1700" i="1" dirty="0">
                <a:solidFill>
                  <a:srgbClr val="5A6285"/>
                </a:solidFill>
                <a:latin typeface="Calibri" pitchFamily="34" charset="0"/>
                <a:ea typeface="Calibri" pitchFamily="34" charset="-122"/>
                <a:cs typeface="Calibri" pitchFamily="34" charset="-120"/>
              </a:rPr>
              <a:t>One tiny example all the way through, then scale it up. Every number on these slides can be checked with a calculator.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A model is a function with knobs</a:t>
            </a:r>
            <a:endParaRPr lang="en-US" sz="3400" dirty="0"/>
          </a:p>
        </p:txBody>
      </p:sp>
      <p:sp>
        <p:nvSpPr>
          <p:cNvPr id="3" name="Shape 1"/>
          <p:cNvSpPr/>
          <p:nvPr/>
        </p:nvSpPr>
        <p:spPr>
          <a:xfrm>
            <a:off x="548640" y="1645920"/>
            <a:ext cx="1463040" cy="1005840"/>
          </a:xfrm>
          <a:prstGeom prst="roundRect">
            <a:avLst>
              <a:gd name="adj" fmla="val 10909"/>
            </a:avLst>
          </a:prstGeom>
          <a:solidFill>
            <a:srgbClr val="F3F5FA"/>
          </a:solidFill>
          <a:ln w="12700">
            <a:solidFill>
              <a:srgbClr val="F3F5FA"/>
            </a:solidFill>
            <a:prstDash val="solid"/>
          </a:ln>
        </p:spPr>
      </p:sp>
      <p:sp>
        <p:nvSpPr>
          <p:cNvPr id="4" name="Text 2"/>
          <p:cNvSpPr txBox="1"/>
          <p:nvPr/>
        </p:nvSpPr>
        <p:spPr>
          <a:xfrm>
            <a:off x="548640" y="1645920"/>
            <a:ext cx="1463040" cy="1005840"/>
          </a:xfrm>
          <a:prstGeom prst="rect">
            <a:avLst/>
          </a:prstGeom>
          <a:noFill/>
          <a:ln/>
        </p:spPr>
        <p:txBody>
          <a:bodyPr wrap="square" lIns="0" tIns="0" rIns="0" bIns="0" rtlCol="0" anchor="ctr"/>
          <a:lstStyle/>
          <a:p>
            <a:pPr algn="ctr" indent="0" marL="0">
              <a:buNone/>
            </a:pPr>
            <a:r>
              <a:rPr lang="en-US" sz="1800" dirty="0">
                <a:solidFill>
                  <a:srgbClr val="1B1F3B"/>
                </a:solidFill>
                <a:latin typeface="Calibri" pitchFamily="34" charset="0"/>
                <a:ea typeface="Calibri" pitchFamily="34" charset="-122"/>
                <a:cs typeface="Calibri" pitchFamily="34" charset="-120"/>
              </a:rPr>
              <a:t>Input</a:t>
            </a:r>
            <a:endParaRPr lang="en-US" sz="1800" dirty="0"/>
          </a:p>
        </p:txBody>
      </p:sp>
      <p:sp>
        <p:nvSpPr>
          <p:cNvPr id="5" name="Shape 3"/>
          <p:cNvSpPr/>
          <p:nvPr/>
        </p:nvSpPr>
        <p:spPr>
          <a:xfrm>
            <a:off x="2103120" y="2148840"/>
            <a:ext cx="548640" cy="914"/>
          </a:xfrm>
          <a:prstGeom prst="line">
            <a:avLst/>
          </a:prstGeom>
          <a:noFill/>
          <a:ln w="31750">
            <a:solidFill>
              <a:srgbClr val="5A6285"/>
            </a:solidFill>
            <a:prstDash val="solid"/>
            <a:tailEnd type="triangle"/>
          </a:ln>
        </p:spPr>
      </p:sp>
      <p:sp>
        <p:nvSpPr>
          <p:cNvPr id="6" name="Shape 4"/>
          <p:cNvSpPr/>
          <p:nvPr/>
        </p:nvSpPr>
        <p:spPr>
          <a:xfrm>
            <a:off x="2743200" y="1325880"/>
            <a:ext cx="3108960" cy="1645920"/>
          </a:xfrm>
          <a:prstGeom prst="roundRect">
            <a:avLst>
              <a:gd name="adj" fmla="val 6667"/>
            </a:avLst>
          </a:prstGeom>
          <a:solidFill>
            <a:srgbClr val="1B1F3B"/>
          </a:solidFill>
          <a:ln w="12700">
            <a:solidFill>
              <a:srgbClr val="1B1F3B"/>
            </a:solidFill>
            <a:prstDash val="solid"/>
          </a:ln>
        </p:spPr>
      </p:sp>
      <p:sp>
        <p:nvSpPr>
          <p:cNvPr id="7" name="Text 5"/>
          <p:cNvSpPr txBox="1"/>
          <p:nvPr/>
        </p:nvSpPr>
        <p:spPr>
          <a:xfrm>
            <a:off x="2743200" y="1371600"/>
            <a:ext cx="3108960" cy="8229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Fixed recipe of</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multiply and add</a:t>
            </a:r>
            <a:endParaRPr lang="en-US" sz="1600" dirty="0"/>
          </a:p>
        </p:txBody>
      </p:sp>
      <p:sp>
        <p:nvSpPr>
          <p:cNvPr id="8" name="Shape 6"/>
          <p:cNvSpPr/>
          <p:nvPr/>
        </p:nvSpPr>
        <p:spPr>
          <a:xfrm>
            <a:off x="3154680" y="2286000"/>
            <a:ext cx="475488" cy="475488"/>
          </a:xfrm>
          <a:prstGeom prst="ellipse">
            <a:avLst/>
          </a:prstGeom>
          <a:solidFill>
            <a:srgbClr val="1B1F3B"/>
          </a:solidFill>
          <a:ln w="31750">
            <a:solidFill>
              <a:srgbClr val="3CC6B0"/>
            </a:solidFill>
            <a:prstDash val="solid"/>
          </a:ln>
        </p:spPr>
      </p:sp>
      <p:sp>
        <p:nvSpPr>
          <p:cNvPr id="9" name="Shape 7"/>
          <p:cNvSpPr/>
          <p:nvPr/>
        </p:nvSpPr>
        <p:spPr>
          <a:xfrm rot="1200000">
            <a:off x="3392424" y="2322576"/>
            <a:ext cx="914" cy="201168"/>
          </a:xfrm>
          <a:prstGeom prst="line">
            <a:avLst/>
          </a:prstGeom>
          <a:noFill/>
          <a:ln w="31750">
            <a:solidFill>
              <a:srgbClr val="3CC6B0"/>
            </a:solidFill>
            <a:prstDash val="solid"/>
          </a:ln>
        </p:spPr>
      </p:sp>
      <p:sp>
        <p:nvSpPr>
          <p:cNvPr id="10" name="Shape 8"/>
          <p:cNvSpPr/>
          <p:nvPr/>
        </p:nvSpPr>
        <p:spPr>
          <a:xfrm>
            <a:off x="3840480" y="2286000"/>
            <a:ext cx="475488" cy="475488"/>
          </a:xfrm>
          <a:prstGeom prst="ellipse">
            <a:avLst/>
          </a:prstGeom>
          <a:solidFill>
            <a:srgbClr val="1B1F3B"/>
          </a:solidFill>
          <a:ln w="31750">
            <a:solidFill>
              <a:srgbClr val="3CC6B0"/>
            </a:solidFill>
            <a:prstDash val="solid"/>
          </a:ln>
        </p:spPr>
      </p:sp>
      <p:sp>
        <p:nvSpPr>
          <p:cNvPr id="11" name="Shape 9"/>
          <p:cNvSpPr/>
          <p:nvPr/>
        </p:nvSpPr>
        <p:spPr>
          <a:xfrm rot="-2100000">
            <a:off x="4078224" y="2322576"/>
            <a:ext cx="914" cy="201168"/>
          </a:xfrm>
          <a:prstGeom prst="line">
            <a:avLst/>
          </a:prstGeom>
          <a:noFill/>
          <a:ln w="31750">
            <a:solidFill>
              <a:srgbClr val="3CC6B0"/>
            </a:solidFill>
            <a:prstDash val="solid"/>
          </a:ln>
        </p:spPr>
      </p:sp>
      <p:sp>
        <p:nvSpPr>
          <p:cNvPr id="12" name="Shape 10"/>
          <p:cNvSpPr/>
          <p:nvPr/>
        </p:nvSpPr>
        <p:spPr>
          <a:xfrm>
            <a:off x="4526280" y="2286000"/>
            <a:ext cx="475488" cy="475488"/>
          </a:xfrm>
          <a:prstGeom prst="ellipse">
            <a:avLst/>
          </a:prstGeom>
          <a:solidFill>
            <a:srgbClr val="1B1F3B"/>
          </a:solidFill>
          <a:ln w="31750">
            <a:solidFill>
              <a:srgbClr val="3CC6B0"/>
            </a:solidFill>
            <a:prstDash val="solid"/>
          </a:ln>
        </p:spPr>
      </p:sp>
      <p:sp>
        <p:nvSpPr>
          <p:cNvPr id="13" name="Shape 11"/>
          <p:cNvSpPr/>
          <p:nvPr/>
        </p:nvSpPr>
        <p:spPr>
          <a:xfrm rot="3600000">
            <a:off x="4764024" y="2322576"/>
            <a:ext cx="914" cy="201168"/>
          </a:xfrm>
          <a:prstGeom prst="line">
            <a:avLst/>
          </a:prstGeom>
          <a:noFill/>
          <a:ln w="31750">
            <a:solidFill>
              <a:srgbClr val="3CC6B0"/>
            </a:solidFill>
            <a:prstDash val="solid"/>
          </a:ln>
        </p:spPr>
      </p:sp>
      <p:sp>
        <p:nvSpPr>
          <p:cNvPr id="14" name="Shape 12"/>
          <p:cNvSpPr/>
          <p:nvPr/>
        </p:nvSpPr>
        <p:spPr>
          <a:xfrm>
            <a:off x="5212080" y="2286000"/>
            <a:ext cx="475488" cy="475488"/>
          </a:xfrm>
          <a:prstGeom prst="ellipse">
            <a:avLst/>
          </a:prstGeom>
          <a:solidFill>
            <a:srgbClr val="1B1F3B"/>
          </a:solidFill>
          <a:ln w="31750">
            <a:solidFill>
              <a:srgbClr val="3CC6B0"/>
            </a:solidFill>
            <a:prstDash val="solid"/>
          </a:ln>
        </p:spPr>
      </p:sp>
      <p:sp>
        <p:nvSpPr>
          <p:cNvPr id="15" name="Shape 13"/>
          <p:cNvSpPr/>
          <p:nvPr/>
        </p:nvSpPr>
        <p:spPr>
          <a:xfrm rot="-600000">
            <a:off x="5449824" y="2322576"/>
            <a:ext cx="914" cy="201168"/>
          </a:xfrm>
          <a:prstGeom prst="line">
            <a:avLst/>
          </a:prstGeom>
          <a:noFill/>
          <a:ln w="31750">
            <a:solidFill>
              <a:srgbClr val="3CC6B0"/>
            </a:solidFill>
            <a:prstDash val="solid"/>
          </a:ln>
        </p:spPr>
      </p:sp>
      <p:sp>
        <p:nvSpPr>
          <p:cNvPr id="16" name="Shape 14"/>
          <p:cNvSpPr/>
          <p:nvPr/>
        </p:nvSpPr>
        <p:spPr>
          <a:xfrm>
            <a:off x="5943600" y="2148840"/>
            <a:ext cx="548640" cy="914"/>
          </a:xfrm>
          <a:prstGeom prst="line">
            <a:avLst/>
          </a:prstGeom>
          <a:noFill/>
          <a:ln w="31750">
            <a:solidFill>
              <a:srgbClr val="5A6285"/>
            </a:solidFill>
            <a:prstDash val="solid"/>
            <a:tailEnd type="triangle"/>
          </a:ln>
        </p:spPr>
      </p:sp>
      <p:sp>
        <p:nvSpPr>
          <p:cNvPr id="17" name="Shape 15"/>
          <p:cNvSpPr/>
          <p:nvPr/>
        </p:nvSpPr>
        <p:spPr>
          <a:xfrm>
            <a:off x="6583680" y="1645920"/>
            <a:ext cx="1463040" cy="1005840"/>
          </a:xfrm>
          <a:prstGeom prst="roundRect">
            <a:avLst>
              <a:gd name="adj" fmla="val 10909"/>
            </a:avLst>
          </a:prstGeom>
          <a:solidFill>
            <a:srgbClr val="F3F5FA"/>
          </a:solidFill>
          <a:ln w="12700">
            <a:solidFill>
              <a:srgbClr val="F3F5FA"/>
            </a:solidFill>
            <a:prstDash val="solid"/>
          </a:ln>
        </p:spPr>
      </p:sp>
      <p:sp>
        <p:nvSpPr>
          <p:cNvPr id="18" name="Text 16"/>
          <p:cNvSpPr txBox="1"/>
          <p:nvPr/>
        </p:nvSpPr>
        <p:spPr>
          <a:xfrm>
            <a:off x="6583680" y="1645920"/>
            <a:ext cx="1463040" cy="1005840"/>
          </a:xfrm>
          <a:prstGeom prst="rect">
            <a:avLst/>
          </a:prstGeom>
          <a:noFill/>
          <a:ln/>
        </p:spPr>
        <p:txBody>
          <a:bodyPr wrap="square" lIns="0" tIns="0" rIns="0" bIns="0" rtlCol="0" anchor="ctr"/>
          <a:lstStyle/>
          <a:p>
            <a:pPr algn="ctr" indent="0" marL="0">
              <a:buNone/>
            </a:pPr>
            <a:r>
              <a:rPr lang="en-US" sz="1800" dirty="0">
                <a:solidFill>
                  <a:srgbClr val="1B1F3B"/>
                </a:solidFill>
                <a:latin typeface="Calibri" pitchFamily="34" charset="0"/>
                <a:ea typeface="Calibri" pitchFamily="34" charset="-122"/>
                <a:cs typeface="Calibri" pitchFamily="34" charset="-120"/>
              </a:rPr>
              <a:t>Output</a:t>
            </a:r>
            <a:endParaRPr lang="en-US" sz="1800" dirty="0"/>
          </a:p>
        </p:txBody>
      </p:sp>
      <p:sp>
        <p:nvSpPr>
          <p:cNvPr id="19" name="Text 17"/>
          <p:cNvSpPr txBox="1"/>
          <p:nvPr/>
        </p:nvSpPr>
        <p:spPr>
          <a:xfrm>
            <a:off x="548640" y="3337560"/>
            <a:ext cx="7498080" cy="457200"/>
          </a:xfrm>
          <a:prstGeom prst="rect">
            <a:avLst/>
          </a:prstGeom>
          <a:noFill/>
          <a:ln/>
        </p:spPr>
        <p:txBody>
          <a:bodyPr wrap="square" lIns="0" tIns="0" rIns="0" bIns="0" rtlCol="0" anchor="t"/>
          <a:lstStyle/>
          <a:p>
            <a:pPr indent="0" marL="0">
              <a:buNone/>
            </a:pPr>
            <a:r>
              <a:rPr lang="en-US" sz="1800" b="1" dirty="0">
                <a:solidFill>
                  <a:srgbClr val="13897A"/>
                </a:solidFill>
                <a:latin typeface="Calibri" pitchFamily="34" charset="0"/>
                <a:ea typeface="Calibri" pitchFamily="34" charset="-122"/>
                <a:cs typeface="Calibri" pitchFamily="34" charset="-120"/>
              </a:rPr>
              <a:t>Knobs</a:t>
            </a:r>
            <a:pPr indent="0" marL="0">
              <a:buNone/>
            </a:pPr>
            <a:r>
              <a:rPr lang="en-US" sz="1800" dirty="0">
                <a:solidFill>
                  <a:srgbClr val="1B1F3B"/>
                </a:solidFill>
                <a:latin typeface="Calibri" pitchFamily="34" charset="0"/>
                <a:ea typeface="Calibri" pitchFamily="34" charset="-122"/>
                <a:cs typeface="Calibri" pitchFamily="34" charset="-120"/>
              </a:rPr>
              <a:t> = weights = parameters. Same thing, three names.</a:t>
            </a:r>
            <a:endParaRPr lang="en-US" sz="1800" dirty="0"/>
          </a:p>
        </p:txBody>
      </p:sp>
      <p:sp>
        <p:nvSpPr>
          <p:cNvPr id="20" name="Text 18"/>
          <p:cNvSpPr txBox="1"/>
          <p:nvPr/>
        </p:nvSpPr>
        <p:spPr>
          <a:xfrm>
            <a:off x="548640" y="3886200"/>
            <a:ext cx="7315200" cy="1188720"/>
          </a:xfrm>
          <a:prstGeom prst="rect">
            <a:avLst/>
          </a:prstGeom>
          <a:noFill/>
          <a:ln/>
        </p:spPr>
        <p:txBody>
          <a:bodyPr wrap="square" lIns="0" tIns="0" rIns="0" bIns="0" rtlCol="0" anchor="t"/>
          <a:lstStyle/>
          <a:p>
            <a:pPr indent="0" marL="0">
              <a:buNone/>
            </a:pPr>
            <a:r>
              <a:rPr lang="en-US" sz="1800" dirty="0">
                <a:solidFill>
                  <a:srgbClr val="5A6285"/>
                </a:solidFill>
                <a:latin typeface="Calibri" pitchFamily="34" charset="0"/>
                <a:ea typeface="Calibri" pitchFamily="34" charset="-122"/>
                <a:cs typeface="Calibri" pitchFamily="34" charset="-120"/>
              </a:rPr>
              <a:t>Training never edits the recipe. It only changes the knob values. After training, the knobs are frozen and shipped: that is the multi-gigabyte weights file.</a:t>
            </a:r>
            <a:endParaRPr lang="en-US" sz="1800" dirty="0"/>
          </a:p>
        </p:txBody>
      </p:sp>
      <p:sp>
        <p:nvSpPr>
          <p:cNvPr id="21" name="Shape 19"/>
          <p:cNvSpPr/>
          <p:nvPr/>
        </p:nvSpPr>
        <p:spPr>
          <a:xfrm>
            <a:off x="8503920" y="1325880"/>
            <a:ext cx="3108960" cy="2011680"/>
          </a:xfrm>
          <a:prstGeom prst="roundRect">
            <a:avLst>
              <a:gd name="adj" fmla="val 5455"/>
            </a:avLst>
          </a:prstGeom>
          <a:solidFill>
            <a:srgbClr val="E3F6F2"/>
          </a:solidFill>
          <a:ln w="12700">
            <a:solidFill>
              <a:srgbClr val="E3F6F2"/>
            </a:solidFill>
            <a:prstDash val="solid"/>
          </a:ln>
        </p:spPr>
      </p:sp>
      <p:sp>
        <p:nvSpPr>
          <p:cNvPr id="22" name="Text 20"/>
          <p:cNvSpPr txBox="1"/>
          <p:nvPr/>
        </p:nvSpPr>
        <p:spPr>
          <a:xfrm>
            <a:off x="8503920" y="1417320"/>
            <a:ext cx="3108960" cy="1097280"/>
          </a:xfrm>
          <a:prstGeom prst="rect">
            <a:avLst/>
          </a:prstGeom>
          <a:noFill/>
          <a:ln/>
        </p:spPr>
        <p:txBody>
          <a:bodyPr wrap="square" lIns="0" tIns="0" rIns="0" bIns="0" rtlCol="0" anchor="ctr"/>
          <a:lstStyle/>
          <a:p>
            <a:pPr algn="ctr" indent="0" marL="0">
              <a:buNone/>
            </a:pPr>
            <a:r>
              <a:rPr lang="en-US" sz="6600" b="1" dirty="0">
                <a:solidFill>
                  <a:srgbClr val="13897A"/>
                </a:solidFill>
                <a:latin typeface="Cambria" pitchFamily="34" charset="0"/>
                <a:ea typeface="Cambria" pitchFamily="34" charset="-122"/>
                <a:cs typeface="Cambria" pitchFamily="34" charset="-120"/>
              </a:rPr>
              <a:t>2</a:t>
            </a:r>
            <a:endParaRPr lang="en-US" sz="6600" dirty="0"/>
          </a:p>
        </p:txBody>
      </p:sp>
      <p:sp>
        <p:nvSpPr>
          <p:cNvPr id="23" name="Text 21"/>
          <p:cNvSpPr txBox="1"/>
          <p:nvPr/>
        </p:nvSpPr>
        <p:spPr>
          <a:xfrm>
            <a:off x="8503920" y="2560320"/>
            <a:ext cx="3108960" cy="457200"/>
          </a:xfrm>
          <a:prstGeom prst="rect">
            <a:avLst/>
          </a:prstGeom>
          <a:noFill/>
          <a:ln/>
        </p:spPr>
        <p:txBody>
          <a:bodyPr wrap="square" lIns="0" tIns="0" rIns="0" bIns="0" rtlCol="0" anchor="t"/>
          <a:lstStyle/>
          <a:p>
            <a:pPr algn="ctr" indent="0" marL="0">
              <a:buNone/>
            </a:pPr>
            <a:r>
              <a:rPr lang="en-US" sz="1500" dirty="0">
                <a:solidFill>
                  <a:srgbClr val="1B1F3B"/>
                </a:solidFill>
                <a:latin typeface="Calibri" pitchFamily="34" charset="0"/>
                <a:ea typeface="Calibri" pitchFamily="34" charset="-122"/>
                <a:cs typeface="Calibri" pitchFamily="34" charset="-120"/>
              </a:rPr>
              <a:t>knobs in our first model</a:t>
            </a:r>
            <a:endParaRPr lang="en-US" sz="1500" dirty="0"/>
          </a:p>
        </p:txBody>
      </p:sp>
      <p:sp>
        <p:nvSpPr>
          <p:cNvPr id="24" name="Shape 22"/>
          <p:cNvSpPr/>
          <p:nvPr/>
        </p:nvSpPr>
        <p:spPr>
          <a:xfrm>
            <a:off x="8503920" y="3566160"/>
            <a:ext cx="3108960" cy="2011680"/>
          </a:xfrm>
          <a:prstGeom prst="roundRect">
            <a:avLst>
              <a:gd name="adj" fmla="val 5455"/>
            </a:avLst>
          </a:prstGeom>
          <a:solidFill>
            <a:srgbClr val="FDF1DF"/>
          </a:solidFill>
          <a:ln w="12700">
            <a:solidFill>
              <a:srgbClr val="FDF1DF"/>
            </a:solidFill>
            <a:prstDash val="solid"/>
          </a:ln>
        </p:spPr>
      </p:sp>
      <p:sp>
        <p:nvSpPr>
          <p:cNvPr id="25" name="Text 23"/>
          <p:cNvSpPr txBox="1"/>
          <p:nvPr/>
        </p:nvSpPr>
        <p:spPr>
          <a:xfrm>
            <a:off x="8503920" y="3703320"/>
            <a:ext cx="3108960" cy="1005840"/>
          </a:xfrm>
          <a:prstGeom prst="rect">
            <a:avLst/>
          </a:prstGeom>
          <a:noFill/>
          <a:ln/>
        </p:spPr>
        <p:txBody>
          <a:bodyPr wrap="square" lIns="0" tIns="0" rIns="0" bIns="0" rtlCol="0" anchor="ctr"/>
          <a:lstStyle/>
          <a:p>
            <a:pPr algn="ctr" indent="0" marL="0">
              <a:buNone/>
            </a:pPr>
            <a:r>
              <a:rPr lang="en-US" sz="4000" b="1" dirty="0">
                <a:solidFill>
                  <a:srgbClr val="C77A12"/>
                </a:solidFill>
                <a:latin typeface="Cambria" pitchFamily="34" charset="0"/>
                <a:ea typeface="Cambria" pitchFamily="34" charset="-122"/>
                <a:cs typeface="Cambria" pitchFamily="34" charset="-120"/>
              </a:rPr>
              <a:t>405 billion</a:t>
            </a:r>
            <a:endParaRPr lang="en-US" sz="4000" dirty="0"/>
          </a:p>
        </p:txBody>
      </p:sp>
      <p:sp>
        <p:nvSpPr>
          <p:cNvPr id="26" name="Text 24"/>
          <p:cNvSpPr txBox="1"/>
          <p:nvPr/>
        </p:nvSpPr>
        <p:spPr>
          <a:xfrm>
            <a:off x="8503920" y="4754880"/>
            <a:ext cx="3108960" cy="457200"/>
          </a:xfrm>
          <a:prstGeom prst="rect">
            <a:avLst/>
          </a:prstGeom>
          <a:noFill/>
          <a:ln/>
        </p:spPr>
        <p:txBody>
          <a:bodyPr wrap="square" lIns="0" tIns="0" rIns="0" bIns="0" rtlCol="0" anchor="t"/>
          <a:lstStyle/>
          <a:p>
            <a:pPr algn="ctr" indent="0" marL="0">
              <a:buNone/>
            </a:pPr>
            <a:r>
              <a:rPr lang="en-US" sz="1500" dirty="0">
                <a:solidFill>
                  <a:srgbClr val="1B1F3B"/>
                </a:solidFill>
                <a:latin typeface="Calibri" pitchFamily="34" charset="0"/>
                <a:ea typeface="Calibri" pitchFamily="34" charset="-122"/>
                <a:cs typeface="Calibri" pitchFamily="34" charset="-120"/>
              </a:rPr>
              <a:t>knobs in Llama 3.1 405B</a:t>
            </a:r>
            <a:endParaRPr lang="en-US" sz="1500" dirty="0"/>
          </a:p>
        </p:txBody>
      </p:sp>
      <p:sp>
        <p:nvSpPr>
          <p:cNvPr id="27" name="Text 25"/>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700" i="1" dirty="0">
                <a:solidFill>
                  <a:srgbClr val="5A6285"/>
                </a:solidFill>
                <a:latin typeface="Calibri" pitchFamily="34" charset="0"/>
                <a:ea typeface="Calibri" pitchFamily="34" charset="-122"/>
                <a:cs typeface="Calibri" pitchFamily="34" charset="-120"/>
              </a:rPr>
              <a:t>Same idea. Different number of knobs.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Meet the smallest neural network</a:t>
            </a:r>
            <a:endParaRPr lang="en-US" sz="3400" dirty="0"/>
          </a:p>
        </p:txBody>
      </p:sp>
      <p:sp>
        <p:nvSpPr>
          <p:cNvPr id="3" name="Text 1"/>
          <p:cNvSpPr txBox="1"/>
          <p:nvPr/>
        </p:nvSpPr>
        <p:spPr>
          <a:xfrm>
            <a:off x="548640" y="1234440"/>
            <a:ext cx="11064240" cy="731520"/>
          </a:xfrm>
          <a:prstGeom prst="rect">
            <a:avLst/>
          </a:prstGeom>
          <a:noFill/>
          <a:ln/>
        </p:spPr>
        <p:txBody>
          <a:bodyPr wrap="square" lIns="0" tIns="0" rIns="0" bIns="0" rtlCol="0" anchor="t"/>
          <a:lstStyle/>
          <a:p>
            <a:pPr indent="0" marL="0">
              <a:buNone/>
            </a:pPr>
            <a:r>
              <a:rPr lang="en-US" sz="1900" dirty="0">
                <a:solidFill>
                  <a:srgbClr val="5A6285"/>
                </a:solidFill>
                <a:latin typeface="Calibri" pitchFamily="34" charset="0"/>
                <a:ea typeface="Calibri" pitchFamily="34" charset="-122"/>
                <a:cs typeface="Calibri" pitchFamily="34" charset="-120"/>
              </a:rPr>
              <a:t>The task: convert Celsius to Fahrenheit. We are not allowed to tell it the formula. We only give it examples.</a:t>
            </a:r>
            <a:endParaRPr lang="en-US" sz="1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2377440" cy="914400"/>
        </p:xfrm>
        <a:graphic>
          <a:graphicData uri="http://schemas.openxmlformats.org/drawingml/2006/table">
            <a:tbl>
              <a:tblPr/>
              <a:tblGrid>
                <a:gridCol w="1188720"/>
                <a:gridCol w="1188720"/>
              </a:tblGrid>
              <a:tr h="50292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1F3B"/>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1B1F3B"/>
                    </a:solidFill>
                  </a:tcPr>
                </a:tc>
              </a:tr>
              <a:tr h="502920">
                <a:tc>
                  <a:txBody>
                    <a:bodyPr/>
                    <a:lstStyle/>
                    <a:p>
                      <a:pPr algn="ctr" indent="0" marL="0">
                        <a:buNone/>
                      </a:pPr>
                      <a:r>
                        <a:rPr lang="en-US" sz="1800" dirty="0">
                          <a:solidFill>
                            <a:srgbClr val="1B1F3B"/>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5FA"/>
                    </a:solidFill>
                  </a:tcPr>
                </a:tc>
                <a:tc>
                  <a:txBody>
                    <a:bodyPr/>
                    <a:lstStyle/>
                    <a:p>
                      <a:pPr algn="ctr" indent="0" marL="0">
                        <a:buNone/>
                      </a:pPr>
                      <a:r>
                        <a:rPr lang="en-US" sz="1800" dirty="0">
                          <a:solidFill>
                            <a:srgbClr val="1B1F3B"/>
                          </a:solidFill>
                          <a:latin typeface="Calibri" pitchFamily="34" charset="0"/>
                          <a:ea typeface="Calibri" pitchFamily="34" charset="-122"/>
                          <a:cs typeface="Calibri" pitchFamily="34" charset="-120"/>
                        </a:rPr>
                        <a:t>32</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5FA"/>
                    </a:solidFill>
                  </a:tcPr>
                </a:tc>
              </a:tr>
              <a:tr h="502920">
                <a:tc>
                  <a:txBody>
                    <a:bodyPr/>
                    <a:lstStyle/>
                    <a:p>
                      <a:pPr algn="ctr" indent="0" marL="0">
                        <a:buNone/>
                      </a:pPr>
                      <a:r>
                        <a:rPr lang="en-US" sz="1800" dirty="0">
                          <a:solidFill>
                            <a:srgbClr val="1B1F3B"/>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800" dirty="0">
                          <a:solidFill>
                            <a:srgbClr val="1B1F3B"/>
                          </a:solidFill>
                          <a:latin typeface="Calibri" pitchFamily="34" charset="0"/>
                          <a:ea typeface="Calibri" pitchFamily="34" charset="-122"/>
                          <a:cs typeface="Calibri" pitchFamily="34" charset="-120"/>
                        </a:rPr>
                        <a:t>50</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502920">
                <a:tc>
                  <a:txBody>
                    <a:bodyPr/>
                    <a:lstStyle/>
                    <a:p>
                      <a:pPr algn="ctr" indent="0" marL="0">
                        <a:buNone/>
                      </a:pPr>
                      <a:r>
                        <a:rPr lang="en-US" sz="1800" dirty="0">
                          <a:solidFill>
                            <a:srgbClr val="1B1F3B"/>
                          </a:solidFill>
                          <a:latin typeface="Calibri" pitchFamily="34" charset="0"/>
                          <a:ea typeface="Calibri" pitchFamily="34" charset="-122"/>
                          <a:cs typeface="Calibri" pitchFamily="34" charset="-120"/>
                        </a:rPr>
                        <a:t>20</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5FA"/>
                    </a:solidFill>
                  </a:tcPr>
                </a:tc>
                <a:tc>
                  <a:txBody>
                    <a:bodyPr/>
                    <a:lstStyle/>
                    <a:p>
                      <a:pPr algn="ctr" indent="0" marL="0">
                        <a:buNone/>
                      </a:pPr>
                      <a:r>
                        <a:rPr lang="en-US" sz="1800" dirty="0">
                          <a:solidFill>
                            <a:srgbClr val="1B1F3B"/>
                          </a:solidFill>
                          <a:latin typeface="Calibri" pitchFamily="34" charset="0"/>
                          <a:ea typeface="Calibri" pitchFamily="34" charset="-122"/>
                          <a:cs typeface="Calibri" pitchFamily="34" charset="-120"/>
                        </a:rPr>
                        <a:t>68</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3F5FA"/>
                    </a:solidFill>
                  </a:tcPr>
                </a:tc>
              </a:tr>
              <a:tr h="502920">
                <a:tc>
                  <a:txBody>
                    <a:bodyPr/>
                    <a:lstStyle/>
                    <a:p>
                      <a:pPr algn="ctr" indent="0" marL="0">
                        <a:buNone/>
                      </a:pPr>
                      <a:r>
                        <a:rPr lang="en-US" sz="1800" dirty="0">
                          <a:solidFill>
                            <a:srgbClr val="1B1F3B"/>
                          </a:solidFill>
                          <a:latin typeface="Calibri" pitchFamily="34" charset="0"/>
                          <a:ea typeface="Calibri" pitchFamily="34" charset="-122"/>
                          <a:cs typeface="Calibri" pitchFamily="34" charset="-120"/>
                        </a:rPr>
                        <a:t>30</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800" dirty="0">
                          <a:solidFill>
                            <a:srgbClr val="1B1F3B"/>
                          </a:solidFill>
                          <a:latin typeface="Calibri" pitchFamily="34" charset="0"/>
                          <a:ea typeface="Calibri" pitchFamily="34" charset="-122"/>
                          <a:cs typeface="Calibri" pitchFamily="34" charset="-120"/>
                        </a:rPr>
                        <a:t>86</a:t>
                      </a:r>
                      <a:endParaRPr lang="en-US" sz="18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3657600" y="2788920"/>
            <a:ext cx="1463040" cy="1005840"/>
          </a:xfrm>
          <a:prstGeom prst="roundRect">
            <a:avLst>
              <a:gd name="adj" fmla="val 10909"/>
            </a:avLst>
          </a:prstGeom>
          <a:solidFill>
            <a:srgbClr val="F3F5FA"/>
          </a:solidFill>
          <a:ln w="12700">
            <a:solidFill>
              <a:srgbClr val="F3F5FA"/>
            </a:solidFill>
            <a:prstDash val="solid"/>
          </a:ln>
        </p:spPr>
      </p:sp>
      <p:sp>
        <p:nvSpPr>
          <p:cNvPr id="6" name="Text 3"/>
          <p:cNvSpPr txBox="1"/>
          <p:nvPr/>
        </p:nvSpPr>
        <p:spPr>
          <a:xfrm>
            <a:off x="3657600" y="2788920"/>
            <a:ext cx="1463040" cy="1005840"/>
          </a:xfrm>
          <a:prstGeom prst="rect">
            <a:avLst/>
          </a:prstGeom>
          <a:noFill/>
          <a:ln/>
        </p:spPr>
        <p:txBody>
          <a:bodyPr wrap="square" lIns="0" tIns="0" rIns="0" bIns="0" rtlCol="0" anchor="ctr"/>
          <a:lstStyle/>
          <a:p>
            <a:pPr algn="ctr" indent="0" marL="0">
              <a:buNone/>
            </a:pPr>
            <a:r>
              <a:rPr lang="en-US" sz="2000" dirty="0">
                <a:solidFill>
                  <a:srgbClr val="1B1F3B"/>
                </a:solidFill>
                <a:latin typeface="Calibri" pitchFamily="34" charset="0"/>
                <a:ea typeface="Calibri" pitchFamily="34" charset="-122"/>
                <a:cs typeface="Calibri" pitchFamily="34" charset="-120"/>
              </a:rPr>
              <a:t>°C in</a:t>
            </a:r>
            <a:endParaRPr lang="en-US" sz="2000" dirty="0"/>
          </a:p>
        </p:txBody>
      </p:sp>
      <p:sp>
        <p:nvSpPr>
          <p:cNvPr id="7" name="Shape 4"/>
          <p:cNvSpPr/>
          <p:nvPr/>
        </p:nvSpPr>
        <p:spPr>
          <a:xfrm>
            <a:off x="5212080" y="3291840"/>
            <a:ext cx="548640" cy="914"/>
          </a:xfrm>
          <a:prstGeom prst="line">
            <a:avLst/>
          </a:prstGeom>
          <a:noFill/>
          <a:ln w="31750">
            <a:solidFill>
              <a:srgbClr val="5A6285"/>
            </a:solidFill>
            <a:prstDash val="solid"/>
            <a:tailEnd type="triangle"/>
          </a:ln>
        </p:spPr>
      </p:sp>
      <p:sp>
        <p:nvSpPr>
          <p:cNvPr id="8" name="Shape 5"/>
          <p:cNvSpPr/>
          <p:nvPr/>
        </p:nvSpPr>
        <p:spPr>
          <a:xfrm>
            <a:off x="5852160" y="2697480"/>
            <a:ext cx="1188720" cy="1188720"/>
          </a:xfrm>
          <a:prstGeom prst="ellipse">
            <a:avLst/>
          </a:prstGeom>
          <a:solidFill>
            <a:srgbClr val="E3F6F2"/>
          </a:solidFill>
          <a:ln w="38100">
            <a:solidFill>
              <a:srgbClr val="13897A"/>
            </a:solidFill>
            <a:prstDash val="solid"/>
          </a:ln>
        </p:spPr>
      </p:sp>
      <p:sp>
        <p:nvSpPr>
          <p:cNvPr id="9" name="Text 6"/>
          <p:cNvSpPr txBox="1"/>
          <p:nvPr/>
        </p:nvSpPr>
        <p:spPr>
          <a:xfrm>
            <a:off x="5852160" y="2697480"/>
            <a:ext cx="1188720" cy="1188720"/>
          </a:xfrm>
          <a:prstGeom prst="rect">
            <a:avLst/>
          </a:prstGeom>
          <a:noFill/>
          <a:ln/>
        </p:spPr>
        <p:txBody>
          <a:bodyPr wrap="square" lIns="0" tIns="0" rIns="0" bIns="0" rtlCol="0" anchor="ctr"/>
          <a:lstStyle/>
          <a:p>
            <a:pPr algn="ctr" indent="0" marL="0">
              <a:buNone/>
            </a:pPr>
            <a:r>
              <a:rPr lang="en-US" sz="2400" b="1" dirty="0">
                <a:solidFill>
                  <a:srgbClr val="13897A"/>
                </a:solidFill>
                <a:latin typeface="Calibri" pitchFamily="34" charset="0"/>
                <a:ea typeface="Calibri" pitchFamily="34" charset="-122"/>
                <a:cs typeface="Calibri" pitchFamily="34" charset="-120"/>
              </a:rPr>
              <a:t>× w</a:t>
            </a:r>
            <a:endParaRPr lang="en-US" sz="2400" dirty="0"/>
          </a:p>
        </p:txBody>
      </p:sp>
      <p:sp>
        <p:nvSpPr>
          <p:cNvPr id="10" name="Shape 7"/>
          <p:cNvSpPr/>
          <p:nvPr/>
        </p:nvSpPr>
        <p:spPr>
          <a:xfrm>
            <a:off x="7132320" y="3291840"/>
            <a:ext cx="548640" cy="914"/>
          </a:xfrm>
          <a:prstGeom prst="line">
            <a:avLst/>
          </a:prstGeom>
          <a:noFill/>
          <a:ln w="31750">
            <a:solidFill>
              <a:srgbClr val="5A6285"/>
            </a:solidFill>
            <a:prstDash val="solid"/>
            <a:tailEnd type="triangle"/>
          </a:ln>
        </p:spPr>
      </p:sp>
      <p:sp>
        <p:nvSpPr>
          <p:cNvPr id="11" name="Shape 8"/>
          <p:cNvSpPr/>
          <p:nvPr/>
        </p:nvSpPr>
        <p:spPr>
          <a:xfrm>
            <a:off x="7772400" y="2697480"/>
            <a:ext cx="1188720" cy="1188720"/>
          </a:xfrm>
          <a:prstGeom prst="ellipse">
            <a:avLst/>
          </a:prstGeom>
          <a:solidFill>
            <a:srgbClr val="E3F6F2"/>
          </a:solidFill>
          <a:ln w="38100">
            <a:solidFill>
              <a:srgbClr val="13897A"/>
            </a:solidFill>
            <a:prstDash val="solid"/>
          </a:ln>
        </p:spPr>
      </p:sp>
      <p:sp>
        <p:nvSpPr>
          <p:cNvPr id="12" name="Text 9"/>
          <p:cNvSpPr txBox="1"/>
          <p:nvPr/>
        </p:nvSpPr>
        <p:spPr>
          <a:xfrm>
            <a:off x="7772400" y="2697480"/>
            <a:ext cx="1188720" cy="1188720"/>
          </a:xfrm>
          <a:prstGeom prst="rect">
            <a:avLst/>
          </a:prstGeom>
          <a:noFill/>
          <a:ln/>
        </p:spPr>
        <p:txBody>
          <a:bodyPr wrap="square" lIns="0" tIns="0" rIns="0" bIns="0" rtlCol="0" anchor="ctr"/>
          <a:lstStyle/>
          <a:p>
            <a:pPr algn="ctr" indent="0" marL="0">
              <a:buNone/>
            </a:pPr>
            <a:r>
              <a:rPr lang="en-US" sz="2400" b="1" dirty="0">
                <a:solidFill>
                  <a:srgbClr val="13897A"/>
                </a:solidFill>
                <a:latin typeface="Calibri" pitchFamily="34" charset="0"/>
                <a:ea typeface="Calibri" pitchFamily="34" charset="-122"/>
                <a:cs typeface="Calibri" pitchFamily="34" charset="-120"/>
              </a:rPr>
              <a:t>+ b</a:t>
            </a:r>
            <a:endParaRPr lang="en-US" sz="2400" dirty="0"/>
          </a:p>
        </p:txBody>
      </p:sp>
      <p:sp>
        <p:nvSpPr>
          <p:cNvPr id="13" name="Shape 10"/>
          <p:cNvSpPr/>
          <p:nvPr/>
        </p:nvSpPr>
        <p:spPr>
          <a:xfrm>
            <a:off x="9052560" y="3291840"/>
            <a:ext cx="548640" cy="914"/>
          </a:xfrm>
          <a:prstGeom prst="line">
            <a:avLst/>
          </a:prstGeom>
          <a:noFill/>
          <a:ln w="31750">
            <a:solidFill>
              <a:srgbClr val="5A6285"/>
            </a:solidFill>
            <a:prstDash val="solid"/>
            <a:tailEnd type="triangle"/>
          </a:ln>
        </p:spPr>
      </p:sp>
      <p:sp>
        <p:nvSpPr>
          <p:cNvPr id="14" name="Shape 11"/>
          <p:cNvSpPr/>
          <p:nvPr/>
        </p:nvSpPr>
        <p:spPr>
          <a:xfrm>
            <a:off x="9692640" y="2788920"/>
            <a:ext cx="1920240" cy="1005840"/>
          </a:xfrm>
          <a:prstGeom prst="roundRect">
            <a:avLst>
              <a:gd name="adj" fmla="val 10909"/>
            </a:avLst>
          </a:prstGeom>
          <a:solidFill>
            <a:srgbClr val="1B1F3B"/>
          </a:solidFill>
          <a:ln w="12700">
            <a:solidFill>
              <a:srgbClr val="1B1F3B"/>
            </a:solidFill>
            <a:prstDash val="solid"/>
          </a:ln>
        </p:spPr>
      </p:sp>
      <p:sp>
        <p:nvSpPr>
          <p:cNvPr id="15" name="Text 12"/>
          <p:cNvSpPr txBox="1"/>
          <p:nvPr/>
        </p:nvSpPr>
        <p:spPr>
          <a:xfrm>
            <a:off x="9692640" y="2788920"/>
            <a:ext cx="192024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guess °F</a:t>
            </a:r>
            <a:endParaRPr lang="en-US" sz="2000" dirty="0"/>
          </a:p>
        </p:txBody>
      </p:sp>
      <p:sp>
        <p:nvSpPr>
          <p:cNvPr id="16" name="Text 13"/>
          <p:cNvSpPr txBox="1"/>
          <p:nvPr/>
        </p:nvSpPr>
        <p:spPr>
          <a:xfrm>
            <a:off x="3657600" y="4160520"/>
            <a:ext cx="7955280" cy="45720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Two knobs: w (a multiplier) and b (an offset). That is one neuron.</a:t>
            </a:r>
            <a:endParaRPr lang="en-US" sz="1800" dirty="0"/>
          </a:p>
        </p:txBody>
      </p:sp>
      <p:sp>
        <p:nvSpPr>
          <p:cNvPr id="17" name="Shape 14"/>
          <p:cNvSpPr/>
          <p:nvPr/>
        </p:nvSpPr>
        <p:spPr>
          <a:xfrm>
            <a:off x="3657600" y="4846320"/>
            <a:ext cx="7955280" cy="1143000"/>
          </a:xfrm>
          <a:prstGeom prst="roundRect">
            <a:avLst>
              <a:gd name="adj" fmla="val 9600"/>
            </a:avLst>
          </a:prstGeom>
          <a:solidFill>
            <a:srgbClr val="FDF1DF"/>
          </a:solidFill>
          <a:ln w="12700">
            <a:solidFill>
              <a:srgbClr val="FDF1DF"/>
            </a:solidFill>
            <a:prstDash val="solid"/>
          </a:ln>
        </p:spPr>
      </p:sp>
      <p:sp>
        <p:nvSpPr>
          <p:cNvPr id="18" name="Text 15"/>
          <p:cNvSpPr txBox="1"/>
          <p:nvPr/>
        </p:nvSpPr>
        <p:spPr>
          <a:xfrm>
            <a:off x="3931920" y="4937760"/>
            <a:ext cx="7498080" cy="960120"/>
          </a:xfrm>
          <a:prstGeom prst="rect">
            <a:avLst/>
          </a:prstGeom>
          <a:noFill/>
          <a:ln/>
        </p:spPr>
        <p:txBody>
          <a:bodyPr wrap="square" lIns="0" tIns="0" rIns="0" bIns="0" rtlCol="0" anchor="ctr"/>
          <a:lstStyle/>
          <a:p>
            <a:pPr indent="0" marL="0">
              <a:buNone/>
            </a:pPr>
            <a:r>
              <a:rPr lang="en-US" sz="1800" b="1" dirty="0">
                <a:solidFill>
                  <a:srgbClr val="1B1F3B"/>
                </a:solidFill>
                <a:latin typeface="Calibri" pitchFamily="34" charset="0"/>
                <a:ea typeface="Calibri" pitchFamily="34" charset="-122"/>
                <a:cs typeface="Calibri" pitchFamily="34" charset="-120"/>
              </a:rPr>
              <a:t>Start with arbitrary knobs: w = 1, b = 0.</a:t>
            </a:r>
            <a:endParaRPr lang="en-US" sz="1800" dirty="0"/>
          </a:p>
          <a:p>
            <a:pPr indent="0" marL="0">
              <a:buNone/>
            </a:pPr>
            <a:r>
              <a:rPr lang="en-US" sz="1800" dirty="0">
                <a:solidFill>
                  <a:srgbClr val="1B1F3B"/>
                </a:solidFill>
                <a:latin typeface="Calibri" pitchFamily="34" charset="0"/>
                <a:ea typeface="Calibri" pitchFamily="34" charset="-122"/>
                <a:cs typeface="Calibri" pitchFamily="34" charset="-120"/>
              </a:rPr>
              <a:t>The right answer is w = 1.8, b = 32. The model does not know that. Let's see if it can find out.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Step 1 of learning: keep score</a:t>
            </a:r>
            <a:endParaRPr lang="en-US" sz="3400" dirty="0"/>
          </a:p>
        </p:txBody>
      </p:sp>
      <p:sp>
        <p:nvSpPr>
          <p:cNvPr id="3" name="Shape 1"/>
          <p:cNvSpPr/>
          <p:nvPr/>
        </p:nvSpPr>
        <p:spPr>
          <a:xfrm>
            <a:off x="548640" y="1463040"/>
            <a:ext cx="2011680" cy="1600200"/>
          </a:xfrm>
          <a:prstGeom prst="roundRect">
            <a:avLst>
              <a:gd name="adj" fmla="val 6857"/>
            </a:avLst>
          </a:prstGeom>
          <a:solidFill>
            <a:srgbClr val="F3F5FA"/>
          </a:solidFill>
          <a:ln w="12700">
            <a:solidFill>
              <a:srgbClr val="F3F5FA"/>
            </a:solidFill>
            <a:prstDash val="solid"/>
          </a:ln>
        </p:spPr>
      </p:sp>
      <p:sp>
        <p:nvSpPr>
          <p:cNvPr id="4" name="Text 2"/>
          <p:cNvSpPr txBox="1"/>
          <p:nvPr/>
        </p:nvSpPr>
        <p:spPr>
          <a:xfrm>
            <a:off x="548640" y="1572768"/>
            <a:ext cx="2011680" cy="365760"/>
          </a:xfrm>
          <a:prstGeom prst="rect">
            <a:avLst/>
          </a:prstGeom>
          <a:noFill/>
          <a:ln/>
        </p:spPr>
        <p:txBody>
          <a:bodyPr wrap="square" lIns="0" tIns="0" rIns="0" bIns="0" rtlCol="0" anchor="t"/>
          <a:lstStyle/>
          <a:p>
            <a:pPr algn="ctr" indent="0" marL="0">
              <a:buNone/>
            </a:pPr>
            <a:r>
              <a:rPr lang="en-US" sz="1500" dirty="0">
                <a:solidFill>
                  <a:srgbClr val="5A6285"/>
                </a:solidFill>
                <a:latin typeface="Calibri" pitchFamily="34" charset="0"/>
                <a:ea typeface="Calibri" pitchFamily="34" charset="-122"/>
                <a:cs typeface="Calibri" pitchFamily="34" charset="-120"/>
              </a:rPr>
              <a:t>Input</a:t>
            </a:r>
            <a:endParaRPr lang="en-US" sz="1500" dirty="0"/>
          </a:p>
        </p:txBody>
      </p:sp>
      <p:sp>
        <p:nvSpPr>
          <p:cNvPr id="5" name="Text 3"/>
          <p:cNvSpPr txBox="1"/>
          <p:nvPr/>
        </p:nvSpPr>
        <p:spPr>
          <a:xfrm>
            <a:off x="548640" y="1938528"/>
            <a:ext cx="2011680" cy="1005840"/>
          </a:xfrm>
          <a:prstGeom prst="rect">
            <a:avLst/>
          </a:prstGeom>
          <a:noFill/>
          <a:ln/>
        </p:spPr>
        <p:txBody>
          <a:bodyPr wrap="square" lIns="0" tIns="0" rIns="0" bIns="0" rtlCol="0" anchor="ctr"/>
          <a:lstStyle/>
          <a:p>
            <a:pPr algn="ctr" indent="0" marL="0">
              <a:buNone/>
            </a:pPr>
            <a:r>
              <a:rPr lang="en-US" sz="2200" b="1" dirty="0">
                <a:solidFill>
                  <a:srgbClr val="1B1F3B"/>
                </a:solidFill>
                <a:latin typeface="Calibri" pitchFamily="34" charset="0"/>
                <a:ea typeface="Calibri" pitchFamily="34" charset="-122"/>
                <a:cs typeface="Calibri" pitchFamily="34" charset="-120"/>
              </a:rPr>
              <a:t>10 °C</a:t>
            </a:r>
            <a:endParaRPr lang="en-US" sz="2200" dirty="0"/>
          </a:p>
        </p:txBody>
      </p:sp>
      <p:sp>
        <p:nvSpPr>
          <p:cNvPr id="6" name="Shape 4"/>
          <p:cNvSpPr/>
          <p:nvPr/>
        </p:nvSpPr>
        <p:spPr>
          <a:xfrm>
            <a:off x="2596896" y="2258568"/>
            <a:ext cx="246888" cy="914"/>
          </a:xfrm>
          <a:prstGeom prst="line">
            <a:avLst/>
          </a:prstGeom>
          <a:noFill/>
          <a:ln w="25400">
            <a:solidFill>
              <a:srgbClr val="5A6285"/>
            </a:solidFill>
            <a:prstDash val="solid"/>
            <a:tailEnd type="triangle"/>
          </a:ln>
        </p:spPr>
      </p:sp>
      <p:sp>
        <p:nvSpPr>
          <p:cNvPr id="7" name="Shape 5"/>
          <p:cNvSpPr/>
          <p:nvPr/>
        </p:nvSpPr>
        <p:spPr>
          <a:xfrm>
            <a:off x="2880360" y="1463040"/>
            <a:ext cx="2011680" cy="1600200"/>
          </a:xfrm>
          <a:prstGeom prst="roundRect">
            <a:avLst>
              <a:gd name="adj" fmla="val 6857"/>
            </a:avLst>
          </a:prstGeom>
          <a:solidFill>
            <a:srgbClr val="F3F5FA"/>
          </a:solidFill>
          <a:ln w="12700">
            <a:solidFill>
              <a:srgbClr val="F3F5FA"/>
            </a:solidFill>
            <a:prstDash val="solid"/>
          </a:ln>
        </p:spPr>
      </p:sp>
      <p:sp>
        <p:nvSpPr>
          <p:cNvPr id="8" name="Text 6"/>
          <p:cNvSpPr txBox="1"/>
          <p:nvPr/>
        </p:nvSpPr>
        <p:spPr>
          <a:xfrm>
            <a:off x="2880360" y="1572768"/>
            <a:ext cx="2011680" cy="365760"/>
          </a:xfrm>
          <a:prstGeom prst="rect">
            <a:avLst/>
          </a:prstGeom>
          <a:noFill/>
          <a:ln/>
        </p:spPr>
        <p:txBody>
          <a:bodyPr wrap="square" lIns="0" tIns="0" rIns="0" bIns="0" rtlCol="0" anchor="t"/>
          <a:lstStyle/>
          <a:p>
            <a:pPr algn="ctr" indent="0" marL="0">
              <a:buNone/>
            </a:pPr>
            <a:r>
              <a:rPr lang="en-US" sz="1500" dirty="0">
                <a:solidFill>
                  <a:srgbClr val="5A6285"/>
                </a:solidFill>
                <a:latin typeface="Calibri" pitchFamily="34" charset="0"/>
                <a:ea typeface="Calibri" pitchFamily="34" charset="-122"/>
                <a:cs typeface="Calibri" pitchFamily="34" charset="-120"/>
              </a:rPr>
              <a:t>Guess</a:t>
            </a:r>
            <a:endParaRPr lang="en-US" sz="1500" dirty="0"/>
          </a:p>
        </p:txBody>
      </p:sp>
      <p:sp>
        <p:nvSpPr>
          <p:cNvPr id="9" name="Text 7"/>
          <p:cNvSpPr txBox="1"/>
          <p:nvPr/>
        </p:nvSpPr>
        <p:spPr>
          <a:xfrm>
            <a:off x="2880360" y="1938528"/>
            <a:ext cx="2011680" cy="1005840"/>
          </a:xfrm>
          <a:prstGeom prst="rect">
            <a:avLst/>
          </a:prstGeom>
          <a:noFill/>
          <a:ln/>
        </p:spPr>
        <p:txBody>
          <a:bodyPr wrap="square" lIns="0" tIns="0" rIns="0" bIns="0" rtlCol="0" anchor="ctr"/>
          <a:lstStyle/>
          <a:p>
            <a:pPr algn="ctr" indent="0" marL="0">
              <a:buNone/>
            </a:pPr>
            <a:r>
              <a:rPr lang="en-US" sz="2200" b="1" dirty="0">
                <a:solidFill>
                  <a:srgbClr val="1B1F3B"/>
                </a:solidFill>
                <a:latin typeface="Calibri" pitchFamily="34" charset="0"/>
                <a:ea typeface="Calibri" pitchFamily="34" charset="-122"/>
                <a:cs typeface="Calibri" pitchFamily="34" charset="-120"/>
              </a:rPr>
              <a:t>1 × 10 + 0</a:t>
            </a:r>
            <a:endParaRPr lang="en-US" sz="2200" dirty="0"/>
          </a:p>
          <a:p>
            <a:pPr algn="ctr" indent="0" marL="0">
              <a:buNone/>
            </a:pPr>
            <a:r>
              <a:rPr lang="en-US" sz="2200" b="1" dirty="0">
                <a:solidFill>
                  <a:srgbClr val="1B1F3B"/>
                </a:solidFill>
                <a:latin typeface="Calibri" pitchFamily="34" charset="0"/>
                <a:ea typeface="Calibri" pitchFamily="34" charset="-122"/>
                <a:cs typeface="Calibri" pitchFamily="34" charset="-120"/>
              </a:rPr>
              <a:t>= 10 °F</a:t>
            </a:r>
            <a:endParaRPr lang="en-US" sz="2200" dirty="0"/>
          </a:p>
        </p:txBody>
      </p:sp>
      <p:sp>
        <p:nvSpPr>
          <p:cNvPr id="10" name="Shape 8"/>
          <p:cNvSpPr/>
          <p:nvPr/>
        </p:nvSpPr>
        <p:spPr>
          <a:xfrm>
            <a:off x="4928616" y="2258568"/>
            <a:ext cx="246888" cy="914"/>
          </a:xfrm>
          <a:prstGeom prst="line">
            <a:avLst/>
          </a:prstGeom>
          <a:noFill/>
          <a:ln w="25400">
            <a:solidFill>
              <a:srgbClr val="5A6285"/>
            </a:solidFill>
            <a:prstDash val="solid"/>
            <a:tailEnd type="triangle"/>
          </a:ln>
        </p:spPr>
      </p:sp>
      <p:sp>
        <p:nvSpPr>
          <p:cNvPr id="11" name="Shape 9"/>
          <p:cNvSpPr/>
          <p:nvPr/>
        </p:nvSpPr>
        <p:spPr>
          <a:xfrm>
            <a:off x="5212080" y="1463040"/>
            <a:ext cx="2011680" cy="1600200"/>
          </a:xfrm>
          <a:prstGeom prst="roundRect">
            <a:avLst>
              <a:gd name="adj" fmla="val 6857"/>
            </a:avLst>
          </a:prstGeom>
          <a:solidFill>
            <a:srgbClr val="F3F5FA"/>
          </a:solidFill>
          <a:ln w="12700">
            <a:solidFill>
              <a:srgbClr val="F3F5FA"/>
            </a:solidFill>
            <a:prstDash val="solid"/>
          </a:ln>
        </p:spPr>
      </p:sp>
      <p:sp>
        <p:nvSpPr>
          <p:cNvPr id="12" name="Text 10"/>
          <p:cNvSpPr txBox="1"/>
          <p:nvPr/>
        </p:nvSpPr>
        <p:spPr>
          <a:xfrm>
            <a:off x="5212080" y="1572768"/>
            <a:ext cx="2011680" cy="365760"/>
          </a:xfrm>
          <a:prstGeom prst="rect">
            <a:avLst/>
          </a:prstGeom>
          <a:noFill/>
          <a:ln/>
        </p:spPr>
        <p:txBody>
          <a:bodyPr wrap="square" lIns="0" tIns="0" rIns="0" bIns="0" rtlCol="0" anchor="t"/>
          <a:lstStyle/>
          <a:p>
            <a:pPr algn="ctr" indent="0" marL="0">
              <a:buNone/>
            </a:pPr>
            <a:r>
              <a:rPr lang="en-US" sz="1500" dirty="0">
                <a:solidFill>
                  <a:srgbClr val="5A6285"/>
                </a:solidFill>
                <a:latin typeface="Calibri" pitchFamily="34" charset="0"/>
                <a:ea typeface="Calibri" pitchFamily="34" charset="-122"/>
                <a:cs typeface="Calibri" pitchFamily="34" charset="-120"/>
              </a:rPr>
              <a:t>Truth</a:t>
            </a:r>
            <a:endParaRPr lang="en-US" sz="1500" dirty="0"/>
          </a:p>
        </p:txBody>
      </p:sp>
      <p:sp>
        <p:nvSpPr>
          <p:cNvPr id="13" name="Text 11"/>
          <p:cNvSpPr txBox="1"/>
          <p:nvPr/>
        </p:nvSpPr>
        <p:spPr>
          <a:xfrm>
            <a:off x="5212080" y="1938528"/>
            <a:ext cx="2011680" cy="1005840"/>
          </a:xfrm>
          <a:prstGeom prst="rect">
            <a:avLst/>
          </a:prstGeom>
          <a:noFill/>
          <a:ln/>
        </p:spPr>
        <p:txBody>
          <a:bodyPr wrap="square" lIns="0" tIns="0" rIns="0" bIns="0" rtlCol="0" anchor="ctr"/>
          <a:lstStyle/>
          <a:p>
            <a:pPr algn="ctr" indent="0" marL="0">
              <a:buNone/>
            </a:pPr>
            <a:r>
              <a:rPr lang="en-US" sz="2200" b="1" dirty="0">
                <a:solidFill>
                  <a:srgbClr val="1B1F3B"/>
                </a:solidFill>
                <a:latin typeface="Calibri" pitchFamily="34" charset="0"/>
                <a:ea typeface="Calibri" pitchFamily="34" charset="-122"/>
                <a:cs typeface="Calibri" pitchFamily="34" charset="-120"/>
              </a:rPr>
              <a:t>50 °F</a:t>
            </a:r>
            <a:endParaRPr lang="en-US" sz="2200" dirty="0"/>
          </a:p>
        </p:txBody>
      </p:sp>
      <p:sp>
        <p:nvSpPr>
          <p:cNvPr id="14" name="Shape 12"/>
          <p:cNvSpPr/>
          <p:nvPr/>
        </p:nvSpPr>
        <p:spPr>
          <a:xfrm>
            <a:off x="7260336" y="2258568"/>
            <a:ext cx="246888" cy="914"/>
          </a:xfrm>
          <a:prstGeom prst="line">
            <a:avLst/>
          </a:prstGeom>
          <a:noFill/>
          <a:ln w="25400">
            <a:solidFill>
              <a:srgbClr val="5A6285"/>
            </a:solidFill>
            <a:prstDash val="solid"/>
            <a:tailEnd type="triangle"/>
          </a:ln>
        </p:spPr>
      </p:sp>
      <p:sp>
        <p:nvSpPr>
          <p:cNvPr id="15" name="Shape 13"/>
          <p:cNvSpPr/>
          <p:nvPr/>
        </p:nvSpPr>
        <p:spPr>
          <a:xfrm>
            <a:off x="7543800" y="1463040"/>
            <a:ext cx="2011680" cy="1600200"/>
          </a:xfrm>
          <a:prstGeom prst="roundRect">
            <a:avLst>
              <a:gd name="adj" fmla="val 6857"/>
            </a:avLst>
          </a:prstGeom>
          <a:solidFill>
            <a:srgbClr val="FDF1DF"/>
          </a:solidFill>
          <a:ln w="12700">
            <a:solidFill>
              <a:srgbClr val="FDF1DF"/>
            </a:solidFill>
            <a:prstDash val="solid"/>
          </a:ln>
        </p:spPr>
      </p:sp>
      <p:sp>
        <p:nvSpPr>
          <p:cNvPr id="16" name="Text 14"/>
          <p:cNvSpPr txBox="1"/>
          <p:nvPr/>
        </p:nvSpPr>
        <p:spPr>
          <a:xfrm>
            <a:off x="7543800" y="1572768"/>
            <a:ext cx="2011680" cy="365760"/>
          </a:xfrm>
          <a:prstGeom prst="rect">
            <a:avLst/>
          </a:prstGeom>
          <a:noFill/>
          <a:ln/>
        </p:spPr>
        <p:txBody>
          <a:bodyPr wrap="square" lIns="0" tIns="0" rIns="0" bIns="0" rtlCol="0" anchor="t"/>
          <a:lstStyle/>
          <a:p>
            <a:pPr algn="ctr" indent="0" marL="0">
              <a:buNone/>
            </a:pPr>
            <a:r>
              <a:rPr lang="en-US" sz="1500" dirty="0">
                <a:solidFill>
                  <a:srgbClr val="5A6285"/>
                </a:solidFill>
                <a:latin typeface="Calibri" pitchFamily="34" charset="0"/>
                <a:ea typeface="Calibri" pitchFamily="34" charset="-122"/>
                <a:cs typeface="Calibri" pitchFamily="34" charset="-120"/>
              </a:rPr>
              <a:t>Miss</a:t>
            </a:r>
            <a:endParaRPr lang="en-US" sz="1500" dirty="0"/>
          </a:p>
        </p:txBody>
      </p:sp>
      <p:sp>
        <p:nvSpPr>
          <p:cNvPr id="17" name="Text 15"/>
          <p:cNvSpPr txBox="1"/>
          <p:nvPr/>
        </p:nvSpPr>
        <p:spPr>
          <a:xfrm>
            <a:off x="7543800" y="1938528"/>
            <a:ext cx="2011680" cy="1005840"/>
          </a:xfrm>
          <a:prstGeom prst="rect">
            <a:avLst/>
          </a:prstGeom>
          <a:noFill/>
          <a:ln/>
        </p:spPr>
        <p:txBody>
          <a:bodyPr wrap="square" lIns="0" tIns="0" rIns="0" bIns="0" rtlCol="0" anchor="ctr"/>
          <a:lstStyle/>
          <a:p>
            <a:pPr algn="ctr" indent="0" marL="0">
              <a:buNone/>
            </a:pPr>
            <a:r>
              <a:rPr lang="en-US" sz="2200" b="1" dirty="0">
                <a:solidFill>
                  <a:srgbClr val="C77A12"/>
                </a:solidFill>
                <a:latin typeface="Calibri" pitchFamily="34" charset="0"/>
                <a:ea typeface="Calibri" pitchFamily="34" charset="-122"/>
                <a:cs typeface="Calibri" pitchFamily="34" charset="-120"/>
              </a:rPr>
              <a:t>10 − 50</a:t>
            </a:r>
            <a:endParaRPr lang="en-US" sz="2200" dirty="0"/>
          </a:p>
          <a:p>
            <a:pPr algn="ctr" indent="0" marL="0">
              <a:buNone/>
            </a:pPr>
            <a:r>
              <a:rPr lang="en-US" sz="2200" b="1" dirty="0">
                <a:solidFill>
                  <a:srgbClr val="C77A12"/>
                </a:solidFill>
                <a:latin typeface="Calibri" pitchFamily="34" charset="0"/>
                <a:ea typeface="Calibri" pitchFamily="34" charset="-122"/>
                <a:cs typeface="Calibri" pitchFamily="34" charset="-120"/>
              </a:rPr>
              <a:t>= −40</a:t>
            </a:r>
            <a:endParaRPr lang="en-US" sz="2200" dirty="0"/>
          </a:p>
        </p:txBody>
      </p:sp>
      <p:sp>
        <p:nvSpPr>
          <p:cNvPr id="18" name="Shape 16"/>
          <p:cNvSpPr/>
          <p:nvPr/>
        </p:nvSpPr>
        <p:spPr>
          <a:xfrm>
            <a:off x="548640" y="3429000"/>
            <a:ext cx="6675120" cy="2377440"/>
          </a:xfrm>
          <a:prstGeom prst="roundRect">
            <a:avLst>
              <a:gd name="adj" fmla="val 4615"/>
            </a:avLst>
          </a:prstGeom>
          <a:solidFill>
            <a:srgbClr val="1B1F3B"/>
          </a:solidFill>
          <a:ln w="12700">
            <a:solidFill>
              <a:srgbClr val="1B1F3B"/>
            </a:solidFill>
            <a:prstDash val="solid"/>
          </a:ln>
        </p:spPr>
      </p:sp>
      <p:sp>
        <p:nvSpPr>
          <p:cNvPr id="19" name="Text 17"/>
          <p:cNvSpPr txBox="1"/>
          <p:nvPr/>
        </p:nvSpPr>
        <p:spPr>
          <a:xfrm>
            <a:off x="868680" y="3611880"/>
            <a:ext cx="6035040" cy="457200"/>
          </a:xfrm>
          <a:prstGeom prst="rect">
            <a:avLst/>
          </a:prstGeom>
          <a:noFill/>
          <a:ln/>
        </p:spPr>
        <p:txBody>
          <a:bodyPr wrap="square" lIns="0" tIns="0" rIns="0" bIns="0" rtlCol="0" anchor="t"/>
          <a:lstStyle/>
          <a:p>
            <a:pPr indent="0" marL="0">
              <a:buNone/>
            </a:pPr>
            <a:r>
              <a:rPr lang="en-US" sz="2000" dirty="0">
                <a:solidFill>
                  <a:srgbClr val="C9CDEA"/>
                </a:solidFill>
                <a:latin typeface="Calibri" pitchFamily="34" charset="0"/>
                <a:ea typeface="Calibri" pitchFamily="34" charset="-122"/>
                <a:cs typeface="Calibri" pitchFamily="34" charset="-120"/>
              </a:rPr>
              <a:t>Loss = miss × miss</a:t>
            </a:r>
            <a:endParaRPr lang="en-US" sz="2000" dirty="0"/>
          </a:p>
        </p:txBody>
      </p:sp>
      <p:sp>
        <p:nvSpPr>
          <p:cNvPr id="20" name="Text 18"/>
          <p:cNvSpPr txBox="1"/>
          <p:nvPr/>
        </p:nvSpPr>
        <p:spPr>
          <a:xfrm>
            <a:off x="868680" y="4069080"/>
            <a:ext cx="6035040" cy="1097280"/>
          </a:xfrm>
          <a:prstGeom prst="rect">
            <a:avLst/>
          </a:prstGeom>
          <a:noFill/>
          <a:ln/>
        </p:spPr>
        <p:txBody>
          <a:bodyPr wrap="square" lIns="0" tIns="0" rIns="0" bIns="0" rtlCol="0" anchor="ctr"/>
          <a:lstStyle/>
          <a:p>
            <a:pPr indent="0" marL="0">
              <a:buNone/>
            </a:pPr>
            <a:r>
              <a:rPr lang="en-US" sz="6600" b="1" dirty="0">
                <a:solidFill>
                  <a:srgbClr val="F2A541"/>
                </a:solidFill>
                <a:latin typeface="Cambria" pitchFamily="34" charset="0"/>
                <a:ea typeface="Cambria" pitchFamily="34" charset="-122"/>
                <a:cs typeface="Cambria" pitchFamily="34" charset="-120"/>
              </a:rPr>
              <a:t>= 1,600</a:t>
            </a:r>
            <a:endParaRPr lang="en-US" sz="6600" dirty="0"/>
          </a:p>
        </p:txBody>
      </p:sp>
      <p:sp>
        <p:nvSpPr>
          <p:cNvPr id="21" name="Text 19"/>
          <p:cNvSpPr txBox="1"/>
          <p:nvPr/>
        </p:nvSpPr>
        <p:spPr>
          <a:xfrm>
            <a:off x="868680" y="5212080"/>
            <a:ext cx="6035040" cy="411480"/>
          </a:xfrm>
          <a:prstGeom prst="rect">
            <a:avLst/>
          </a:prstGeom>
          <a:noFill/>
          <a:ln/>
        </p:spPr>
        <p:txBody>
          <a:bodyPr wrap="square" lIns="0" tIns="0" rIns="0" bIns="0" rtlCol="0" anchor="t"/>
          <a:lstStyle/>
          <a:p>
            <a:pPr indent="0" marL="0">
              <a:buNone/>
            </a:pPr>
            <a:r>
              <a:rPr lang="en-US" sz="1700" dirty="0">
                <a:solidFill>
                  <a:srgbClr val="ECEEF8"/>
                </a:solidFill>
                <a:latin typeface="Calibri" pitchFamily="34" charset="0"/>
                <a:ea typeface="Calibri" pitchFamily="34" charset="-122"/>
                <a:cs typeface="Calibri" pitchFamily="34" charset="-120"/>
              </a:rPr>
              <a:t>One number that says how wrong the model is.</a:t>
            </a:r>
            <a:endParaRPr lang="en-US" sz="1700" dirty="0"/>
          </a:p>
        </p:txBody>
      </p:sp>
      <p:sp>
        <p:nvSpPr>
          <p:cNvPr id="22" name="Text 20"/>
          <p:cNvSpPr txBox="1"/>
          <p:nvPr/>
        </p:nvSpPr>
        <p:spPr>
          <a:xfrm>
            <a:off x="7589520" y="3474720"/>
            <a:ext cx="4023360" cy="41148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Why square it?</a:t>
            </a:r>
            <a:endParaRPr lang="en-US" sz="2000" dirty="0"/>
          </a:p>
        </p:txBody>
      </p:sp>
      <p:sp>
        <p:nvSpPr>
          <p:cNvPr id="23" name="Text 21"/>
          <p:cNvSpPr txBox="1"/>
          <p:nvPr/>
        </p:nvSpPr>
        <p:spPr>
          <a:xfrm>
            <a:off x="7589520" y="3931920"/>
            <a:ext cx="4023360" cy="18288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B1F3B"/>
                </a:solidFill>
                <a:latin typeface="Calibri" pitchFamily="34" charset="0"/>
                <a:ea typeface="Calibri" pitchFamily="34" charset="-122"/>
                <a:cs typeface="Calibri" pitchFamily="34" charset="-120"/>
              </a:rPr>
              <a:t>Too high and too low both count as wrong</a:t>
            </a:r>
            <a:endParaRPr lang="en-US" sz="1700" dirty="0"/>
          </a:p>
          <a:p>
            <a:pPr marL="342900" indent="-342900">
              <a:spcAft>
                <a:spcPts val="1000"/>
              </a:spcAft>
              <a:buSzPct val="100000"/>
              <a:buChar char="•"/>
            </a:pPr>
            <a:r>
              <a:rPr lang="en-US" sz="1700" dirty="0">
                <a:solidFill>
                  <a:srgbClr val="1B1F3B"/>
                </a:solidFill>
                <a:latin typeface="Calibri" pitchFamily="34" charset="0"/>
                <a:ea typeface="Calibri" pitchFamily="34" charset="-122"/>
                <a:cs typeface="Calibri" pitchFamily="34" charset="-120"/>
              </a:rPr>
              <a:t>Big misses hurt far more than small ones</a:t>
            </a:r>
            <a:endParaRPr lang="en-US" sz="1700" dirty="0"/>
          </a:p>
          <a:p>
            <a:pPr marL="342900" indent="-342900">
              <a:spcAft>
                <a:spcPts val="1000"/>
              </a:spcAft>
              <a:buSzPct val="100000"/>
              <a:buChar char="•"/>
            </a:pPr>
            <a:r>
              <a:rPr lang="en-US" sz="1700" dirty="0">
                <a:solidFill>
                  <a:srgbClr val="1B1F3B"/>
                </a:solidFill>
                <a:latin typeface="Calibri" pitchFamily="34" charset="0"/>
                <a:ea typeface="Calibri" pitchFamily="34" charset="-122"/>
                <a:cs typeface="Calibri" pitchFamily="34" charset="-120"/>
              </a:rPr>
              <a:t>Many examples? Average them. Still one number.</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A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45000"/>
          </a:blip>
          <a:stretch>
            <a:fillRect/>
          </a:stretch>
        </p:blipFill>
        <p:spPr>
          <a:xfrm>
            <a:off x="7498080" y="1097280"/>
            <a:ext cx="4754880" cy="4754880"/>
          </a:xfrm>
          <a:prstGeom prst="rect">
            <a:avLst/>
          </a:prstGeom>
        </p:spPr>
      </p:pic>
      <p:sp>
        <p:nvSpPr>
          <p:cNvPr id="3" name="Text 0"/>
          <p:cNvSpPr txBox="1"/>
          <p:nvPr/>
        </p:nvSpPr>
        <p:spPr>
          <a:xfrm>
            <a:off x="731520" y="1371600"/>
            <a:ext cx="7772400" cy="30175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Learning =</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turning the knobs so</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the loss goes down.</a:t>
            </a:r>
            <a:endParaRPr lang="en-US" sz="4800" dirty="0"/>
          </a:p>
        </p:txBody>
      </p:sp>
      <p:sp>
        <p:nvSpPr>
          <p:cNvPr id="4" name="Text 1"/>
          <p:cNvSpPr txBox="1"/>
          <p:nvPr/>
        </p:nvSpPr>
        <p:spPr>
          <a:xfrm>
            <a:off x="731520" y="4663440"/>
            <a:ext cx="7498080" cy="914400"/>
          </a:xfrm>
          <a:prstGeom prst="rect">
            <a:avLst/>
          </a:prstGeom>
          <a:noFill/>
          <a:ln/>
        </p:spPr>
        <p:txBody>
          <a:bodyPr wrap="square" lIns="0" tIns="0" rIns="0" bIns="0" rtlCol="0" anchor="t"/>
          <a:lstStyle/>
          <a:p>
            <a:pPr indent="0" marL="0">
              <a:buNone/>
            </a:pPr>
            <a:r>
              <a:rPr lang="en-US" sz="2200" dirty="0">
                <a:solidFill>
                  <a:srgbClr val="C9CDEA"/>
                </a:solidFill>
                <a:latin typeface="Calibri" pitchFamily="34" charset="0"/>
                <a:ea typeface="Calibri" pitchFamily="34" charset="-122"/>
                <a:cs typeface="Calibri" pitchFamily="34" charset="-120"/>
              </a:rPr>
              <a:t>That's it. Everything else in this talk is about doing that efficiently, for billions of knobs.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The wiggle test: which way should each knob turn?</a:t>
            </a:r>
            <a:endParaRPr lang="en-US" sz="3400" dirty="0"/>
          </a:p>
        </p:txBody>
      </p:sp>
      <p:sp>
        <p:nvSpPr>
          <p:cNvPr id="3" name="Text 1"/>
          <p:cNvSpPr txBox="1"/>
          <p:nvPr/>
        </p:nvSpPr>
        <p:spPr>
          <a:xfrm>
            <a:off x="548640" y="1188720"/>
            <a:ext cx="11064240" cy="457200"/>
          </a:xfrm>
          <a:prstGeom prst="rect">
            <a:avLst/>
          </a:prstGeom>
          <a:noFill/>
          <a:ln/>
        </p:spPr>
        <p:txBody>
          <a:bodyPr wrap="square" lIns="0" tIns="0" rIns="0" bIns="0" rtlCol="0" anchor="t"/>
          <a:lstStyle/>
          <a:p>
            <a:pPr indent="0" marL="0">
              <a:buNone/>
            </a:pPr>
            <a:r>
              <a:rPr lang="en-US" sz="1800" dirty="0">
                <a:solidFill>
                  <a:srgbClr val="5A6285"/>
                </a:solidFill>
                <a:latin typeface="Calibri" pitchFamily="34" charset="0"/>
                <a:ea typeface="Calibri" pitchFamily="34" charset="-122"/>
                <a:cs typeface="Calibri" pitchFamily="34" charset="-120"/>
              </a:rPr>
              <a:t>Nudge one knob a tiny bit, re-run the model, and see what the loss does.</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377440"/>
                <a:gridCol w="1737360"/>
                <a:gridCol w="1828800"/>
                <a:gridCol w="1554480"/>
                <a:gridCol w="3566160"/>
              </a:tblGrid>
              <a:tr h="566928">
                <a:tc>
                  <a:txBody>
                    <a:bodyPr/>
                    <a:lstStyle/>
                    <a:p>
                      <a:pPr algn="ctr" indent="0" marL="0">
                        <a:buNone/>
                      </a:pPr>
                      <a:r>
                        <a:rPr lang="en-US" sz="1900" b="1" dirty="0">
                          <a:solidFill>
                            <a:srgbClr val="FFFFFF"/>
                          </a:solidFill>
                          <a:latin typeface="Calibri" pitchFamily="34" charset="0"/>
                          <a:ea typeface="Calibri" pitchFamily="34" charset="-122"/>
                          <a:cs typeface="Calibri" pitchFamily="34" charset="-120"/>
                        </a:rPr>
                        <a:t>Nudge</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1B1F3B"/>
                    </a:solidFill>
                  </a:tcPr>
                </a:tc>
                <a:tc>
                  <a:txBody>
                    <a:bodyPr/>
                    <a:lstStyle/>
                    <a:p>
                      <a:pPr algn="ctr" indent="0" marL="0">
                        <a:buNone/>
                      </a:pPr>
                      <a:r>
                        <a:rPr lang="en-US" sz="1900" b="1" dirty="0">
                          <a:solidFill>
                            <a:srgbClr val="FFFFFF"/>
                          </a:solidFill>
                          <a:latin typeface="Calibri" pitchFamily="34" charset="0"/>
                          <a:ea typeface="Calibri" pitchFamily="34" charset="-122"/>
                          <a:cs typeface="Calibri" pitchFamily="34" charset="-120"/>
                        </a:rPr>
                        <a:t>New guess</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1B1F3B"/>
                    </a:solidFill>
                  </a:tcPr>
                </a:tc>
                <a:tc>
                  <a:txBody>
                    <a:bodyPr/>
                    <a:lstStyle/>
                    <a:p>
                      <a:pPr algn="ctr" indent="0" marL="0">
                        <a:buNone/>
                      </a:pPr>
                      <a:r>
                        <a:rPr lang="en-US" sz="1900" b="1" dirty="0">
                          <a:solidFill>
                            <a:srgbClr val="FFFFFF"/>
                          </a:solidFill>
                          <a:latin typeface="Calibri" pitchFamily="34" charset="0"/>
                          <a:ea typeface="Calibri" pitchFamily="34" charset="-122"/>
                          <a:cs typeface="Calibri" pitchFamily="34" charset="-120"/>
                        </a:rPr>
                        <a:t>New loss</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1B1F3B"/>
                    </a:solidFill>
                  </a:tcPr>
                </a:tc>
                <a:tc>
                  <a:txBody>
                    <a:bodyPr/>
                    <a:lstStyle/>
                    <a:p>
                      <a:pPr algn="ctr" indent="0" marL="0">
                        <a:buNone/>
                      </a:pPr>
                      <a:r>
                        <a:rPr lang="en-US" sz="1900" b="1" dirty="0">
                          <a:solidFill>
                            <a:srgbClr val="FFFFFF"/>
                          </a:solidFill>
                          <a:latin typeface="Calibri" pitchFamily="34" charset="0"/>
                          <a:ea typeface="Calibri" pitchFamily="34" charset="-122"/>
                          <a:cs typeface="Calibri" pitchFamily="34" charset="-120"/>
                        </a:rPr>
                        <a:t>Change</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1B1F3B"/>
                    </a:solidFill>
                  </a:tcPr>
                </a:tc>
                <a:tc>
                  <a:txBody>
                    <a:bodyPr/>
                    <a:lstStyle/>
                    <a:p>
                      <a:pPr algn="ctr" indent="0" marL="0">
                        <a:buNone/>
                      </a:pPr>
                      <a:r>
                        <a:rPr lang="en-US" sz="1900" b="1" dirty="0">
                          <a:solidFill>
                            <a:srgbClr val="FFFFFF"/>
                          </a:solidFill>
                          <a:latin typeface="Calibri" pitchFamily="34" charset="0"/>
                          <a:ea typeface="Calibri" pitchFamily="34" charset="-122"/>
                          <a:cs typeface="Calibri" pitchFamily="34" charset="-120"/>
                        </a:rPr>
                        <a:t>Slope = change ÷ nudge</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1B1F3B"/>
                    </a:solidFill>
                  </a:tcPr>
                </a:tc>
              </a:tr>
              <a:tr h="566928">
                <a:tc>
                  <a:txBody>
                    <a:bodyPr/>
                    <a:lstStyle/>
                    <a:p>
                      <a:pPr algn="ctr" indent="0" marL="0">
                        <a:buNone/>
                      </a:pPr>
                      <a:r>
                        <a:rPr lang="en-US" sz="1900" dirty="0">
                          <a:solidFill>
                            <a:srgbClr val="1B1F3B"/>
                          </a:solidFill>
                          <a:latin typeface="Calibri" pitchFamily="34" charset="0"/>
                          <a:ea typeface="Calibri" pitchFamily="34" charset="-122"/>
                          <a:cs typeface="Calibri" pitchFamily="34" charset="-120"/>
                        </a:rPr>
                        <a:t>w: 1.00 → 1.01</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F3B"/>
                          </a:solidFill>
                          <a:latin typeface="Calibri" pitchFamily="34" charset="0"/>
                          <a:ea typeface="Calibri" pitchFamily="34" charset="-122"/>
                          <a:cs typeface="Calibri" pitchFamily="34" charset="-120"/>
                        </a:rPr>
                        <a:t>10.10</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F3B"/>
                          </a:solidFill>
                          <a:latin typeface="Calibri" pitchFamily="34" charset="0"/>
                          <a:ea typeface="Calibri" pitchFamily="34" charset="-122"/>
                          <a:cs typeface="Calibri" pitchFamily="34" charset="-120"/>
                        </a:rPr>
                        <a:t>1,592.01</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algn="ctr" indent="0" marL="0">
                        <a:buNone/>
                      </a:pPr>
                      <a:r>
                        <a:rPr lang="en-US" sz="1900" dirty="0">
                          <a:solidFill>
                            <a:srgbClr val="1B1F3B"/>
                          </a:solidFill>
                          <a:latin typeface="Calibri" pitchFamily="34" charset="0"/>
                          <a:ea typeface="Calibri" pitchFamily="34" charset="-122"/>
                          <a:cs typeface="Calibri" pitchFamily="34" charset="-120"/>
                        </a:rPr>
                        <a:t>−7.99</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algn="ctr" indent="0" marL="0">
                        <a:buNone/>
                      </a:pPr>
                      <a:r>
                        <a:rPr lang="en-US" sz="1900" b="1" dirty="0">
                          <a:solidFill>
                            <a:srgbClr val="13897A"/>
                          </a:solidFill>
                          <a:latin typeface="Calibri" pitchFamily="34" charset="0"/>
                          <a:ea typeface="Calibri" pitchFamily="34" charset="-122"/>
                          <a:cs typeface="Calibri" pitchFamily="34" charset="-120"/>
                        </a:rPr>
                        <a:t>≈ −800</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r>
              <a:tr h="566928">
                <a:tc>
                  <a:txBody>
                    <a:bodyPr/>
                    <a:lstStyle/>
                    <a:p>
                      <a:pPr algn="ctr" indent="0" marL="0">
                        <a:buNone/>
                      </a:pPr>
                      <a:r>
                        <a:rPr lang="en-US" sz="1900" dirty="0">
                          <a:solidFill>
                            <a:srgbClr val="1B1F3B"/>
                          </a:solidFill>
                          <a:latin typeface="Calibri" pitchFamily="34" charset="0"/>
                          <a:ea typeface="Calibri" pitchFamily="34" charset="-122"/>
                          <a:cs typeface="Calibri" pitchFamily="34" charset="-120"/>
                        </a:rPr>
                        <a:t>b: 0.00 → 0.01</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algn="ctr" indent="0" marL="0">
                        <a:buNone/>
                      </a:pPr>
                      <a:r>
                        <a:rPr lang="en-US" sz="1900" dirty="0">
                          <a:solidFill>
                            <a:srgbClr val="1B1F3B"/>
                          </a:solidFill>
                          <a:latin typeface="Calibri" pitchFamily="34" charset="0"/>
                          <a:ea typeface="Calibri" pitchFamily="34" charset="-122"/>
                          <a:cs typeface="Calibri" pitchFamily="34" charset="-120"/>
                        </a:rPr>
                        <a:t>10.01</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algn="ctr" indent="0" marL="0">
                        <a:buNone/>
                      </a:pPr>
                      <a:r>
                        <a:rPr lang="en-US" sz="1900" dirty="0">
                          <a:solidFill>
                            <a:srgbClr val="1B1F3B"/>
                          </a:solidFill>
                          <a:latin typeface="Calibri" pitchFamily="34" charset="0"/>
                          <a:ea typeface="Calibri" pitchFamily="34" charset="-122"/>
                          <a:cs typeface="Calibri" pitchFamily="34" charset="-120"/>
                        </a:rPr>
                        <a:t>1,599.20</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algn="ctr" indent="0" marL="0">
                        <a:buNone/>
                      </a:pPr>
                      <a:r>
                        <a:rPr lang="en-US" sz="1900" dirty="0">
                          <a:solidFill>
                            <a:srgbClr val="1B1F3B"/>
                          </a:solidFill>
                          <a:latin typeface="Calibri" pitchFamily="34" charset="0"/>
                          <a:ea typeface="Calibri" pitchFamily="34" charset="-122"/>
                          <a:cs typeface="Calibri" pitchFamily="34" charset="-120"/>
                        </a:rPr>
                        <a:t>−0.80</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algn="ctr" indent="0" marL="0">
                        <a:buNone/>
                      </a:pPr>
                      <a:r>
                        <a:rPr lang="en-US" sz="1900" b="1" dirty="0">
                          <a:solidFill>
                            <a:srgbClr val="13897A"/>
                          </a:solidFill>
                          <a:latin typeface="Calibri" pitchFamily="34" charset="0"/>
                          <a:ea typeface="Calibri" pitchFamily="34" charset="-122"/>
                          <a:cs typeface="Calibri" pitchFamily="34" charset="-120"/>
                        </a:rPr>
                        <a:t>≈ −80</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r>
            </a:tbl>
          </a:graphicData>
        </a:graphic>
      </p:graphicFrame>
      <p:sp>
        <p:nvSpPr>
          <p:cNvPr id="5" name="Shape 2"/>
          <p:cNvSpPr/>
          <p:nvPr/>
        </p:nvSpPr>
        <p:spPr>
          <a:xfrm>
            <a:off x="548640" y="3886200"/>
            <a:ext cx="3520440" cy="2011680"/>
          </a:xfrm>
          <a:prstGeom prst="roundRect">
            <a:avLst>
              <a:gd name="adj" fmla="val 5455"/>
            </a:avLst>
          </a:prstGeom>
          <a:solidFill>
            <a:srgbClr val="E3F6F2"/>
          </a:solidFill>
          <a:ln w="12700">
            <a:solidFill>
              <a:srgbClr val="E3F6F2"/>
            </a:solidFill>
            <a:prstDash val="solid"/>
          </a:ln>
        </p:spPr>
      </p:sp>
      <p:sp>
        <p:nvSpPr>
          <p:cNvPr id="6" name="Text 3"/>
          <p:cNvSpPr txBox="1"/>
          <p:nvPr/>
        </p:nvSpPr>
        <p:spPr>
          <a:xfrm>
            <a:off x="822960" y="4069080"/>
            <a:ext cx="3017520" cy="411480"/>
          </a:xfrm>
          <a:prstGeom prst="rect">
            <a:avLst/>
          </a:prstGeom>
          <a:noFill/>
          <a:ln/>
        </p:spPr>
        <p:txBody>
          <a:bodyPr wrap="square" lIns="0" tIns="0" rIns="0" bIns="0" rtlCol="0" anchor="t"/>
          <a:lstStyle/>
          <a:p>
            <a:pPr indent="0" marL="0">
              <a:buNone/>
            </a:pPr>
            <a:r>
              <a:rPr lang="en-US" sz="1900" b="1" dirty="0">
                <a:solidFill>
                  <a:srgbClr val="13897A"/>
                </a:solidFill>
                <a:latin typeface="Calibri" pitchFamily="34" charset="0"/>
                <a:ea typeface="Calibri" pitchFamily="34" charset="-122"/>
                <a:cs typeface="Calibri" pitchFamily="34" charset="-120"/>
              </a:rPr>
              <a:t>Negative slope</a:t>
            </a:r>
            <a:endParaRPr lang="en-US" sz="1900" dirty="0"/>
          </a:p>
        </p:txBody>
      </p:sp>
      <p:sp>
        <p:nvSpPr>
          <p:cNvPr id="7" name="Text 4"/>
          <p:cNvSpPr txBox="1"/>
          <p:nvPr/>
        </p:nvSpPr>
        <p:spPr>
          <a:xfrm>
            <a:off x="822960" y="4526280"/>
            <a:ext cx="3017520" cy="118872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Turning this knob up makes the loss go down. So turn it up.</a:t>
            </a:r>
            <a:endParaRPr lang="en-US" sz="1700" dirty="0"/>
          </a:p>
        </p:txBody>
      </p:sp>
      <p:sp>
        <p:nvSpPr>
          <p:cNvPr id="8" name="Shape 5"/>
          <p:cNvSpPr/>
          <p:nvPr/>
        </p:nvSpPr>
        <p:spPr>
          <a:xfrm>
            <a:off x="4297680" y="3886200"/>
            <a:ext cx="3520440" cy="2011680"/>
          </a:xfrm>
          <a:prstGeom prst="roundRect">
            <a:avLst>
              <a:gd name="adj" fmla="val 5455"/>
            </a:avLst>
          </a:prstGeom>
          <a:solidFill>
            <a:srgbClr val="E3F6F2"/>
          </a:solidFill>
          <a:ln w="12700">
            <a:solidFill>
              <a:srgbClr val="E3F6F2"/>
            </a:solidFill>
            <a:prstDash val="solid"/>
          </a:ln>
        </p:spPr>
      </p:sp>
      <p:sp>
        <p:nvSpPr>
          <p:cNvPr id="9" name="Text 6"/>
          <p:cNvSpPr txBox="1"/>
          <p:nvPr/>
        </p:nvSpPr>
        <p:spPr>
          <a:xfrm>
            <a:off x="4572000" y="4069080"/>
            <a:ext cx="3017520" cy="411480"/>
          </a:xfrm>
          <a:prstGeom prst="rect">
            <a:avLst/>
          </a:prstGeom>
          <a:noFill/>
          <a:ln/>
        </p:spPr>
        <p:txBody>
          <a:bodyPr wrap="square" lIns="0" tIns="0" rIns="0" bIns="0" rtlCol="0" anchor="t"/>
          <a:lstStyle/>
          <a:p>
            <a:pPr indent="0" marL="0">
              <a:buNone/>
            </a:pPr>
            <a:r>
              <a:rPr lang="en-US" sz="1900" b="1" dirty="0">
                <a:solidFill>
                  <a:srgbClr val="13897A"/>
                </a:solidFill>
                <a:latin typeface="Calibri" pitchFamily="34" charset="0"/>
                <a:ea typeface="Calibri" pitchFamily="34" charset="-122"/>
                <a:cs typeface="Calibri" pitchFamily="34" charset="-120"/>
              </a:rPr>
              <a:t>Size of the slope</a:t>
            </a:r>
            <a:endParaRPr lang="en-US" sz="1900" dirty="0"/>
          </a:p>
        </p:txBody>
      </p:sp>
      <p:sp>
        <p:nvSpPr>
          <p:cNvPr id="10" name="Text 7"/>
          <p:cNvSpPr txBox="1"/>
          <p:nvPr/>
        </p:nvSpPr>
        <p:spPr>
          <a:xfrm>
            <a:off x="4572000" y="4526280"/>
            <a:ext cx="3017520" cy="118872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How much this knob matters right now. Big slope, big effect.</a:t>
            </a:r>
            <a:endParaRPr lang="en-US" sz="1700" dirty="0"/>
          </a:p>
        </p:txBody>
      </p:sp>
      <p:sp>
        <p:nvSpPr>
          <p:cNvPr id="11" name="Shape 8"/>
          <p:cNvSpPr/>
          <p:nvPr/>
        </p:nvSpPr>
        <p:spPr>
          <a:xfrm>
            <a:off x="8046720" y="3886200"/>
            <a:ext cx="3520440" cy="2011680"/>
          </a:xfrm>
          <a:prstGeom prst="roundRect">
            <a:avLst>
              <a:gd name="adj" fmla="val 5455"/>
            </a:avLst>
          </a:prstGeom>
          <a:solidFill>
            <a:srgbClr val="E3F6F2"/>
          </a:solidFill>
          <a:ln w="12700">
            <a:solidFill>
              <a:srgbClr val="E3F6F2"/>
            </a:solidFill>
            <a:prstDash val="solid"/>
          </a:ln>
        </p:spPr>
      </p:sp>
      <p:sp>
        <p:nvSpPr>
          <p:cNvPr id="12" name="Text 9"/>
          <p:cNvSpPr txBox="1"/>
          <p:nvPr/>
        </p:nvSpPr>
        <p:spPr>
          <a:xfrm>
            <a:off x="8321040" y="4069080"/>
            <a:ext cx="3017520" cy="411480"/>
          </a:xfrm>
          <a:prstGeom prst="rect">
            <a:avLst/>
          </a:prstGeom>
          <a:noFill/>
          <a:ln/>
        </p:spPr>
        <p:txBody>
          <a:bodyPr wrap="square" lIns="0" tIns="0" rIns="0" bIns="0" rtlCol="0" anchor="t"/>
          <a:lstStyle/>
          <a:p>
            <a:pPr indent="0" marL="0">
              <a:buNone/>
            </a:pPr>
            <a:r>
              <a:rPr lang="en-US" sz="1900" b="1" dirty="0">
                <a:solidFill>
                  <a:srgbClr val="13897A"/>
                </a:solidFill>
                <a:latin typeface="Calibri" pitchFamily="34" charset="0"/>
                <a:ea typeface="Calibri" pitchFamily="34" charset="-122"/>
                <a:cs typeface="Calibri" pitchFamily="34" charset="-120"/>
              </a:rPr>
              <a:t>Why is w 10× bigger?</a:t>
            </a:r>
            <a:endParaRPr lang="en-US" sz="1900" dirty="0"/>
          </a:p>
        </p:txBody>
      </p:sp>
      <p:sp>
        <p:nvSpPr>
          <p:cNvPr id="13" name="Text 10"/>
          <p:cNvSpPr txBox="1"/>
          <p:nvPr/>
        </p:nvSpPr>
        <p:spPr>
          <a:xfrm>
            <a:off x="8321040" y="4526280"/>
            <a:ext cx="3017520" cy="118872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w multiplies the input, 10. A nudge to w gets amplified 10×.</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The gradient is a to-do list for every knob</a:t>
            </a:r>
            <a:endParaRPr lang="en-US" sz="3400" dirty="0"/>
          </a:p>
        </p:txBody>
      </p:sp>
      <p:sp>
        <p:nvSpPr>
          <p:cNvPr id="3" name="Shape 1"/>
          <p:cNvSpPr/>
          <p:nvPr/>
        </p:nvSpPr>
        <p:spPr>
          <a:xfrm>
            <a:off x="548640" y="1325880"/>
            <a:ext cx="11064240" cy="914400"/>
          </a:xfrm>
          <a:prstGeom prst="roundRect">
            <a:avLst>
              <a:gd name="adj" fmla="val 12000"/>
            </a:avLst>
          </a:prstGeom>
          <a:solidFill>
            <a:srgbClr val="1B1F3B"/>
          </a:solidFill>
          <a:ln w="12700">
            <a:solidFill>
              <a:srgbClr val="1B1F3B"/>
            </a:solidFill>
            <a:prstDash val="solid"/>
          </a:ln>
        </p:spPr>
      </p:sp>
      <p:sp>
        <p:nvSpPr>
          <p:cNvPr id="4" name="Text 2"/>
          <p:cNvSpPr txBox="1"/>
          <p:nvPr/>
        </p:nvSpPr>
        <p:spPr>
          <a:xfrm>
            <a:off x="548640" y="1325880"/>
            <a:ext cx="1106424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Courier New" pitchFamily="34" charset="0"/>
                <a:ea typeface="Courier New" pitchFamily="34" charset="-122"/>
                <a:cs typeface="Courier New" pitchFamily="34" charset="-120"/>
              </a:rPr>
              <a:t>new knob  =  old knob  −  step size × slope</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560320"/>
          <a:ext cx="6766560" cy="914400"/>
        </p:xfrm>
        <a:graphic>
          <a:graphicData uri="http://schemas.openxmlformats.org/drawingml/2006/table">
            <a:tbl>
              <a:tblPr/>
              <a:tblGrid>
                <a:gridCol w="822960"/>
                <a:gridCol w="914400"/>
                <a:gridCol w="1005840"/>
                <a:gridCol w="2926080"/>
                <a:gridCol w="1097280"/>
              </a:tblGrid>
              <a:tr h="548640">
                <a:tc>
                  <a:txBody>
                    <a:bodyPr/>
                    <a:lstStyle/>
                    <a:p>
                      <a:pPr algn="ctr" indent="0" marL="0">
                        <a:buNone/>
                      </a:pPr>
                      <a:r>
                        <a:rPr lang="en-US" sz="1700" b="1" dirty="0">
                          <a:solidFill>
                            <a:srgbClr val="1B1F3B"/>
                          </a:solidFill>
                          <a:latin typeface="Calibri" pitchFamily="34" charset="0"/>
                          <a:ea typeface="Calibri" pitchFamily="34" charset="-122"/>
                          <a:cs typeface="Calibri" pitchFamily="34" charset="-120"/>
                        </a:rPr>
                        <a:t>Knob</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algn="ctr" indent="0" marL="0">
                        <a:buNone/>
                      </a:pPr>
                      <a:r>
                        <a:rPr lang="en-US" sz="1700" b="1" dirty="0">
                          <a:solidFill>
                            <a:srgbClr val="1B1F3B"/>
                          </a:solidFill>
                          <a:latin typeface="Calibri" pitchFamily="34" charset="0"/>
                          <a:ea typeface="Calibri" pitchFamily="34" charset="-122"/>
                          <a:cs typeface="Calibri" pitchFamily="34" charset="-120"/>
                        </a:rPr>
                        <a:t>Old</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algn="ctr" indent="0" marL="0">
                        <a:buNone/>
                      </a:pPr>
                      <a:r>
                        <a:rPr lang="en-US" sz="1700" b="1" dirty="0">
                          <a:solidFill>
                            <a:srgbClr val="1B1F3B"/>
                          </a:solidFill>
                          <a:latin typeface="Calibri" pitchFamily="34" charset="0"/>
                          <a:ea typeface="Calibri" pitchFamily="34" charset="-122"/>
                          <a:cs typeface="Calibri" pitchFamily="34" charset="-120"/>
                        </a:rPr>
                        <a:t>Slope</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algn="ctr" indent="0" marL="0">
                        <a:buNone/>
                      </a:pPr>
                      <a:r>
                        <a:rPr lang="en-US" sz="1700" b="1" dirty="0">
                          <a:solidFill>
                            <a:srgbClr val="1B1F3B"/>
                          </a:solidFill>
                          <a:latin typeface="Calibri" pitchFamily="34" charset="0"/>
                          <a:ea typeface="Calibri" pitchFamily="34" charset="-122"/>
                          <a:cs typeface="Calibri" pitchFamily="34" charset="-120"/>
                        </a:rPr>
                        <a:t>Step size × slope</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algn="ctr" indent="0" marL="0">
                        <a:buNone/>
                      </a:pPr>
                      <a:r>
                        <a:rPr lang="en-US" sz="1700" b="1" dirty="0">
                          <a:solidFill>
                            <a:srgbClr val="1B1F3B"/>
                          </a:solidFill>
                          <a:latin typeface="Calibri" pitchFamily="34" charset="0"/>
                          <a:ea typeface="Calibri" pitchFamily="34" charset="-122"/>
                          <a:cs typeface="Calibri" pitchFamily="34" charset="-120"/>
                        </a:rPr>
                        <a:t>New</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r>
              <a:tr h="548640">
                <a:tc>
                  <a:txBody>
                    <a:bodyPr/>
                    <a:lstStyle/>
                    <a:p>
                      <a:pPr algn="ctr" indent="0" marL="0">
                        <a:buNone/>
                      </a:pPr>
                      <a:r>
                        <a:rPr lang="en-US" sz="1700" dirty="0">
                          <a:solidFill>
                            <a:srgbClr val="1B1F3B"/>
                          </a:solidFill>
                          <a:latin typeface="Calibri" pitchFamily="34" charset="0"/>
                          <a:ea typeface="Calibri" pitchFamily="34" charset="-122"/>
                          <a:cs typeface="Calibri" pitchFamily="34" charset="-120"/>
                        </a:rPr>
                        <a:t>w</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c>
                  <a:txBody>
                    <a:bodyPr/>
                    <a:lstStyle/>
                    <a:p>
                      <a:pPr algn="ctr" indent="0" marL="0">
                        <a:buNone/>
                      </a:pPr>
                      <a:r>
                        <a:rPr lang="en-US" sz="1700" dirty="0">
                          <a:solidFill>
                            <a:srgbClr val="1B1F3B"/>
                          </a:solidFill>
                          <a:latin typeface="Calibri" pitchFamily="34" charset="0"/>
                          <a:ea typeface="Calibri" pitchFamily="34" charset="-122"/>
                          <a:cs typeface="Calibri" pitchFamily="34" charset="-120"/>
                        </a:rPr>
                        <a:t>1.00</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c>
                  <a:txBody>
                    <a:bodyPr/>
                    <a:lstStyle/>
                    <a:p>
                      <a:pPr algn="ctr" indent="0" marL="0">
                        <a:buNone/>
                      </a:pPr>
                      <a:r>
                        <a:rPr lang="en-US" sz="1700" dirty="0">
                          <a:solidFill>
                            <a:srgbClr val="1B1F3B"/>
                          </a:solidFill>
                          <a:latin typeface="Calibri" pitchFamily="34" charset="0"/>
                          <a:ea typeface="Calibri" pitchFamily="34" charset="-122"/>
                          <a:cs typeface="Calibri" pitchFamily="34" charset="-120"/>
                        </a:rPr>
                        <a:t>−800</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c>
                  <a:txBody>
                    <a:bodyPr/>
                    <a:lstStyle/>
                    <a:p>
                      <a:pPr algn="ctr" indent="0" marL="0">
                        <a:buNone/>
                      </a:pPr>
                      <a:r>
                        <a:rPr lang="en-US" sz="1700" dirty="0">
                          <a:solidFill>
                            <a:srgbClr val="1B1F3B"/>
                          </a:solidFill>
                          <a:latin typeface="Calibri" pitchFamily="34" charset="0"/>
                          <a:ea typeface="Calibri" pitchFamily="34" charset="-122"/>
                          <a:cs typeface="Calibri" pitchFamily="34" charset="-120"/>
                        </a:rPr>
                        <a:t>0.0005 × −800 = −0.40</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c>
                  <a:txBody>
                    <a:bodyPr/>
                    <a:lstStyle/>
                    <a:p>
                      <a:pPr algn="ctr" indent="0" marL="0">
                        <a:buNone/>
                      </a:pPr>
                      <a:r>
                        <a:rPr lang="en-US" sz="1700" b="1" dirty="0">
                          <a:solidFill>
                            <a:srgbClr val="13897A"/>
                          </a:solidFill>
                          <a:latin typeface="Calibri" pitchFamily="34" charset="0"/>
                          <a:ea typeface="Calibri" pitchFamily="34" charset="-122"/>
                          <a:cs typeface="Calibri" pitchFamily="34" charset="-120"/>
                        </a:rPr>
                        <a:t>1.40</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r>
              <a:tr h="548640">
                <a:tc>
                  <a:txBody>
                    <a:bodyPr/>
                    <a:lstStyle/>
                    <a:p>
                      <a:pPr algn="ctr" indent="0" marL="0">
                        <a:buNone/>
                      </a:pPr>
                      <a:r>
                        <a:rPr lang="en-US" sz="1700" dirty="0">
                          <a:solidFill>
                            <a:srgbClr val="1B1F3B"/>
                          </a:solidFill>
                          <a:latin typeface="Calibri" pitchFamily="34" charset="0"/>
                          <a:ea typeface="Calibri" pitchFamily="34" charset="-122"/>
                          <a:cs typeface="Calibri" pitchFamily="34" charset="-120"/>
                        </a:rPr>
                        <a:t>b</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c>
                  <a:txBody>
                    <a:bodyPr/>
                    <a:lstStyle/>
                    <a:p>
                      <a:pPr algn="ctr" indent="0" marL="0">
                        <a:buNone/>
                      </a:pPr>
                      <a:r>
                        <a:rPr lang="en-US" sz="1700" dirty="0">
                          <a:solidFill>
                            <a:srgbClr val="1B1F3B"/>
                          </a:solidFill>
                          <a:latin typeface="Calibri" pitchFamily="34" charset="0"/>
                          <a:ea typeface="Calibri" pitchFamily="34" charset="-122"/>
                          <a:cs typeface="Calibri" pitchFamily="34" charset="-120"/>
                        </a:rPr>
                        <a:t>0.00</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c>
                  <a:txBody>
                    <a:bodyPr/>
                    <a:lstStyle/>
                    <a:p>
                      <a:pPr algn="ctr" indent="0" marL="0">
                        <a:buNone/>
                      </a:pPr>
                      <a:r>
                        <a:rPr lang="en-US" sz="1700" dirty="0">
                          <a:solidFill>
                            <a:srgbClr val="1B1F3B"/>
                          </a:solidFill>
                          <a:latin typeface="Calibri" pitchFamily="34" charset="0"/>
                          <a:ea typeface="Calibri" pitchFamily="34" charset="-122"/>
                          <a:cs typeface="Calibri" pitchFamily="34" charset="-120"/>
                        </a:rPr>
                        <a:t>−80</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c>
                  <a:txBody>
                    <a:bodyPr/>
                    <a:lstStyle/>
                    <a:p>
                      <a:pPr algn="ctr" indent="0" marL="0">
                        <a:buNone/>
                      </a:pPr>
                      <a:r>
                        <a:rPr lang="en-US" sz="1700" dirty="0">
                          <a:solidFill>
                            <a:srgbClr val="1B1F3B"/>
                          </a:solidFill>
                          <a:latin typeface="Calibri" pitchFamily="34" charset="0"/>
                          <a:ea typeface="Calibri" pitchFamily="34" charset="-122"/>
                          <a:cs typeface="Calibri" pitchFamily="34" charset="-120"/>
                        </a:rPr>
                        <a:t>0.0005 × −80 = −0.04</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c>
                  <a:txBody>
                    <a:bodyPr/>
                    <a:lstStyle/>
                    <a:p>
                      <a:pPr algn="ctr" indent="0" marL="0">
                        <a:buNone/>
                      </a:pPr>
                      <a:r>
                        <a:rPr lang="en-US" sz="1700" b="1" dirty="0">
                          <a:solidFill>
                            <a:srgbClr val="13897A"/>
                          </a:solidFill>
                          <a:latin typeface="Calibri" pitchFamily="34" charset="0"/>
                          <a:ea typeface="Calibri" pitchFamily="34" charset="-122"/>
                          <a:cs typeface="Calibri" pitchFamily="34" charset="-120"/>
                        </a:rPr>
                        <a:t>0.04</a:t>
                      </a:r>
                      <a:endParaRPr lang="en-US" sz="17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r>
            </a:tbl>
          </a:graphicData>
        </a:graphic>
      </p:graphicFrame>
      <p:sp>
        <p:nvSpPr>
          <p:cNvPr id="6" name="Text 3"/>
          <p:cNvSpPr txBox="1"/>
          <p:nvPr/>
        </p:nvSpPr>
        <p:spPr>
          <a:xfrm>
            <a:off x="548640" y="4434840"/>
            <a:ext cx="6766560" cy="731520"/>
          </a:xfrm>
          <a:prstGeom prst="rect">
            <a:avLst/>
          </a:prstGeom>
          <a:noFill/>
          <a:ln/>
        </p:spPr>
        <p:txBody>
          <a:bodyPr wrap="square" lIns="0" tIns="0" rIns="0" bIns="0" rtlCol="0" anchor="t"/>
          <a:lstStyle/>
          <a:p>
            <a:pPr indent="0" marL="0">
              <a:buNone/>
            </a:pPr>
            <a:r>
              <a:rPr lang="en-US" sz="1800" dirty="0">
                <a:solidFill>
                  <a:srgbClr val="1B1F3B"/>
                </a:solidFill>
                <a:latin typeface="Calibri" pitchFamily="34" charset="0"/>
                <a:ea typeface="Calibri" pitchFamily="34" charset="-122"/>
                <a:cs typeface="Calibri" pitchFamily="34" charset="-120"/>
              </a:rPr>
              <a:t>New guess: 1.4 × 10 + 0.04 = 14.04. Still wrong, but less wrong.</a:t>
            </a:r>
            <a:endParaRPr lang="en-US" sz="1800" dirty="0"/>
          </a:p>
        </p:txBody>
      </p:sp>
      <p:sp>
        <p:nvSpPr>
          <p:cNvPr id="7" name="Text 4"/>
          <p:cNvSpPr txBox="1"/>
          <p:nvPr/>
        </p:nvSpPr>
        <p:spPr>
          <a:xfrm>
            <a:off x="548640" y="5166360"/>
            <a:ext cx="6766560" cy="731520"/>
          </a:xfrm>
          <a:prstGeom prst="rect">
            <a:avLst/>
          </a:prstGeom>
          <a:noFill/>
          <a:ln/>
        </p:spPr>
        <p:txBody>
          <a:bodyPr wrap="square" lIns="0" tIns="0" rIns="0" bIns="0" rtlCol="0" anchor="t"/>
          <a:lstStyle/>
          <a:p>
            <a:pPr indent="0" marL="0">
              <a:buNone/>
            </a:pPr>
            <a:r>
              <a:rPr lang="en-US" sz="1700" i="1" dirty="0">
                <a:solidFill>
                  <a:srgbClr val="5A6285"/>
                </a:solidFill>
                <a:latin typeface="Calibri" pitchFamily="34" charset="0"/>
                <a:ea typeface="Calibri" pitchFamily="34" charset="-122"/>
                <a:cs typeface="Calibri" pitchFamily="34" charset="-120"/>
              </a:rPr>
              <a:t>Minus sign: we move against the slope, i.e. downhill.</a:t>
            </a:r>
            <a:endParaRPr lang="en-US" sz="1700" dirty="0"/>
          </a:p>
        </p:txBody>
      </p:sp>
      <p:graphicFrame>
        <p:nvGraphicFramePr>
          <p:cNvPr id="8" name="Chart 0" descr=""/>
          <p:cNvGraphicFramePr/>
          <p:nvPr/>
        </p:nvGraphicFramePr>
        <p:xfrm>
          <a:off x="7680960" y="2468880"/>
          <a:ext cx="3931920" cy="310896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7680960" y="5623560"/>
            <a:ext cx="3931920" cy="548640"/>
          </a:xfrm>
          <a:prstGeom prst="rect">
            <a:avLst/>
          </a:prstGeom>
          <a:noFill/>
          <a:ln/>
        </p:spPr>
        <p:txBody>
          <a:bodyPr wrap="square" lIns="0" tIns="0" rIns="0" bIns="0" rtlCol="0" anchor="t"/>
          <a:lstStyle/>
          <a:p>
            <a:pPr algn="ctr" indent="0" marL="0">
              <a:buNone/>
            </a:pPr>
            <a:r>
              <a:rPr lang="en-US" sz="1600" b="1" dirty="0">
                <a:solidFill>
                  <a:srgbClr val="C77A12"/>
                </a:solidFill>
                <a:latin typeface="Calibri" pitchFamily="34" charset="0"/>
                <a:ea typeface="Calibri" pitchFamily="34" charset="-122"/>
                <a:cs typeface="Calibri" pitchFamily="34" charset="-120"/>
              </a:rPr>
              <a:t>19% less wrong. Now repeat a few thousand times.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Picture it: a ball rolling downhill</a:t>
            </a:r>
            <a:endParaRPr lang="en-US" sz="3400" dirty="0"/>
          </a:p>
        </p:txBody>
      </p:sp>
      <p:sp>
        <p:nvSpPr>
          <p:cNvPr id="3" name="Text 1"/>
          <p:cNvSpPr txBox="1"/>
          <p:nvPr/>
        </p:nvSpPr>
        <p:spPr>
          <a:xfrm>
            <a:off x="548640" y="1188720"/>
            <a:ext cx="11064240" cy="914400"/>
          </a:xfrm>
          <a:prstGeom prst="rect">
            <a:avLst/>
          </a:prstGeom>
          <a:noFill/>
          <a:ln/>
        </p:spPr>
        <p:txBody>
          <a:bodyPr wrap="square" lIns="0" tIns="0" rIns="0" bIns="0" rtlCol="0" anchor="t"/>
          <a:lstStyle/>
          <a:p>
            <a:pPr indent="0" marL="0">
              <a:buNone/>
            </a:pPr>
            <a:r>
              <a:rPr lang="en-US" sz="1800" dirty="0">
                <a:solidFill>
                  <a:srgbClr val="5A6285"/>
                </a:solidFill>
                <a:latin typeface="Calibri" pitchFamily="34" charset="0"/>
                <a:ea typeface="Calibri" pitchFamily="34" charset="-122"/>
                <a:cs typeface="Calibri" pitchFamily="34" charset="-120"/>
              </a:rPr>
              <a:t>Every combination of knob values has a loss, so the knobs define a landscape. Training rolls a ball downhill, one nudge at a time. The step size (the learning rate) decides how big each step is.</a:t>
            </a:r>
            <a:endParaRPr lang="en-US" sz="1800" dirty="0"/>
          </a:p>
        </p:txBody>
      </p:sp>
      <p:sp>
        <p:nvSpPr>
          <p:cNvPr id="4" name="Shape 2"/>
          <p:cNvSpPr/>
          <p:nvPr/>
        </p:nvSpPr>
        <p:spPr>
          <a:xfrm>
            <a:off x="548640" y="2331720"/>
            <a:ext cx="3520440" cy="3931920"/>
          </a:xfrm>
          <a:prstGeom prst="roundRect">
            <a:avLst>
              <a:gd name="adj" fmla="val 3117"/>
            </a:avLst>
          </a:prstGeom>
          <a:solidFill>
            <a:srgbClr val="F3F5FA"/>
          </a:solidFill>
          <a:ln w="12700">
            <a:solidFill>
              <a:srgbClr val="F3F5FA"/>
            </a:solidFill>
            <a:prstDash val="solid"/>
          </a:ln>
        </p:spPr>
      </p:sp>
      <p:pic>
        <p:nvPicPr>
          <p:cNvPr id="5" name="Image 0" descr="preencoded.png">    </p:cNvPr>
          <p:cNvPicPr>
            <a:picLocks noChangeAspect="1"/>
          </p:cNvPicPr>
          <p:nvPr/>
        </p:nvPicPr>
        <p:blipFill>
          <a:blip r:embed="rId1"/>
          <a:stretch>
            <a:fillRect/>
          </a:stretch>
        </p:blipFill>
        <p:spPr>
          <a:xfrm>
            <a:off x="822960" y="2514600"/>
            <a:ext cx="2971800" cy="2121408"/>
          </a:xfrm>
          <a:prstGeom prst="rect">
            <a:avLst/>
          </a:prstGeom>
        </p:spPr>
      </p:pic>
      <p:sp>
        <p:nvSpPr>
          <p:cNvPr id="6" name="Text 3"/>
          <p:cNvSpPr txBox="1"/>
          <p:nvPr/>
        </p:nvSpPr>
        <p:spPr>
          <a:xfrm>
            <a:off x="822960" y="4754880"/>
            <a:ext cx="3017520" cy="41148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Too small</a:t>
            </a:r>
            <a:endParaRPr lang="en-US" sz="2000" dirty="0"/>
          </a:p>
        </p:txBody>
      </p:sp>
      <p:sp>
        <p:nvSpPr>
          <p:cNvPr id="7" name="Text 4"/>
          <p:cNvSpPr txBox="1"/>
          <p:nvPr/>
        </p:nvSpPr>
        <p:spPr>
          <a:xfrm>
            <a:off x="822960" y="5212080"/>
            <a:ext cx="3017520" cy="86868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Heading the right way, but takes forever.</a:t>
            </a:r>
            <a:endParaRPr lang="en-US" sz="1600" dirty="0"/>
          </a:p>
        </p:txBody>
      </p:sp>
      <p:sp>
        <p:nvSpPr>
          <p:cNvPr id="8" name="Shape 5"/>
          <p:cNvSpPr/>
          <p:nvPr/>
        </p:nvSpPr>
        <p:spPr>
          <a:xfrm>
            <a:off x="4297680" y="2331720"/>
            <a:ext cx="3520440" cy="3931920"/>
          </a:xfrm>
          <a:prstGeom prst="roundRect">
            <a:avLst>
              <a:gd name="adj" fmla="val 3117"/>
            </a:avLst>
          </a:prstGeom>
          <a:solidFill>
            <a:srgbClr val="F3F5FA"/>
          </a:solidFill>
          <a:ln w="12700">
            <a:solidFill>
              <a:srgbClr val="F3F5FA"/>
            </a:solidFill>
            <a:prstDash val="solid"/>
          </a:ln>
        </p:spPr>
      </p:sp>
      <p:pic>
        <p:nvPicPr>
          <p:cNvPr id="9" name="Image 1" descr="preencoded.png">    </p:cNvPr>
          <p:cNvPicPr>
            <a:picLocks noChangeAspect="1"/>
          </p:cNvPicPr>
          <p:nvPr/>
        </p:nvPicPr>
        <p:blipFill>
          <a:blip r:embed="rId2"/>
          <a:stretch>
            <a:fillRect/>
          </a:stretch>
        </p:blipFill>
        <p:spPr>
          <a:xfrm>
            <a:off x="4572000" y="2514600"/>
            <a:ext cx="2971800" cy="2121408"/>
          </a:xfrm>
          <a:prstGeom prst="rect">
            <a:avLst/>
          </a:prstGeom>
        </p:spPr>
      </p:pic>
      <p:sp>
        <p:nvSpPr>
          <p:cNvPr id="10" name="Text 6"/>
          <p:cNvSpPr txBox="1"/>
          <p:nvPr/>
        </p:nvSpPr>
        <p:spPr>
          <a:xfrm>
            <a:off x="4572000" y="4754880"/>
            <a:ext cx="3017520" cy="411480"/>
          </a:xfrm>
          <a:prstGeom prst="rect">
            <a:avLst/>
          </a:prstGeom>
          <a:noFill/>
          <a:ln/>
        </p:spPr>
        <p:txBody>
          <a:bodyPr wrap="square" lIns="0" tIns="0" rIns="0" bIns="0" rtlCol="0" anchor="t"/>
          <a:lstStyle/>
          <a:p>
            <a:pPr indent="0" marL="0">
              <a:buNone/>
            </a:pPr>
            <a:r>
              <a:rPr lang="en-US" sz="2000" b="1" dirty="0">
                <a:solidFill>
                  <a:srgbClr val="13897A"/>
                </a:solidFill>
                <a:latin typeface="Calibri" pitchFamily="34" charset="0"/>
                <a:ea typeface="Calibri" pitchFamily="34" charset="-122"/>
                <a:cs typeface="Calibri" pitchFamily="34" charset="-120"/>
              </a:rPr>
              <a:t>Just right</a:t>
            </a:r>
            <a:endParaRPr lang="en-US" sz="2000" dirty="0"/>
          </a:p>
        </p:txBody>
      </p:sp>
      <p:sp>
        <p:nvSpPr>
          <p:cNvPr id="11" name="Text 7"/>
          <p:cNvSpPr txBox="1"/>
          <p:nvPr/>
        </p:nvSpPr>
        <p:spPr>
          <a:xfrm>
            <a:off x="4572000" y="5212080"/>
            <a:ext cx="3017520" cy="86868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Big steps while steep, small steps near the bottom.</a:t>
            </a:r>
            <a:endParaRPr lang="en-US" sz="1600" dirty="0"/>
          </a:p>
        </p:txBody>
      </p:sp>
      <p:sp>
        <p:nvSpPr>
          <p:cNvPr id="12" name="Shape 8"/>
          <p:cNvSpPr/>
          <p:nvPr/>
        </p:nvSpPr>
        <p:spPr>
          <a:xfrm>
            <a:off x="8046720" y="2331720"/>
            <a:ext cx="3520440" cy="3931920"/>
          </a:xfrm>
          <a:prstGeom prst="roundRect">
            <a:avLst>
              <a:gd name="adj" fmla="val 3117"/>
            </a:avLst>
          </a:prstGeom>
          <a:solidFill>
            <a:srgbClr val="F3F5FA"/>
          </a:solidFill>
          <a:ln w="12700">
            <a:solidFill>
              <a:srgbClr val="F3F5FA"/>
            </a:solidFill>
            <a:prstDash val="solid"/>
          </a:ln>
        </p:spPr>
      </p:sp>
      <p:pic>
        <p:nvPicPr>
          <p:cNvPr id="13" name="Image 2" descr="preencoded.png">    </p:cNvPr>
          <p:cNvPicPr>
            <a:picLocks noChangeAspect="1"/>
          </p:cNvPicPr>
          <p:nvPr/>
        </p:nvPicPr>
        <p:blipFill>
          <a:blip r:embed="rId3"/>
          <a:stretch>
            <a:fillRect/>
          </a:stretch>
        </p:blipFill>
        <p:spPr>
          <a:xfrm>
            <a:off x="8321040" y="2514600"/>
            <a:ext cx="2971800" cy="2121408"/>
          </a:xfrm>
          <a:prstGeom prst="rect">
            <a:avLst/>
          </a:prstGeom>
        </p:spPr>
      </p:pic>
      <p:sp>
        <p:nvSpPr>
          <p:cNvPr id="14" name="Text 9"/>
          <p:cNvSpPr txBox="1"/>
          <p:nvPr/>
        </p:nvSpPr>
        <p:spPr>
          <a:xfrm>
            <a:off x="8321040" y="4754880"/>
            <a:ext cx="3017520" cy="411480"/>
          </a:xfrm>
          <a:prstGeom prst="rect">
            <a:avLst/>
          </a:prstGeom>
          <a:noFill/>
          <a:ln/>
        </p:spPr>
        <p:txBody>
          <a:bodyPr wrap="square" lIns="0" tIns="0" rIns="0" bIns="0" rtlCol="0" anchor="t"/>
          <a:lstStyle/>
          <a:p>
            <a:pPr indent="0" marL="0">
              <a:buNone/>
            </a:pPr>
            <a:r>
              <a:rPr lang="en-US" sz="2000" b="1" dirty="0">
                <a:solidFill>
                  <a:srgbClr val="C8433F"/>
                </a:solidFill>
                <a:latin typeface="Calibri" pitchFamily="34" charset="0"/>
                <a:ea typeface="Calibri" pitchFamily="34" charset="-122"/>
                <a:cs typeface="Calibri" pitchFamily="34" charset="-120"/>
              </a:rPr>
              <a:t>Too big</a:t>
            </a:r>
            <a:endParaRPr lang="en-US" sz="2000" dirty="0"/>
          </a:p>
        </p:txBody>
      </p:sp>
      <p:sp>
        <p:nvSpPr>
          <p:cNvPr id="15" name="Text 10"/>
          <p:cNvSpPr txBox="1"/>
          <p:nvPr/>
        </p:nvSpPr>
        <p:spPr>
          <a:xfrm>
            <a:off x="8321040" y="5212080"/>
            <a:ext cx="3017520" cy="86868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Overshoots the valley, lands higher up, and can explode.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A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a:off x="6949440" y="822960"/>
            <a:ext cx="5120640" cy="5120640"/>
          </a:xfrm>
          <a:prstGeom prst="rect">
            <a:avLst/>
          </a:prstGeom>
        </p:spPr>
      </p:pic>
      <p:sp>
        <p:nvSpPr>
          <p:cNvPr id="3" name="Text 0"/>
          <p:cNvSpPr txBox="1"/>
          <p:nvPr/>
        </p:nvSpPr>
        <p:spPr>
          <a:xfrm>
            <a:off x="640080" y="1097280"/>
            <a:ext cx="5943600" cy="457200"/>
          </a:xfrm>
          <a:prstGeom prst="rect">
            <a:avLst/>
          </a:prstGeom>
          <a:noFill/>
          <a:ln/>
        </p:spPr>
        <p:txBody>
          <a:bodyPr wrap="square" lIns="0" tIns="0" rIns="0" bIns="0" rtlCol="0" anchor="t"/>
          <a:lstStyle/>
          <a:p>
            <a:pPr indent="0" marL="0">
              <a:buNone/>
            </a:pPr>
            <a:r>
              <a:rPr lang="en-US" sz="1800" b="1" dirty="0">
                <a:solidFill>
                  <a:srgbClr val="3CC6B0"/>
                </a:solidFill>
                <a:latin typeface="Calibri" pitchFamily="34" charset="0"/>
                <a:ea typeface="Calibri" pitchFamily="34" charset="-122"/>
                <a:cs typeface="Calibri" pitchFamily="34" charset="-120"/>
              </a:rPr>
              <a:t>Live demo 1</a:t>
            </a:r>
            <a:endParaRPr lang="en-US" sz="1800" dirty="0"/>
          </a:p>
        </p:txBody>
      </p:sp>
      <p:sp>
        <p:nvSpPr>
          <p:cNvPr id="4" name="Text 1"/>
          <p:cNvSpPr txBox="1"/>
          <p:nvPr/>
        </p:nvSpPr>
        <p:spPr>
          <a:xfrm>
            <a:off x="640080" y="1600200"/>
            <a:ext cx="6400800" cy="13716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Two knobs find the rule</a:t>
            </a:r>
            <a:endParaRPr lang="en-US" sz="3800" dirty="0"/>
          </a:p>
        </p:txBody>
      </p:sp>
      <p:sp>
        <p:nvSpPr>
          <p:cNvPr id="5" name="Text 2"/>
          <p:cNvSpPr txBox="1"/>
          <p:nvPr/>
        </p:nvSpPr>
        <p:spPr>
          <a:xfrm>
            <a:off x="640080" y="3246120"/>
            <a:ext cx="5486400" cy="365760"/>
          </a:xfrm>
          <a:prstGeom prst="rect">
            <a:avLst/>
          </a:prstGeom>
          <a:noFill/>
          <a:ln/>
        </p:spPr>
        <p:txBody>
          <a:bodyPr wrap="square" lIns="0" tIns="0" rIns="0" bIns="0" rtlCol="0" anchor="t"/>
          <a:lstStyle/>
          <a:p>
            <a:pPr indent="0" marL="0">
              <a:buNone/>
            </a:pPr>
            <a:r>
              <a:rPr lang="en-US" sz="1600" dirty="0">
                <a:solidFill>
                  <a:srgbClr val="9AA2C8"/>
                </a:solidFill>
                <a:latin typeface="Calibri" pitchFamily="34" charset="0"/>
                <a:ea typeface="Calibri" pitchFamily="34" charset="-122"/>
                <a:cs typeface="Calibri" pitchFamily="34" charset="-120"/>
              </a:rPr>
              <a:t>What to watch</a:t>
            </a:r>
            <a:endParaRPr lang="en-US" sz="1600" dirty="0"/>
          </a:p>
        </p:txBody>
      </p:sp>
      <p:sp>
        <p:nvSpPr>
          <p:cNvPr id="6" name="Text 3"/>
          <p:cNvSpPr txBox="1"/>
          <p:nvPr/>
        </p:nvSpPr>
        <p:spPr>
          <a:xfrm>
            <a:off x="640080" y="3611880"/>
            <a:ext cx="6309360" cy="201168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The dashed misses shrink as the line swings into place</a:t>
            </a:r>
            <a:endParaRPr lang="en-US" sz="2000" dirty="0"/>
          </a:p>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The ball rolls down to the valley floor</a:t>
            </a:r>
            <a:endParaRPr lang="en-US" sz="2000" dirty="0"/>
          </a:p>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It lands near w = 1.8, b = 32, without being told</a:t>
            </a:r>
            <a:endParaRPr lang="en-US" sz="2000" dirty="0"/>
          </a:p>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Then: crank the step size and watch it explode</a:t>
            </a:r>
            <a:endParaRPr lang="en-US" sz="2000" dirty="0"/>
          </a:p>
        </p:txBody>
      </p:sp>
      <p:pic>
        <p:nvPicPr>
          <p:cNvPr id="7" name="Image 1" descr="preencoded.png">    </p:cNvPr>
          <p:cNvPicPr>
            <a:picLocks noChangeAspect="1"/>
          </p:cNvPicPr>
          <p:nvPr/>
        </p:nvPicPr>
        <p:blipFill>
          <a:blip r:embed="rId2"/>
          <a:stretch>
            <a:fillRect/>
          </a:stretch>
        </p:blipFill>
        <p:spPr>
          <a:xfrm>
            <a:off x="640080" y="5989320"/>
            <a:ext cx="292608" cy="292608"/>
          </a:xfrm>
          <a:prstGeom prst="rect">
            <a:avLst/>
          </a:prstGeom>
        </p:spPr>
      </p:pic>
      <p:sp>
        <p:nvSpPr>
          <p:cNvPr id="8" name="Text 4"/>
          <p:cNvSpPr txBox="1"/>
          <p:nvPr/>
        </p:nvSpPr>
        <p:spPr>
          <a:xfrm>
            <a:off x="1024128" y="5989320"/>
            <a:ext cx="5486400" cy="292608"/>
          </a:xfrm>
          <a:prstGeom prst="rect">
            <a:avLst/>
          </a:prstGeom>
          <a:noFill/>
          <a:ln/>
        </p:spPr>
        <p:txBody>
          <a:bodyPr wrap="square" lIns="0" tIns="0" rIns="0" bIns="0" rtlCol="0" anchor="ctr"/>
          <a:lstStyle/>
          <a:p>
            <a:pPr indent="0" marL="0">
              <a:buNone/>
            </a:pPr>
            <a:r>
              <a:rPr lang="en-US" sz="1400" dirty="0">
                <a:solidFill>
                  <a:srgbClr val="9AA2C8"/>
                </a:solidFill>
                <a:latin typeface="Calibri" pitchFamily="34" charset="0"/>
                <a:ea typeface="Calibri" pitchFamily="34" charset="-122"/>
                <a:cs typeface="Calibri" pitchFamily="34" charset="-120"/>
              </a:rPr>
              <a:t>Switch to the browser, press 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Wiggling works. It just doesn't scale.</a:t>
            </a:r>
            <a:endParaRPr lang="en-US" sz="3400" dirty="0"/>
          </a:p>
        </p:txBody>
      </p:sp>
      <p:sp>
        <p:nvSpPr>
          <p:cNvPr id="3" name="Shape 1"/>
          <p:cNvSpPr/>
          <p:nvPr/>
        </p:nvSpPr>
        <p:spPr>
          <a:xfrm>
            <a:off x="548640" y="1371600"/>
            <a:ext cx="5394960" cy="4023360"/>
          </a:xfrm>
          <a:prstGeom prst="roundRect">
            <a:avLst>
              <a:gd name="adj" fmla="val 2727"/>
            </a:avLst>
          </a:prstGeom>
          <a:solidFill>
            <a:srgbClr val="F3F5FA"/>
          </a:solidFill>
          <a:ln w="12700">
            <a:solidFill>
              <a:srgbClr val="F3F5FA"/>
            </a:solidFill>
            <a:prstDash val="solid"/>
          </a:ln>
        </p:spPr>
      </p:sp>
      <p:sp>
        <p:nvSpPr>
          <p:cNvPr id="4" name="Text 2"/>
          <p:cNvSpPr txBox="1"/>
          <p:nvPr/>
        </p:nvSpPr>
        <p:spPr>
          <a:xfrm>
            <a:off x="868680" y="1554480"/>
            <a:ext cx="4754880" cy="457200"/>
          </a:xfrm>
          <a:prstGeom prst="rect">
            <a:avLst/>
          </a:prstGeom>
          <a:noFill/>
          <a:ln/>
        </p:spPr>
        <p:txBody>
          <a:bodyPr wrap="square" lIns="0" tIns="0" rIns="0" bIns="0" rtlCol="0" anchor="t"/>
          <a:lstStyle/>
          <a:p>
            <a:pPr indent="0" marL="0">
              <a:buNone/>
            </a:pPr>
            <a:r>
              <a:rPr lang="en-US" sz="2200" b="1" dirty="0">
                <a:solidFill>
                  <a:srgbClr val="1B1F3B"/>
                </a:solidFill>
                <a:latin typeface="Calibri" pitchFamily="34" charset="0"/>
                <a:ea typeface="Calibri" pitchFamily="34" charset="-122"/>
                <a:cs typeface="Calibri" pitchFamily="34" charset="-120"/>
              </a:rPr>
              <a:t>Wiggle test</a:t>
            </a:r>
            <a:endParaRPr lang="en-US" sz="2200" dirty="0"/>
          </a:p>
        </p:txBody>
      </p:sp>
      <p:sp>
        <p:nvSpPr>
          <p:cNvPr id="5" name="Text 3"/>
          <p:cNvSpPr txBox="1"/>
          <p:nvPr/>
        </p:nvSpPr>
        <p:spPr>
          <a:xfrm>
            <a:off x="868680" y="2057400"/>
            <a:ext cx="4754880" cy="640080"/>
          </a:xfrm>
          <a:prstGeom prst="rect">
            <a:avLst/>
          </a:prstGeom>
          <a:noFill/>
          <a:ln/>
        </p:spPr>
        <p:txBody>
          <a:bodyPr wrap="square" lIns="0" tIns="0" rIns="0" bIns="0" rtlCol="0" anchor="t"/>
          <a:lstStyle/>
          <a:p>
            <a:pPr indent="0" marL="0">
              <a:buNone/>
            </a:pPr>
            <a:r>
              <a:rPr lang="en-US" sz="1700" dirty="0">
                <a:solidFill>
                  <a:srgbClr val="5A6285"/>
                </a:solidFill>
                <a:latin typeface="Calibri" pitchFamily="34" charset="0"/>
                <a:ea typeface="Calibri" pitchFamily="34" charset="-122"/>
                <a:cs typeface="Calibri" pitchFamily="34" charset="-120"/>
              </a:rPr>
              <a:t>One extra run of the model per knob, per nudge.</a:t>
            </a:r>
            <a:endParaRPr lang="en-US" sz="1700" dirty="0"/>
          </a:p>
        </p:txBody>
      </p:sp>
      <p:sp>
        <p:nvSpPr>
          <p:cNvPr id="6" name="Text 4"/>
          <p:cNvSpPr txBox="1"/>
          <p:nvPr/>
        </p:nvSpPr>
        <p:spPr>
          <a:xfrm>
            <a:off x="868680" y="2788920"/>
            <a:ext cx="2194560" cy="411480"/>
          </a:xfrm>
          <a:prstGeom prst="rect">
            <a:avLst/>
          </a:prstGeom>
          <a:noFill/>
          <a:ln/>
        </p:spPr>
        <p:txBody>
          <a:bodyPr wrap="square" lIns="0" tIns="0" rIns="0" bIns="0" rtlCol="0" anchor="t"/>
          <a:lstStyle/>
          <a:p>
            <a:pPr indent="0" marL="0">
              <a:buNone/>
            </a:pPr>
            <a:r>
              <a:rPr lang="en-US" sz="1700" b="1" dirty="0">
                <a:solidFill>
                  <a:srgbClr val="1B1F3B"/>
                </a:solidFill>
                <a:latin typeface="Calibri" pitchFamily="34" charset="0"/>
                <a:ea typeface="Calibri" pitchFamily="34" charset="-122"/>
                <a:cs typeface="Calibri" pitchFamily="34" charset="-120"/>
              </a:rPr>
              <a:t>2 knobs</a:t>
            </a:r>
            <a:endParaRPr lang="en-US" sz="1700" dirty="0"/>
          </a:p>
        </p:txBody>
      </p:sp>
      <p:sp>
        <p:nvSpPr>
          <p:cNvPr id="7" name="Text 5"/>
          <p:cNvSpPr txBox="1"/>
          <p:nvPr/>
        </p:nvSpPr>
        <p:spPr>
          <a:xfrm>
            <a:off x="2926080" y="2788920"/>
            <a:ext cx="2834640" cy="41148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3 runs per nudge. Fine.</a:t>
            </a:r>
            <a:endParaRPr lang="en-US" sz="1700" dirty="0"/>
          </a:p>
        </p:txBody>
      </p:sp>
      <p:sp>
        <p:nvSpPr>
          <p:cNvPr id="8" name="Text 6"/>
          <p:cNvSpPr txBox="1"/>
          <p:nvPr/>
        </p:nvSpPr>
        <p:spPr>
          <a:xfrm>
            <a:off x="868680" y="3383280"/>
            <a:ext cx="2194560" cy="411480"/>
          </a:xfrm>
          <a:prstGeom prst="rect">
            <a:avLst/>
          </a:prstGeom>
          <a:noFill/>
          <a:ln/>
        </p:spPr>
        <p:txBody>
          <a:bodyPr wrap="square" lIns="0" tIns="0" rIns="0" bIns="0" rtlCol="0" anchor="t"/>
          <a:lstStyle/>
          <a:p>
            <a:pPr indent="0" marL="0">
              <a:buNone/>
            </a:pPr>
            <a:r>
              <a:rPr lang="en-US" sz="1700" b="1" dirty="0">
                <a:solidFill>
                  <a:srgbClr val="1B1F3B"/>
                </a:solidFill>
                <a:latin typeface="Calibri" pitchFamily="34" charset="0"/>
                <a:ea typeface="Calibri" pitchFamily="34" charset="-122"/>
                <a:cs typeface="Calibri" pitchFamily="34" charset="-120"/>
              </a:rPr>
              <a:t>405B knobs</a:t>
            </a:r>
            <a:endParaRPr lang="en-US" sz="1700" dirty="0"/>
          </a:p>
        </p:txBody>
      </p:sp>
      <p:sp>
        <p:nvSpPr>
          <p:cNvPr id="9" name="Text 7"/>
          <p:cNvSpPr txBox="1"/>
          <p:nvPr/>
        </p:nvSpPr>
        <p:spPr>
          <a:xfrm>
            <a:off x="2926080" y="3383280"/>
            <a:ext cx="2834640" cy="411480"/>
          </a:xfrm>
          <a:prstGeom prst="rect">
            <a:avLst/>
          </a:prstGeom>
          <a:noFill/>
          <a:ln/>
        </p:spPr>
        <p:txBody>
          <a:bodyPr wrap="square" lIns="0" tIns="0" rIns="0" bIns="0" rtlCol="0" anchor="t"/>
          <a:lstStyle/>
          <a:p>
            <a:pPr indent="0" marL="0">
              <a:buNone/>
            </a:pPr>
            <a:r>
              <a:rPr lang="en-US" sz="1700" b="1" dirty="0">
                <a:solidFill>
                  <a:srgbClr val="C8433F"/>
                </a:solidFill>
                <a:latin typeface="Calibri" pitchFamily="34" charset="0"/>
                <a:ea typeface="Calibri" pitchFamily="34" charset="-122"/>
                <a:cs typeface="Calibri" pitchFamily="34" charset="-120"/>
              </a:rPr>
              <a:t>405 billion runs per nudge.</a:t>
            </a:r>
            <a:endParaRPr lang="en-US" sz="1700" dirty="0"/>
          </a:p>
        </p:txBody>
      </p:sp>
      <p:sp>
        <p:nvSpPr>
          <p:cNvPr id="10" name="Text 8"/>
          <p:cNvSpPr txBox="1"/>
          <p:nvPr/>
        </p:nvSpPr>
        <p:spPr>
          <a:xfrm>
            <a:off x="868680" y="4206240"/>
            <a:ext cx="4754880" cy="822960"/>
          </a:xfrm>
          <a:prstGeom prst="rect">
            <a:avLst/>
          </a:prstGeom>
          <a:noFill/>
          <a:ln/>
        </p:spPr>
        <p:txBody>
          <a:bodyPr wrap="square" lIns="0" tIns="0" rIns="0" bIns="0" rtlCol="0" anchor="t"/>
          <a:lstStyle/>
          <a:p>
            <a:pPr indent="0" marL="0">
              <a:buNone/>
            </a:pPr>
            <a:r>
              <a:rPr lang="en-US" sz="1700" i="1" dirty="0">
                <a:solidFill>
                  <a:srgbClr val="5A6285"/>
                </a:solidFill>
                <a:latin typeface="Calibri" pitchFamily="34" charset="0"/>
                <a:ea typeface="Calibri" pitchFamily="34" charset="-122"/>
                <a:cs typeface="Calibri" pitchFamily="34" charset="-120"/>
              </a:rPr>
              <a:t>Training needs millions of nudges. This never finishes.</a:t>
            </a:r>
            <a:endParaRPr lang="en-US" sz="1700" dirty="0"/>
          </a:p>
        </p:txBody>
      </p:sp>
      <p:sp>
        <p:nvSpPr>
          <p:cNvPr id="11" name="Shape 9"/>
          <p:cNvSpPr/>
          <p:nvPr/>
        </p:nvSpPr>
        <p:spPr>
          <a:xfrm>
            <a:off x="6217920" y="1371600"/>
            <a:ext cx="5394960" cy="4023360"/>
          </a:xfrm>
          <a:prstGeom prst="roundRect">
            <a:avLst>
              <a:gd name="adj" fmla="val 2727"/>
            </a:avLst>
          </a:prstGeom>
          <a:solidFill>
            <a:srgbClr val="E3F6F2"/>
          </a:solidFill>
          <a:ln w="12700">
            <a:solidFill>
              <a:srgbClr val="E3F6F2"/>
            </a:solidFill>
            <a:prstDash val="solid"/>
          </a:ln>
        </p:spPr>
      </p:sp>
      <p:sp>
        <p:nvSpPr>
          <p:cNvPr id="12" name="Text 10"/>
          <p:cNvSpPr txBox="1"/>
          <p:nvPr/>
        </p:nvSpPr>
        <p:spPr>
          <a:xfrm>
            <a:off x="6537960" y="1554480"/>
            <a:ext cx="4754880" cy="457200"/>
          </a:xfrm>
          <a:prstGeom prst="rect">
            <a:avLst/>
          </a:prstGeom>
          <a:noFill/>
          <a:ln/>
        </p:spPr>
        <p:txBody>
          <a:bodyPr wrap="square" lIns="0" tIns="0" rIns="0" bIns="0" rtlCol="0" anchor="t"/>
          <a:lstStyle/>
          <a:p>
            <a:pPr indent="0" marL="0">
              <a:buNone/>
            </a:pPr>
            <a:r>
              <a:rPr lang="en-US" sz="2200" b="1" dirty="0">
                <a:solidFill>
                  <a:srgbClr val="13897A"/>
                </a:solidFill>
                <a:latin typeface="Calibri" pitchFamily="34" charset="0"/>
                <a:ea typeface="Calibri" pitchFamily="34" charset="-122"/>
                <a:cs typeface="Calibri" pitchFamily="34" charset="-120"/>
              </a:rPr>
              <a:t>Backpropagation</a:t>
            </a:r>
            <a:endParaRPr lang="en-US" sz="2200" dirty="0"/>
          </a:p>
        </p:txBody>
      </p:sp>
      <p:sp>
        <p:nvSpPr>
          <p:cNvPr id="13" name="Text 11"/>
          <p:cNvSpPr txBox="1"/>
          <p:nvPr/>
        </p:nvSpPr>
        <p:spPr>
          <a:xfrm>
            <a:off x="6537960" y="2057400"/>
            <a:ext cx="4754880" cy="91440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One run forward, one pass backward, and you have the slope for every knob at once.</a:t>
            </a:r>
            <a:endParaRPr lang="en-US" sz="1700" dirty="0"/>
          </a:p>
        </p:txBody>
      </p:sp>
      <p:sp>
        <p:nvSpPr>
          <p:cNvPr id="14" name="Text 12"/>
          <p:cNvSpPr txBox="1"/>
          <p:nvPr/>
        </p:nvSpPr>
        <p:spPr>
          <a:xfrm>
            <a:off x="6537960" y="3017520"/>
            <a:ext cx="4754880" cy="1005840"/>
          </a:xfrm>
          <a:prstGeom prst="rect">
            <a:avLst/>
          </a:prstGeom>
          <a:noFill/>
          <a:ln/>
        </p:spPr>
        <p:txBody>
          <a:bodyPr wrap="square" lIns="0" tIns="0" rIns="0" bIns="0" rtlCol="0" anchor="t"/>
          <a:lstStyle/>
          <a:p>
            <a:pPr indent="0" marL="0">
              <a:buNone/>
            </a:pPr>
            <a:r>
              <a:rPr lang="en-US" sz="6000" b="1" dirty="0">
                <a:solidFill>
                  <a:srgbClr val="13897A"/>
                </a:solidFill>
                <a:latin typeface="Cambria" pitchFamily="34" charset="0"/>
                <a:ea typeface="Cambria" pitchFamily="34" charset="-122"/>
                <a:cs typeface="Cambria" pitchFamily="34" charset="-120"/>
              </a:rPr>
              <a:t>≈ 3×</a:t>
            </a:r>
            <a:endParaRPr lang="en-US" sz="6000" dirty="0"/>
          </a:p>
        </p:txBody>
      </p:sp>
      <p:sp>
        <p:nvSpPr>
          <p:cNvPr id="15" name="Text 13"/>
          <p:cNvSpPr txBox="1"/>
          <p:nvPr/>
        </p:nvSpPr>
        <p:spPr>
          <a:xfrm>
            <a:off x="6537960" y="4069080"/>
            <a:ext cx="4754880" cy="82296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the cost of one forward run, whether you have 2 knobs or 405 billion.</a:t>
            </a:r>
            <a:endParaRPr lang="en-US" sz="1700" dirty="0"/>
          </a:p>
        </p:txBody>
      </p:sp>
      <p:sp>
        <p:nvSpPr>
          <p:cNvPr id="16" name="Text 14"/>
          <p:cNvSpPr txBox="1"/>
          <p:nvPr/>
        </p:nvSpPr>
        <p:spPr>
          <a:xfrm>
            <a:off x="548640" y="5669280"/>
            <a:ext cx="11064240" cy="457200"/>
          </a:xfrm>
          <a:prstGeom prst="rect">
            <a:avLst/>
          </a:prstGeom>
          <a:noFill/>
          <a:ln/>
        </p:spPr>
        <p:txBody>
          <a:bodyPr wrap="square" lIns="0" tIns="0" rIns="0" bIns="0" rtlCol="0" anchor="t"/>
          <a:lstStyle/>
          <a:p>
            <a:pPr algn="ctr" indent="0" marL="0">
              <a:buNone/>
            </a:pPr>
            <a:r>
              <a:rPr lang="en-US" sz="1800" b="1" dirty="0">
                <a:solidFill>
                  <a:srgbClr val="1B1F3B"/>
                </a:solidFill>
                <a:latin typeface="Calibri" pitchFamily="34" charset="0"/>
                <a:ea typeface="Calibri" pitchFamily="34" charset="-122"/>
                <a:cs typeface="Calibri" pitchFamily="34" charset="-120"/>
              </a:rPr>
              <a:t>Same answers as the wiggle test. Exact, not approximate, and billions of times cheaper.</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Backprop is the chain rule, and the chain rule is gears</a:t>
            </a:r>
            <a:endParaRPr lang="en-US" sz="3400" dirty="0"/>
          </a:p>
        </p:txBody>
      </p:sp>
      <p:sp>
        <p:nvSpPr>
          <p:cNvPr id="3" name="Text 1"/>
          <p:cNvSpPr txBox="1"/>
          <p:nvPr/>
        </p:nvSpPr>
        <p:spPr>
          <a:xfrm>
            <a:off x="548640" y="1188720"/>
            <a:ext cx="11064240" cy="731520"/>
          </a:xfrm>
          <a:prstGeom prst="rect">
            <a:avLst/>
          </a:prstGeom>
          <a:noFill/>
          <a:ln/>
        </p:spPr>
        <p:txBody>
          <a:bodyPr wrap="square" lIns="0" tIns="0" rIns="0" bIns="0" rtlCol="0" anchor="t"/>
          <a:lstStyle/>
          <a:p>
            <a:pPr indent="0" marL="0">
              <a:buNone/>
            </a:pPr>
            <a:r>
              <a:rPr lang="en-US" sz="1800" dirty="0">
                <a:solidFill>
                  <a:srgbClr val="5A6285"/>
                </a:solidFill>
                <a:latin typeface="Calibri" pitchFamily="34" charset="0"/>
                <a:ea typeface="Calibri" pitchFamily="34" charset="-122"/>
                <a:cs typeface="Calibri" pitchFamily="34" charset="-120"/>
              </a:rPr>
              <a:t>If gear A turns gear B 3× as fast, and B turns C 2× as fast, then A turns C 6× as fast. Rates multiply along a chain.</a:t>
            </a:r>
            <a:endParaRPr lang="en-US" sz="1800" dirty="0"/>
          </a:p>
        </p:txBody>
      </p:sp>
      <p:sp>
        <p:nvSpPr>
          <p:cNvPr id="4" name="Shape 2"/>
          <p:cNvSpPr/>
          <p:nvPr/>
        </p:nvSpPr>
        <p:spPr>
          <a:xfrm>
            <a:off x="548640" y="2240280"/>
            <a:ext cx="1920240" cy="914400"/>
          </a:xfrm>
          <a:prstGeom prst="roundRect">
            <a:avLst>
              <a:gd name="adj" fmla="val 12000"/>
            </a:avLst>
          </a:prstGeom>
          <a:solidFill>
            <a:srgbClr val="E3F6F2"/>
          </a:solidFill>
          <a:ln w="12700">
            <a:solidFill>
              <a:srgbClr val="E3F6F2"/>
            </a:solidFill>
            <a:prstDash val="solid"/>
          </a:ln>
        </p:spPr>
      </p:sp>
      <p:sp>
        <p:nvSpPr>
          <p:cNvPr id="5" name="Text 3"/>
          <p:cNvSpPr txBox="1"/>
          <p:nvPr/>
        </p:nvSpPr>
        <p:spPr>
          <a:xfrm>
            <a:off x="548640" y="2240280"/>
            <a:ext cx="1920240" cy="914400"/>
          </a:xfrm>
          <a:prstGeom prst="rect">
            <a:avLst/>
          </a:prstGeom>
          <a:noFill/>
          <a:ln/>
        </p:spPr>
        <p:txBody>
          <a:bodyPr wrap="square" lIns="0" tIns="0" rIns="0" bIns="0" rtlCol="0" anchor="ctr"/>
          <a:lstStyle/>
          <a:p>
            <a:pPr algn="ctr" indent="0" marL="0">
              <a:buNone/>
            </a:pPr>
            <a:r>
              <a:rPr lang="en-US" sz="2400" b="1" dirty="0">
                <a:solidFill>
                  <a:srgbClr val="13897A"/>
                </a:solidFill>
                <a:latin typeface="Calibri" pitchFamily="34" charset="0"/>
                <a:ea typeface="Calibri" pitchFamily="34" charset="-122"/>
                <a:cs typeface="Calibri" pitchFamily="34" charset="-120"/>
              </a:rPr>
              <a:t>w</a:t>
            </a:r>
            <a:endParaRPr lang="en-US" sz="2400" dirty="0"/>
          </a:p>
        </p:txBody>
      </p:sp>
      <p:sp>
        <p:nvSpPr>
          <p:cNvPr id="6" name="Shape 4"/>
          <p:cNvSpPr/>
          <p:nvPr/>
        </p:nvSpPr>
        <p:spPr>
          <a:xfrm>
            <a:off x="3611880" y="2240280"/>
            <a:ext cx="1920240" cy="914400"/>
          </a:xfrm>
          <a:prstGeom prst="roundRect">
            <a:avLst>
              <a:gd name="adj" fmla="val 12000"/>
            </a:avLst>
          </a:prstGeom>
          <a:solidFill>
            <a:srgbClr val="F3F5FA"/>
          </a:solidFill>
          <a:ln w="12700">
            <a:solidFill>
              <a:srgbClr val="F3F5FA"/>
            </a:solidFill>
            <a:prstDash val="solid"/>
          </a:ln>
        </p:spPr>
      </p:sp>
      <p:sp>
        <p:nvSpPr>
          <p:cNvPr id="7" name="Text 5"/>
          <p:cNvSpPr txBox="1"/>
          <p:nvPr/>
        </p:nvSpPr>
        <p:spPr>
          <a:xfrm>
            <a:off x="3611880" y="2240280"/>
            <a:ext cx="1920240" cy="914400"/>
          </a:xfrm>
          <a:prstGeom prst="rect">
            <a:avLst/>
          </a:prstGeom>
          <a:noFill/>
          <a:ln/>
        </p:spPr>
        <p:txBody>
          <a:bodyPr wrap="square" lIns="0" tIns="0" rIns="0" bIns="0" rtlCol="0" anchor="ctr"/>
          <a:lstStyle/>
          <a:p>
            <a:pPr algn="ctr" indent="0" marL="0">
              <a:buNone/>
            </a:pPr>
            <a:r>
              <a:rPr lang="en-US" sz="2400" b="1" dirty="0">
                <a:solidFill>
                  <a:srgbClr val="1B1F3B"/>
                </a:solidFill>
                <a:latin typeface="Calibri" pitchFamily="34" charset="0"/>
                <a:ea typeface="Calibri" pitchFamily="34" charset="-122"/>
                <a:cs typeface="Calibri" pitchFamily="34" charset="-120"/>
              </a:rPr>
              <a:t>guess</a:t>
            </a:r>
            <a:endParaRPr lang="en-US" sz="2400" dirty="0"/>
          </a:p>
        </p:txBody>
      </p:sp>
      <p:sp>
        <p:nvSpPr>
          <p:cNvPr id="8" name="Shape 6"/>
          <p:cNvSpPr/>
          <p:nvPr/>
        </p:nvSpPr>
        <p:spPr>
          <a:xfrm>
            <a:off x="6675120" y="2240280"/>
            <a:ext cx="1920240" cy="914400"/>
          </a:xfrm>
          <a:prstGeom prst="roundRect">
            <a:avLst>
              <a:gd name="adj" fmla="val 12000"/>
            </a:avLst>
          </a:prstGeom>
          <a:solidFill>
            <a:srgbClr val="F3F5FA"/>
          </a:solidFill>
          <a:ln w="12700">
            <a:solidFill>
              <a:srgbClr val="F3F5FA"/>
            </a:solidFill>
            <a:prstDash val="solid"/>
          </a:ln>
        </p:spPr>
      </p:sp>
      <p:sp>
        <p:nvSpPr>
          <p:cNvPr id="9" name="Text 7"/>
          <p:cNvSpPr txBox="1"/>
          <p:nvPr/>
        </p:nvSpPr>
        <p:spPr>
          <a:xfrm>
            <a:off x="6675120" y="2240280"/>
            <a:ext cx="1920240" cy="914400"/>
          </a:xfrm>
          <a:prstGeom prst="rect">
            <a:avLst/>
          </a:prstGeom>
          <a:noFill/>
          <a:ln/>
        </p:spPr>
        <p:txBody>
          <a:bodyPr wrap="square" lIns="0" tIns="0" rIns="0" bIns="0" rtlCol="0" anchor="ctr"/>
          <a:lstStyle/>
          <a:p>
            <a:pPr algn="ctr" indent="0" marL="0">
              <a:buNone/>
            </a:pPr>
            <a:r>
              <a:rPr lang="en-US" sz="2400" b="1" dirty="0">
                <a:solidFill>
                  <a:srgbClr val="1B1F3B"/>
                </a:solidFill>
                <a:latin typeface="Calibri" pitchFamily="34" charset="0"/>
                <a:ea typeface="Calibri" pitchFamily="34" charset="-122"/>
                <a:cs typeface="Calibri" pitchFamily="34" charset="-120"/>
              </a:rPr>
              <a:t>miss</a:t>
            </a:r>
            <a:endParaRPr lang="en-US" sz="2400" dirty="0"/>
          </a:p>
        </p:txBody>
      </p:sp>
      <p:sp>
        <p:nvSpPr>
          <p:cNvPr id="10" name="Shape 8"/>
          <p:cNvSpPr/>
          <p:nvPr/>
        </p:nvSpPr>
        <p:spPr>
          <a:xfrm>
            <a:off x="9738360" y="2240280"/>
            <a:ext cx="1920240" cy="914400"/>
          </a:xfrm>
          <a:prstGeom prst="roundRect">
            <a:avLst>
              <a:gd name="adj" fmla="val 12000"/>
            </a:avLst>
          </a:prstGeom>
          <a:solidFill>
            <a:srgbClr val="FDF1DF"/>
          </a:solidFill>
          <a:ln w="12700">
            <a:solidFill>
              <a:srgbClr val="FDF1DF"/>
            </a:solidFill>
            <a:prstDash val="solid"/>
          </a:ln>
        </p:spPr>
      </p:sp>
      <p:sp>
        <p:nvSpPr>
          <p:cNvPr id="11" name="Text 9"/>
          <p:cNvSpPr txBox="1"/>
          <p:nvPr/>
        </p:nvSpPr>
        <p:spPr>
          <a:xfrm>
            <a:off x="9738360" y="2240280"/>
            <a:ext cx="1920240" cy="914400"/>
          </a:xfrm>
          <a:prstGeom prst="rect">
            <a:avLst/>
          </a:prstGeom>
          <a:noFill/>
          <a:ln/>
        </p:spPr>
        <p:txBody>
          <a:bodyPr wrap="square" lIns="0" tIns="0" rIns="0" bIns="0" rtlCol="0" anchor="ctr"/>
          <a:lstStyle/>
          <a:p>
            <a:pPr algn="ctr" indent="0" marL="0">
              <a:buNone/>
            </a:pPr>
            <a:r>
              <a:rPr lang="en-US" sz="2400" b="1" dirty="0">
                <a:solidFill>
                  <a:srgbClr val="C77A12"/>
                </a:solidFill>
                <a:latin typeface="Calibri" pitchFamily="34" charset="0"/>
                <a:ea typeface="Calibri" pitchFamily="34" charset="-122"/>
                <a:cs typeface="Calibri" pitchFamily="34" charset="-120"/>
              </a:rPr>
              <a:t>loss</a:t>
            </a:r>
            <a:endParaRPr lang="en-US" sz="2400" dirty="0"/>
          </a:p>
        </p:txBody>
      </p:sp>
      <p:sp>
        <p:nvSpPr>
          <p:cNvPr id="12" name="Shape 10"/>
          <p:cNvSpPr/>
          <p:nvPr/>
        </p:nvSpPr>
        <p:spPr>
          <a:xfrm>
            <a:off x="2514600" y="2697480"/>
            <a:ext cx="1005840" cy="914"/>
          </a:xfrm>
          <a:prstGeom prst="line">
            <a:avLst/>
          </a:prstGeom>
          <a:noFill/>
          <a:ln w="31750">
            <a:solidFill>
              <a:srgbClr val="5A6285"/>
            </a:solidFill>
            <a:prstDash val="solid"/>
            <a:tailEnd type="triangle"/>
          </a:ln>
        </p:spPr>
      </p:sp>
      <p:sp>
        <p:nvSpPr>
          <p:cNvPr id="13" name="Text 11"/>
          <p:cNvSpPr txBox="1"/>
          <p:nvPr/>
        </p:nvSpPr>
        <p:spPr>
          <a:xfrm>
            <a:off x="2423160" y="2103120"/>
            <a:ext cx="1188720" cy="457200"/>
          </a:xfrm>
          <a:prstGeom prst="rect">
            <a:avLst/>
          </a:prstGeom>
          <a:noFill/>
          <a:ln/>
        </p:spPr>
        <p:txBody>
          <a:bodyPr wrap="square" lIns="0" tIns="0" rIns="0" bIns="0" rtlCol="0" anchor="t"/>
          <a:lstStyle/>
          <a:p>
            <a:pPr algn="ctr" indent="0" marL="0">
              <a:buNone/>
            </a:pPr>
            <a:r>
              <a:rPr lang="en-US" sz="2000" b="1" dirty="0">
                <a:solidFill>
                  <a:srgbClr val="1B1F3B"/>
                </a:solidFill>
                <a:latin typeface="Calibri" pitchFamily="34" charset="0"/>
                <a:ea typeface="Calibri" pitchFamily="34" charset="-122"/>
                <a:cs typeface="Calibri" pitchFamily="34" charset="-120"/>
              </a:rPr>
              <a:t>× 10</a:t>
            </a:r>
            <a:endParaRPr lang="en-US" sz="2000" dirty="0"/>
          </a:p>
        </p:txBody>
      </p:sp>
      <p:sp>
        <p:nvSpPr>
          <p:cNvPr id="14" name="Text 12"/>
          <p:cNvSpPr txBox="1"/>
          <p:nvPr/>
        </p:nvSpPr>
        <p:spPr>
          <a:xfrm>
            <a:off x="2011680" y="3246120"/>
            <a:ext cx="2011680" cy="822960"/>
          </a:xfrm>
          <a:prstGeom prst="rect">
            <a:avLst/>
          </a:prstGeom>
          <a:noFill/>
          <a:ln/>
        </p:spPr>
        <p:txBody>
          <a:bodyPr wrap="square" lIns="0" tIns="0" rIns="0" bIns="0" rtlCol="0" anchor="t"/>
          <a:lstStyle/>
          <a:p>
            <a:pPr algn="ctr" indent="0" marL="0">
              <a:buNone/>
            </a:pPr>
            <a:r>
              <a:rPr lang="en-US" sz="1400" dirty="0">
                <a:solidFill>
                  <a:srgbClr val="5A6285"/>
                </a:solidFill>
                <a:latin typeface="Calibri" pitchFamily="34" charset="0"/>
                <a:ea typeface="Calibri" pitchFamily="34" charset="-122"/>
                <a:cs typeface="Calibri" pitchFamily="34" charset="-120"/>
              </a:rPr>
              <a:t>guess = w × 10</a:t>
            </a:r>
            <a:endParaRPr lang="en-US" sz="1400" dirty="0"/>
          </a:p>
        </p:txBody>
      </p:sp>
      <p:sp>
        <p:nvSpPr>
          <p:cNvPr id="15" name="Shape 13"/>
          <p:cNvSpPr/>
          <p:nvPr/>
        </p:nvSpPr>
        <p:spPr>
          <a:xfrm>
            <a:off x="5577840" y="2697480"/>
            <a:ext cx="1005840" cy="914"/>
          </a:xfrm>
          <a:prstGeom prst="line">
            <a:avLst/>
          </a:prstGeom>
          <a:noFill/>
          <a:ln w="31750">
            <a:solidFill>
              <a:srgbClr val="5A6285"/>
            </a:solidFill>
            <a:prstDash val="solid"/>
            <a:tailEnd type="triangle"/>
          </a:ln>
        </p:spPr>
      </p:sp>
      <p:sp>
        <p:nvSpPr>
          <p:cNvPr id="16" name="Text 14"/>
          <p:cNvSpPr txBox="1"/>
          <p:nvPr/>
        </p:nvSpPr>
        <p:spPr>
          <a:xfrm>
            <a:off x="5486400" y="2103120"/>
            <a:ext cx="1188720" cy="457200"/>
          </a:xfrm>
          <a:prstGeom prst="rect">
            <a:avLst/>
          </a:prstGeom>
          <a:noFill/>
          <a:ln/>
        </p:spPr>
        <p:txBody>
          <a:bodyPr wrap="square" lIns="0" tIns="0" rIns="0" bIns="0" rtlCol="0" anchor="t"/>
          <a:lstStyle/>
          <a:p>
            <a:pPr algn="ctr" indent="0" marL="0">
              <a:buNone/>
            </a:pPr>
            <a:r>
              <a:rPr lang="en-US" sz="2000" b="1" dirty="0">
                <a:solidFill>
                  <a:srgbClr val="1B1F3B"/>
                </a:solidFill>
                <a:latin typeface="Calibri" pitchFamily="34" charset="0"/>
                <a:ea typeface="Calibri" pitchFamily="34" charset="-122"/>
                <a:cs typeface="Calibri" pitchFamily="34" charset="-120"/>
              </a:rPr>
              <a:t>× 1</a:t>
            </a:r>
            <a:endParaRPr lang="en-US" sz="2000" dirty="0"/>
          </a:p>
        </p:txBody>
      </p:sp>
      <p:sp>
        <p:nvSpPr>
          <p:cNvPr id="17" name="Text 15"/>
          <p:cNvSpPr txBox="1"/>
          <p:nvPr/>
        </p:nvSpPr>
        <p:spPr>
          <a:xfrm>
            <a:off x="5074920" y="3246120"/>
            <a:ext cx="2011680" cy="822960"/>
          </a:xfrm>
          <a:prstGeom prst="rect">
            <a:avLst/>
          </a:prstGeom>
          <a:noFill/>
          <a:ln/>
        </p:spPr>
        <p:txBody>
          <a:bodyPr wrap="square" lIns="0" tIns="0" rIns="0" bIns="0" rtlCol="0" anchor="t"/>
          <a:lstStyle/>
          <a:p>
            <a:pPr algn="ctr" indent="0" marL="0">
              <a:buNone/>
            </a:pPr>
            <a:r>
              <a:rPr lang="en-US" sz="1400" dirty="0">
                <a:solidFill>
                  <a:srgbClr val="5A6285"/>
                </a:solidFill>
                <a:latin typeface="Calibri" pitchFamily="34" charset="0"/>
                <a:ea typeface="Calibri" pitchFamily="34" charset="-122"/>
                <a:cs typeface="Calibri" pitchFamily="34" charset="-120"/>
              </a:rPr>
              <a:t>miss = guess − 50</a:t>
            </a:r>
            <a:endParaRPr lang="en-US" sz="1400" dirty="0"/>
          </a:p>
        </p:txBody>
      </p:sp>
      <p:sp>
        <p:nvSpPr>
          <p:cNvPr id="18" name="Shape 16"/>
          <p:cNvSpPr/>
          <p:nvPr/>
        </p:nvSpPr>
        <p:spPr>
          <a:xfrm>
            <a:off x="8641080" y="2697480"/>
            <a:ext cx="1005840" cy="914"/>
          </a:xfrm>
          <a:prstGeom prst="line">
            <a:avLst/>
          </a:prstGeom>
          <a:noFill/>
          <a:ln w="31750">
            <a:solidFill>
              <a:srgbClr val="5A6285"/>
            </a:solidFill>
            <a:prstDash val="solid"/>
            <a:tailEnd type="triangle"/>
          </a:ln>
        </p:spPr>
      </p:sp>
      <p:sp>
        <p:nvSpPr>
          <p:cNvPr id="19" name="Text 17"/>
          <p:cNvSpPr txBox="1"/>
          <p:nvPr/>
        </p:nvSpPr>
        <p:spPr>
          <a:xfrm>
            <a:off x="8549640" y="2103120"/>
            <a:ext cx="1188720" cy="457200"/>
          </a:xfrm>
          <a:prstGeom prst="rect">
            <a:avLst/>
          </a:prstGeom>
          <a:noFill/>
          <a:ln/>
        </p:spPr>
        <p:txBody>
          <a:bodyPr wrap="square" lIns="0" tIns="0" rIns="0" bIns="0" rtlCol="0" anchor="t"/>
          <a:lstStyle/>
          <a:p>
            <a:pPr algn="ctr" indent="0" marL="0">
              <a:buNone/>
            </a:pPr>
            <a:r>
              <a:rPr lang="en-US" sz="2000" b="1" dirty="0">
                <a:solidFill>
                  <a:srgbClr val="1B1F3B"/>
                </a:solidFill>
                <a:latin typeface="Calibri" pitchFamily="34" charset="0"/>
                <a:ea typeface="Calibri" pitchFamily="34" charset="-122"/>
                <a:cs typeface="Calibri" pitchFamily="34" charset="-120"/>
              </a:rPr>
              <a:t>× −80</a:t>
            </a:r>
            <a:endParaRPr lang="en-US" sz="2000" dirty="0"/>
          </a:p>
        </p:txBody>
      </p:sp>
      <p:sp>
        <p:nvSpPr>
          <p:cNvPr id="20" name="Text 18"/>
          <p:cNvSpPr txBox="1"/>
          <p:nvPr/>
        </p:nvSpPr>
        <p:spPr>
          <a:xfrm>
            <a:off x="8138160" y="3246120"/>
            <a:ext cx="2011680" cy="822960"/>
          </a:xfrm>
          <a:prstGeom prst="rect">
            <a:avLst/>
          </a:prstGeom>
          <a:noFill/>
          <a:ln/>
        </p:spPr>
        <p:txBody>
          <a:bodyPr wrap="square" lIns="0" tIns="0" rIns="0" bIns="0" rtlCol="0" anchor="t"/>
          <a:lstStyle/>
          <a:p>
            <a:pPr algn="ctr" indent="0" marL="0">
              <a:buNone/>
            </a:pPr>
            <a:r>
              <a:rPr lang="en-US" sz="1400" dirty="0">
                <a:solidFill>
                  <a:srgbClr val="5A6285"/>
                </a:solidFill>
                <a:latin typeface="Calibri" pitchFamily="34" charset="0"/>
                <a:ea typeface="Calibri" pitchFamily="34" charset="-122"/>
                <a:cs typeface="Calibri" pitchFamily="34" charset="-120"/>
              </a:rPr>
              <a:t>loss = miss², and at</a:t>
            </a:r>
            <a:endParaRPr lang="en-US" sz="1400" dirty="0"/>
          </a:p>
          <a:p>
            <a:pPr algn="ctr" indent="0" marL="0">
              <a:buNone/>
            </a:pPr>
            <a:r>
              <a:rPr lang="en-US" sz="1400" dirty="0">
                <a:solidFill>
                  <a:srgbClr val="5A6285"/>
                </a:solidFill>
                <a:latin typeface="Calibri" pitchFamily="34" charset="0"/>
                <a:ea typeface="Calibri" pitchFamily="34" charset="-122"/>
                <a:cs typeface="Calibri" pitchFamily="34" charset="-120"/>
              </a:rPr>
              <a:t>miss = −40 that's 2 × −40</a:t>
            </a:r>
            <a:endParaRPr lang="en-US" sz="1400" dirty="0"/>
          </a:p>
        </p:txBody>
      </p:sp>
      <p:sp>
        <p:nvSpPr>
          <p:cNvPr id="21" name="Shape 19"/>
          <p:cNvSpPr/>
          <p:nvPr/>
        </p:nvSpPr>
        <p:spPr>
          <a:xfrm flipH="1">
            <a:off x="1554480" y="4251960"/>
            <a:ext cx="8686800" cy="914"/>
          </a:xfrm>
          <a:prstGeom prst="line">
            <a:avLst/>
          </a:prstGeom>
          <a:noFill/>
          <a:ln w="38100">
            <a:solidFill>
              <a:srgbClr val="F2A541"/>
            </a:solidFill>
            <a:prstDash val="solid"/>
            <a:tailEnd type="triangle"/>
          </a:ln>
        </p:spPr>
      </p:sp>
      <p:sp>
        <p:nvSpPr>
          <p:cNvPr id="22" name="Text 20"/>
          <p:cNvSpPr txBox="1"/>
          <p:nvPr/>
        </p:nvSpPr>
        <p:spPr>
          <a:xfrm>
            <a:off x="2286000" y="4343400"/>
            <a:ext cx="7680960" cy="411480"/>
          </a:xfrm>
          <a:prstGeom prst="rect">
            <a:avLst/>
          </a:prstGeom>
          <a:noFill/>
          <a:ln/>
        </p:spPr>
        <p:txBody>
          <a:bodyPr wrap="square" lIns="0" tIns="0" rIns="0" bIns="0" rtlCol="0" anchor="t"/>
          <a:lstStyle/>
          <a:p>
            <a:pPr algn="ctr" indent="0" marL="0">
              <a:buNone/>
            </a:pPr>
            <a:r>
              <a:rPr lang="en-US" sz="1500" b="1" dirty="0">
                <a:solidFill>
                  <a:srgbClr val="C77A12"/>
                </a:solidFill>
                <a:latin typeface="Calibri" pitchFamily="34" charset="0"/>
                <a:ea typeface="Calibri" pitchFamily="34" charset="-122"/>
                <a:cs typeface="Calibri" pitchFamily="34" charset="-120"/>
              </a:rPr>
              <a:t>Backward pass: carry the rate back from the loss, multiplying at each link</a:t>
            </a:r>
            <a:endParaRPr lang="en-US" sz="1500" dirty="0"/>
          </a:p>
        </p:txBody>
      </p:sp>
      <p:sp>
        <p:nvSpPr>
          <p:cNvPr id="23" name="Shape 21"/>
          <p:cNvSpPr/>
          <p:nvPr/>
        </p:nvSpPr>
        <p:spPr>
          <a:xfrm>
            <a:off x="548640" y="4983480"/>
            <a:ext cx="11064240" cy="1188720"/>
          </a:xfrm>
          <a:prstGeom prst="roundRect">
            <a:avLst>
              <a:gd name="adj" fmla="val 9231"/>
            </a:avLst>
          </a:prstGeom>
          <a:solidFill>
            <a:srgbClr val="1B1F3B"/>
          </a:solidFill>
          <a:ln w="12700">
            <a:solidFill>
              <a:srgbClr val="1B1F3B"/>
            </a:solidFill>
            <a:prstDash val="solid"/>
          </a:ln>
        </p:spPr>
      </p:sp>
      <p:sp>
        <p:nvSpPr>
          <p:cNvPr id="24" name="Text 22"/>
          <p:cNvSpPr txBox="1"/>
          <p:nvPr/>
        </p:nvSpPr>
        <p:spPr>
          <a:xfrm>
            <a:off x="822960" y="5029200"/>
            <a:ext cx="10515600" cy="1097280"/>
          </a:xfrm>
          <a:prstGeom prst="rect">
            <a:avLst/>
          </a:prstGeom>
          <a:noFill/>
          <a:ln/>
        </p:spPr>
        <p:txBody>
          <a:bodyPr wrap="square" lIns="0" tIns="0" rIns="0" bIns="0" rtlCol="0" anchor="ctr"/>
          <a:lstStyle/>
          <a:p>
            <a:pPr algn="ctr" indent="0" marL="0">
              <a:buNone/>
            </a:pPr>
            <a:r>
              <a:rPr lang="en-US" sz="2000" b="1" dirty="0">
                <a:solidFill>
                  <a:srgbClr val="F2A541"/>
                </a:solidFill>
                <a:latin typeface="Calibri" pitchFamily="34" charset="0"/>
                <a:ea typeface="Calibri" pitchFamily="34" charset="-122"/>
                <a:cs typeface="Calibri" pitchFamily="34" charset="-120"/>
              </a:rPr>
              <a:t>−80 × 1 × 10 = −800 for w</a:t>
            </a:r>
            <a:pPr algn="ctr" indent="0" marL="0">
              <a:buNone/>
            </a:pPr>
            <a:r>
              <a:rPr lang="en-US" sz="2000" dirty="0">
                <a:solidFill>
                  <a:srgbClr val="C9CDEA"/>
                </a:solidFill>
                <a:latin typeface="Calibri" pitchFamily="34" charset="0"/>
                <a:ea typeface="Calibri" pitchFamily="34" charset="-122"/>
                <a:cs typeface="Calibri" pitchFamily="34" charset="-120"/>
              </a:rPr>
              <a:t>      and      </a:t>
            </a:r>
            <a:pPr algn="ctr" indent="0" marL="0">
              <a:buNone/>
            </a:pPr>
            <a:r>
              <a:rPr lang="en-US" sz="2000" b="1" dirty="0">
                <a:solidFill>
                  <a:srgbClr val="F2A541"/>
                </a:solidFill>
                <a:latin typeface="Calibri" pitchFamily="34" charset="0"/>
                <a:ea typeface="Calibri" pitchFamily="34" charset="-122"/>
                <a:cs typeface="Calibri" pitchFamily="34" charset="-120"/>
              </a:rPr>
              <a:t>−80 × 1 × 1 = −80 for b</a:t>
            </a:r>
            <a:pPr algn="ctr" indent="0" marL="0">
              <a:buNone/>
            </a:pPr>
            <a:endParaRPr lang="en-US" sz="2000" dirty="0"/>
          </a:p>
          <a:p>
            <a:pPr algn="ctr" indent="0" marL="0">
              <a:buNone/>
            </a:pPr>
            <a:r>
              <a:rPr lang="en-US" sz="2000" dirty="0">
                <a:solidFill>
                  <a:srgbClr val="ECEEF8"/>
                </a:solidFill>
                <a:latin typeface="Calibri" pitchFamily="34" charset="0"/>
                <a:ea typeface="Calibri" pitchFamily="34" charset="-122"/>
                <a:cs typeface="Calibri" pitchFamily="34" charset="-120"/>
              </a:rPr>
              <a:t>Exactly what the wiggle test measured. Each link only knows its own local rate.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You never write this by hand: the training loop</a:t>
            </a:r>
            <a:endParaRPr lang="en-US" sz="3400" dirty="0"/>
          </a:p>
        </p:txBody>
      </p:sp>
      <p:sp>
        <p:nvSpPr>
          <p:cNvPr id="3" name="Shape 1"/>
          <p:cNvSpPr/>
          <p:nvPr/>
        </p:nvSpPr>
        <p:spPr>
          <a:xfrm>
            <a:off x="548640" y="1371600"/>
            <a:ext cx="6949440" cy="4206240"/>
          </a:xfrm>
          <a:prstGeom prst="roundRect">
            <a:avLst>
              <a:gd name="adj" fmla="val 2609"/>
            </a:avLst>
          </a:prstGeom>
          <a:solidFill>
            <a:srgbClr val="151A33"/>
          </a:solidFill>
          <a:ln w="12700">
            <a:solidFill>
              <a:srgbClr val="151A33"/>
            </a:solidFill>
            <a:prstDash val="solid"/>
          </a:ln>
        </p:spPr>
      </p:sp>
      <p:sp>
        <p:nvSpPr>
          <p:cNvPr id="4" name="Text 2"/>
          <p:cNvSpPr txBox="1"/>
          <p:nvPr/>
        </p:nvSpPr>
        <p:spPr>
          <a:xfrm>
            <a:off x="868680" y="1691640"/>
            <a:ext cx="6492240" cy="3566160"/>
          </a:xfrm>
          <a:prstGeom prst="rect">
            <a:avLst/>
          </a:prstGeom>
          <a:noFill/>
          <a:ln/>
        </p:spPr>
        <p:txBody>
          <a:bodyPr wrap="square" lIns="0" tIns="0" rIns="0" bIns="0" rtlCol="0" anchor="t"/>
          <a:lstStyle/>
          <a:p>
            <a:pPr indent="0" marL="0">
              <a:spcAft>
                <a:spcPts val="1400"/>
              </a:spcAft>
              <a:buNone/>
            </a:pPr>
            <a:r>
              <a:rPr lang="en-US" sz="1700" dirty="0">
                <a:solidFill>
                  <a:srgbClr val="C9CDEA"/>
                </a:solidFill>
                <a:latin typeface="Courier New" pitchFamily="34" charset="0"/>
                <a:ea typeface="Courier New" pitchFamily="34" charset="-122"/>
                <a:cs typeface="Courier New" pitchFamily="34" charset="-120"/>
              </a:rPr>
              <a:t>for step in range(10_000):</a:t>
            </a:r>
            <a:endParaRPr lang="en-US" sz="1700" dirty="0"/>
          </a:p>
          <a:p>
            <a:pPr indent="0" marL="0">
              <a:spcAft>
                <a:spcPts val="1400"/>
              </a:spcAft>
              <a:buNone/>
            </a:pPr>
            <a:r>
              <a:rPr lang="en-US" sz="1700" dirty="0">
                <a:solidFill>
                  <a:srgbClr val="ECEEF8"/>
                </a:solidFill>
                <a:latin typeface="Courier New" pitchFamily="34" charset="0"/>
                <a:ea typeface="Courier New" pitchFamily="34" charset="-122"/>
                <a:cs typeface="Courier New" pitchFamily="34" charset="-120"/>
              </a:rPr>
              <a:t>    guess = model(x)</a:t>
            </a:r>
            <a:endParaRPr lang="en-US" sz="1700" dirty="0"/>
          </a:p>
          <a:p>
            <a:pPr indent="0" marL="0">
              <a:spcAft>
                <a:spcPts val="1400"/>
              </a:spcAft>
              <a:buNone/>
            </a:pPr>
            <a:r>
              <a:rPr lang="en-US" sz="1700" dirty="0">
                <a:solidFill>
                  <a:srgbClr val="ECEEF8"/>
                </a:solidFill>
                <a:latin typeface="Courier New" pitchFamily="34" charset="0"/>
                <a:ea typeface="Courier New" pitchFamily="34" charset="-122"/>
                <a:cs typeface="Courier New" pitchFamily="34" charset="-120"/>
              </a:rPr>
              <a:t>    loss  = ((guess - y) ** 2).mean()</a:t>
            </a:r>
            <a:endParaRPr lang="en-US" sz="1700" dirty="0"/>
          </a:p>
          <a:p>
            <a:pPr indent="0" marL="0">
              <a:spcAft>
                <a:spcPts val="1400"/>
              </a:spcAft>
              <a:buNone/>
            </a:pPr>
            <a:r>
              <a:rPr lang="en-US" sz="1700" dirty="0">
                <a:solidFill>
                  <a:srgbClr val="ECEEF8"/>
                </a:solidFill>
                <a:latin typeface="Courier New" pitchFamily="34" charset="0"/>
                <a:ea typeface="Courier New" pitchFamily="34" charset="-122"/>
                <a:cs typeface="Courier New" pitchFamily="34" charset="-120"/>
              </a:rPr>
              <a:t>    loss.backward()</a:t>
            </a:r>
            <a:endParaRPr lang="en-US" sz="1700" dirty="0"/>
          </a:p>
          <a:p>
            <a:pPr indent="0" marL="0">
              <a:spcAft>
                <a:spcPts val="1400"/>
              </a:spcAft>
              <a:buNone/>
            </a:pPr>
            <a:r>
              <a:rPr lang="en-US" sz="1700" dirty="0">
                <a:solidFill>
                  <a:srgbClr val="ECEEF8"/>
                </a:solidFill>
                <a:latin typeface="Courier New" pitchFamily="34" charset="0"/>
                <a:ea typeface="Courier New" pitchFamily="34" charset="-122"/>
                <a:cs typeface="Courier New" pitchFamily="34" charset="-120"/>
              </a:rPr>
              <a:t>    optimizer.step()</a:t>
            </a:r>
            <a:endParaRPr lang="en-US" sz="1700" dirty="0"/>
          </a:p>
          <a:p>
            <a:pPr indent="0" marL="0">
              <a:spcAft>
                <a:spcPts val="1400"/>
              </a:spcAft>
              <a:buNone/>
            </a:pPr>
            <a:r>
              <a:rPr lang="en-US" sz="1700" dirty="0">
                <a:solidFill>
                  <a:srgbClr val="ECEEF8"/>
                </a:solidFill>
                <a:latin typeface="Courier New" pitchFamily="34" charset="0"/>
                <a:ea typeface="Courier New" pitchFamily="34" charset="-122"/>
                <a:cs typeface="Courier New" pitchFamily="34" charset="-120"/>
              </a:rPr>
              <a:t>    optimizer.zero_grad()</a:t>
            </a:r>
            <a:endParaRPr lang="en-US" sz="1700" dirty="0"/>
          </a:p>
        </p:txBody>
      </p:sp>
      <p:sp>
        <p:nvSpPr>
          <p:cNvPr id="5" name="Shape 3"/>
          <p:cNvSpPr/>
          <p:nvPr/>
        </p:nvSpPr>
        <p:spPr>
          <a:xfrm>
            <a:off x="7818120" y="1371600"/>
            <a:ext cx="3794760" cy="914400"/>
          </a:xfrm>
          <a:prstGeom prst="roundRect">
            <a:avLst>
              <a:gd name="adj" fmla="val 12000"/>
            </a:avLst>
          </a:prstGeom>
          <a:solidFill>
            <a:srgbClr val="E3F6F2"/>
          </a:solidFill>
          <a:ln w="12700">
            <a:solidFill>
              <a:srgbClr val="E3F6F2"/>
            </a:solidFill>
            <a:prstDash val="solid"/>
          </a:ln>
        </p:spPr>
      </p:sp>
      <p:sp>
        <p:nvSpPr>
          <p:cNvPr id="6" name="Text 4"/>
          <p:cNvSpPr txBox="1"/>
          <p:nvPr/>
        </p:nvSpPr>
        <p:spPr>
          <a:xfrm>
            <a:off x="8046720" y="1463040"/>
            <a:ext cx="3383280" cy="365760"/>
          </a:xfrm>
          <a:prstGeom prst="rect">
            <a:avLst/>
          </a:prstGeom>
          <a:noFill/>
          <a:ln/>
        </p:spPr>
        <p:txBody>
          <a:bodyPr wrap="square" lIns="0" tIns="0" rIns="0" bIns="0" rtlCol="0" anchor="t"/>
          <a:lstStyle/>
          <a:p>
            <a:pPr indent="0" marL="0">
              <a:buNone/>
            </a:pPr>
            <a:r>
              <a:rPr lang="en-US" sz="1700" b="1" dirty="0">
                <a:solidFill>
                  <a:srgbClr val="13897A"/>
                </a:solidFill>
                <a:latin typeface="Calibri" pitchFamily="34" charset="0"/>
                <a:ea typeface="Calibri" pitchFamily="34" charset="-122"/>
                <a:cs typeface="Calibri" pitchFamily="34" charset="-120"/>
              </a:rPr>
              <a:t>guess</a:t>
            </a:r>
            <a:endParaRPr lang="en-US" sz="1700" dirty="0"/>
          </a:p>
        </p:txBody>
      </p:sp>
      <p:sp>
        <p:nvSpPr>
          <p:cNvPr id="7" name="Text 5"/>
          <p:cNvSpPr txBox="1"/>
          <p:nvPr/>
        </p:nvSpPr>
        <p:spPr>
          <a:xfrm>
            <a:off x="8046720" y="1828800"/>
            <a:ext cx="3383280" cy="384048"/>
          </a:xfrm>
          <a:prstGeom prst="rect">
            <a:avLst/>
          </a:prstGeom>
          <a:noFill/>
          <a:ln/>
        </p:spPr>
        <p:txBody>
          <a:bodyPr wrap="square" lIns="0" tIns="0" rIns="0" bIns="0" rtlCol="0" anchor="t"/>
          <a:lstStyle/>
          <a:p>
            <a:pPr indent="0" marL="0">
              <a:buNone/>
            </a:pPr>
            <a:r>
              <a:rPr lang="en-US" sz="1400" dirty="0">
                <a:solidFill>
                  <a:srgbClr val="1B1F3B"/>
                </a:solidFill>
                <a:latin typeface="Calibri" pitchFamily="34" charset="0"/>
                <a:ea typeface="Calibri" pitchFamily="34" charset="-122"/>
                <a:cs typeface="Calibri" pitchFamily="34" charset="-120"/>
              </a:rPr>
              <a:t>Forward: run the recipe with current knobs</a:t>
            </a:r>
            <a:endParaRPr lang="en-US" sz="1400" dirty="0"/>
          </a:p>
        </p:txBody>
      </p:sp>
      <p:sp>
        <p:nvSpPr>
          <p:cNvPr id="8" name="Shape 6"/>
          <p:cNvSpPr/>
          <p:nvPr/>
        </p:nvSpPr>
        <p:spPr>
          <a:xfrm>
            <a:off x="7818120" y="2450592"/>
            <a:ext cx="3794760" cy="914400"/>
          </a:xfrm>
          <a:prstGeom prst="roundRect">
            <a:avLst>
              <a:gd name="adj" fmla="val 12000"/>
            </a:avLst>
          </a:prstGeom>
          <a:solidFill>
            <a:srgbClr val="FDF1DF"/>
          </a:solidFill>
          <a:ln w="12700">
            <a:solidFill>
              <a:srgbClr val="FDF1DF"/>
            </a:solidFill>
            <a:prstDash val="solid"/>
          </a:ln>
        </p:spPr>
      </p:sp>
      <p:sp>
        <p:nvSpPr>
          <p:cNvPr id="9" name="Text 7"/>
          <p:cNvSpPr txBox="1"/>
          <p:nvPr/>
        </p:nvSpPr>
        <p:spPr>
          <a:xfrm>
            <a:off x="8046720" y="2542032"/>
            <a:ext cx="3383280" cy="365760"/>
          </a:xfrm>
          <a:prstGeom prst="rect">
            <a:avLst/>
          </a:prstGeom>
          <a:noFill/>
          <a:ln/>
        </p:spPr>
        <p:txBody>
          <a:bodyPr wrap="square" lIns="0" tIns="0" rIns="0" bIns="0" rtlCol="0" anchor="t"/>
          <a:lstStyle/>
          <a:p>
            <a:pPr indent="0" marL="0">
              <a:buNone/>
            </a:pPr>
            <a:r>
              <a:rPr lang="en-US" sz="1700" b="1" dirty="0">
                <a:solidFill>
                  <a:srgbClr val="C77A12"/>
                </a:solidFill>
                <a:latin typeface="Calibri" pitchFamily="34" charset="0"/>
                <a:ea typeface="Calibri" pitchFamily="34" charset="-122"/>
                <a:cs typeface="Calibri" pitchFamily="34" charset="-120"/>
              </a:rPr>
              <a:t>score</a:t>
            </a:r>
            <a:endParaRPr lang="en-US" sz="1700" dirty="0"/>
          </a:p>
        </p:txBody>
      </p:sp>
      <p:sp>
        <p:nvSpPr>
          <p:cNvPr id="10" name="Text 8"/>
          <p:cNvSpPr txBox="1"/>
          <p:nvPr/>
        </p:nvSpPr>
        <p:spPr>
          <a:xfrm>
            <a:off x="8046720" y="2907792"/>
            <a:ext cx="3383280" cy="384048"/>
          </a:xfrm>
          <a:prstGeom prst="rect">
            <a:avLst/>
          </a:prstGeom>
          <a:noFill/>
          <a:ln/>
        </p:spPr>
        <p:txBody>
          <a:bodyPr wrap="square" lIns="0" tIns="0" rIns="0" bIns="0" rtlCol="0" anchor="t"/>
          <a:lstStyle/>
          <a:p>
            <a:pPr indent="0" marL="0">
              <a:buNone/>
            </a:pPr>
            <a:r>
              <a:rPr lang="en-US" sz="1400" dirty="0">
                <a:solidFill>
                  <a:srgbClr val="1B1F3B"/>
                </a:solidFill>
                <a:latin typeface="Calibri" pitchFamily="34" charset="0"/>
                <a:ea typeface="Calibri" pitchFamily="34" charset="-122"/>
                <a:cs typeface="Calibri" pitchFamily="34" charset="-120"/>
              </a:rPr>
              <a:t>Loss: one number for how wrong</a:t>
            </a:r>
            <a:endParaRPr lang="en-US" sz="1400" dirty="0"/>
          </a:p>
        </p:txBody>
      </p:sp>
      <p:sp>
        <p:nvSpPr>
          <p:cNvPr id="11" name="Shape 9"/>
          <p:cNvSpPr/>
          <p:nvPr/>
        </p:nvSpPr>
        <p:spPr>
          <a:xfrm>
            <a:off x="7818120" y="3529584"/>
            <a:ext cx="3794760" cy="914400"/>
          </a:xfrm>
          <a:prstGeom prst="roundRect">
            <a:avLst>
              <a:gd name="adj" fmla="val 12000"/>
            </a:avLst>
          </a:prstGeom>
          <a:solidFill>
            <a:srgbClr val="F3F5FA"/>
          </a:solidFill>
          <a:ln w="12700">
            <a:solidFill>
              <a:srgbClr val="F3F5FA"/>
            </a:solidFill>
            <a:prstDash val="solid"/>
          </a:ln>
        </p:spPr>
      </p:sp>
      <p:sp>
        <p:nvSpPr>
          <p:cNvPr id="12" name="Text 10"/>
          <p:cNvSpPr txBox="1"/>
          <p:nvPr/>
        </p:nvSpPr>
        <p:spPr>
          <a:xfrm>
            <a:off x="8046720" y="3621024"/>
            <a:ext cx="3383280" cy="365760"/>
          </a:xfrm>
          <a:prstGeom prst="rect">
            <a:avLst/>
          </a:prstGeom>
          <a:noFill/>
          <a:ln/>
        </p:spPr>
        <p:txBody>
          <a:bodyPr wrap="square" lIns="0" tIns="0" rIns="0" bIns="0" rtlCol="0" anchor="t"/>
          <a:lstStyle/>
          <a:p>
            <a:pPr indent="0" marL="0">
              <a:buNone/>
            </a:pPr>
            <a:r>
              <a:rPr lang="en-US" sz="1700" b="1" dirty="0">
                <a:solidFill>
                  <a:srgbClr val="1B1F3B"/>
                </a:solidFill>
                <a:latin typeface="Calibri" pitchFamily="34" charset="0"/>
                <a:ea typeface="Calibri" pitchFamily="34" charset="-122"/>
                <a:cs typeface="Calibri" pitchFamily="34" charset="-120"/>
              </a:rPr>
              <a:t>backprop</a:t>
            </a:r>
            <a:endParaRPr lang="en-US" sz="1700" dirty="0"/>
          </a:p>
        </p:txBody>
      </p:sp>
      <p:sp>
        <p:nvSpPr>
          <p:cNvPr id="13" name="Text 11"/>
          <p:cNvSpPr txBox="1"/>
          <p:nvPr/>
        </p:nvSpPr>
        <p:spPr>
          <a:xfrm>
            <a:off x="8046720" y="3986784"/>
            <a:ext cx="3383280" cy="384048"/>
          </a:xfrm>
          <a:prstGeom prst="rect">
            <a:avLst/>
          </a:prstGeom>
          <a:noFill/>
          <a:ln/>
        </p:spPr>
        <p:txBody>
          <a:bodyPr wrap="square" lIns="0" tIns="0" rIns="0" bIns="0" rtlCol="0" anchor="t"/>
          <a:lstStyle/>
          <a:p>
            <a:pPr indent="0" marL="0">
              <a:buNone/>
            </a:pPr>
            <a:r>
              <a:rPr lang="en-US" sz="1400" dirty="0">
                <a:solidFill>
                  <a:srgbClr val="1B1F3B"/>
                </a:solidFill>
                <a:latin typeface="Calibri" pitchFamily="34" charset="0"/>
                <a:ea typeface="Calibri" pitchFamily="34" charset="-122"/>
                <a:cs typeface="Calibri" pitchFamily="34" charset="-120"/>
              </a:rPr>
              <a:t>Chain rule: slope for every knob</a:t>
            </a:r>
            <a:endParaRPr lang="en-US" sz="1400" dirty="0"/>
          </a:p>
        </p:txBody>
      </p:sp>
      <p:sp>
        <p:nvSpPr>
          <p:cNvPr id="14" name="Shape 12"/>
          <p:cNvSpPr/>
          <p:nvPr/>
        </p:nvSpPr>
        <p:spPr>
          <a:xfrm>
            <a:off x="7818120" y="4608576"/>
            <a:ext cx="3794760" cy="914400"/>
          </a:xfrm>
          <a:prstGeom prst="roundRect">
            <a:avLst>
              <a:gd name="adj" fmla="val 12000"/>
            </a:avLst>
          </a:prstGeom>
          <a:solidFill>
            <a:srgbClr val="E3F6F2"/>
          </a:solidFill>
          <a:ln w="12700">
            <a:solidFill>
              <a:srgbClr val="E3F6F2"/>
            </a:solidFill>
            <a:prstDash val="solid"/>
          </a:ln>
        </p:spPr>
      </p:sp>
      <p:sp>
        <p:nvSpPr>
          <p:cNvPr id="15" name="Text 13"/>
          <p:cNvSpPr txBox="1"/>
          <p:nvPr/>
        </p:nvSpPr>
        <p:spPr>
          <a:xfrm>
            <a:off x="8046720" y="4700016"/>
            <a:ext cx="3383280" cy="365760"/>
          </a:xfrm>
          <a:prstGeom prst="rect">
            <a:avLst/>
          </a:prstGeom>
          <a:noFill/>
          <a:ln/>
        </p:spPr>
        <p:txBody>
          <a:bodyPr wrap="square" lIns="0" tIns="0" rIns="0" bIns="0" rtlCol="0" anchor="t"/>
          <a:lstStyle/>
          <a:p>
            <a:pPr indent="0" marL="0">
              <a:buNone/>
            </a:pPr>
            <a:r>
              <a:rPr lang="en-US" sz="1700" b="1" dirty="0">
                <a:solidFill>
                  <a:srgbClr val="13897A"/>
                </a:solidFill>
                <a:latin typeface="Calibri" pitchFamily="34" charset="0"/>
                <a:ea typeface="Calibri" pitchFamily="34" charset="-122"/>
                <a:cs typeface="Calibri" pitchFamily="34" charset="-120"/>
              </a:rPr>
              <a:t>nudge</a:t>
            </a:r>
            <a:endParaRPr lang="en-US" sz="1700" dirty="0"/>
          </a:p>
        </p:txBody>
      </p:sp>
      <p:sp>
        <p:nvSpPr>
          <p:cNvPr id="16" name="Text 14"/>
          <p:cNvSpPr txBox="1"/>
          <p:nvPr/>
        </p:nvSpPr>
        <p:spPr>
          <a:xfrm>
            <a:off x="8046720" y="5065776"/>
            <a:ext cx="3383280" cy="384048"/>
          </a:xfrm>
          <a:prstGeom prst="rect">
            <a:avLst/>
          </a:prstGeom>
          <a:noFill/>
          <a:ln/>
        </p:spPr>
        <p:txBody>
          <a:bodyPr wrap="square" lIns="0" tIns="0" rIns="0" bIns="0" rtlCol="0" anchor="t"/>
          <a:lstStyle/>
          <a:p>
            <a:pPr indent="0" marL="0">
              <a:buNone/>
            </a:pPr>
            <a:r>
              <a:rPr lang="en-US" sz="1400" dirty="0">
                <a:solidFill>
                  <a:srgbClr val="1B1F3B"/>
                </a:solidFill>
                <a:latin typeface="Calibri" pitchFamily="34" charset="0"/>
                <a:ea typeface="Calibri" pitchFamily="34" charset="-122"/>
                <a:cs typeface="Calibri" pitchFamily="34" charset="-120"/>
              </a:rPr>
              <a:t>Every knob steps downhill</a:t>
            </a:r>
            <a:endParaRPr lang="en-US" sz="1400" dirty="0"/>
          </a:p>
        </p:txBody>
      </p:sp>
      <p:sp>
        <p:nvSpPr>
          <p:cNvPr id="17" name="Text 15"/>
          <p:cNvSpPr txBox="1"/>
          <p:nvPr/>
        </p:nvSpPr>
        <p:spPr>
          <a:xfrm>
            <a:off x="548640" y="5760720"/>
            <a:ext cx="11064240" cy="731520"/>
          </a:xfrm>
          <a:prstGeom prst="rect">
            <a:avLst/>
          </a:prstGeom>
          <a:noFill/>
          <a:ln/>
        </p:spPr>
        <p:txBody>
          <a:bodyPr wrap="square" lIns="0" tIns="0" rIns="0" bIns="0" rtlCol="0" anchor="t"/>
          <a:lstStyle/>
          <a:p>
            <a:pPr indent="0" marL="0">
              <a:buNone/>
            </a:pPr>
            <a:r>
              <a:rPr lang="en-US" sz="1700" dirty="0">
                <a:solidFill>
                  <a:srgbClr val="5A6285"/>
                </a:solidFill>
                <a:latin typeface="Calibri" pitchFamily="34" charset="0"/>
                <a:ea typeface="Calibri" pitchFamily="34" charset="-122"/>
                <a:cs typeface="Calibri" pitchFamily="34" charset="-120"/>
              </a:rPr>
              <a:t>PyTorch records every multiply and add during the forward run as a graph, then walks that graph backwards. In essence, this loop trained every model you use.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Straight lines aren't enough, so add a bend</a:t>
            </a:r>
            <a:endParaRPr lang="en-US" sz="3400" dirty="0"/>
          </a:p>
        </p:txBody>
      </p:sp>
      <p:sp>
        <p:nvSpPr>
          <p:cNvPr id="3" name="Shape 1"/>
          <p:cNvSpPr/>
          <p:nvPr/>
        </p:nvSpPr>
        <p:spPr>
          <a:xfrm>
            <a:off x="548640" y="1371600"/>
            <a:ext cx="3520440" cy="4206240"/>
          </a:xfrm>
          <a:prstGeom prst="roundRect">
            <a:avLst>
              <a:gd name="adj" fmla="val 3117"/>
            </a:avLst>
          </a:prstGeom>
          <a:solidFill>
            <a:srgbClr val="F3F5FA"/>
          </a:solidFill>
          <a:ln w="12700">
            <a:solidFill>
              <a:srgbClr val="F3F5FA"/>
            </a:solidFill>
            <a:prstDash val="solid"/>
          </a:ln>
        </p:spPr>
      </p:sp>
      <p:pic>
        <p:nvPicPr>
          <p:cNvPr id="4" name="Image 0" descr="preencoded.png">    </p:cNvPr>
          <p:cNvPicPr>
            <a:picLocks noChangeAspect="1"/>
          </p:cNvPicPr>
          <p:nvPr/>
        </p:nvPicPr>
        <p:blipFill>
          <a:blip r:embed="rId1"/>
          <a:stretch>
            <a:fillRect/>
          </a:stretch>
        </p:blipFill>
        <p:spPr>
          <a:xfrm>
            <a:off x="822960" y="1554480"/>
            <a:ext cx="2971800" cy="2121408"/>
          </a:xfrm>
          <a:prstGeom prst="rect">
            <a:avLst/>
          </a:prstGeom>
        </p:spPr>
      </p:pic>
      <p:sp>
        <p:nvSpPr>
          <p:cNvPr id="5" name="Text 2"/>
          <p:cNvSpPr txBox="1"/>
          <p:nvPr/>
        </p:nvSpPr>
        <p:spPr>
          <a:xfrm>
            <a:off x="822960" y="3840480"/>
            <a:ext cx="3017520" cy="411480"/>
          </a:xfrm>
          <a:prstGeom prst="rect">
            <a:avLst/>
          </a:prstGeom>
          <a:noFill/>
          <a:ln/>
        </p:spPr>
        <p:txBody>
          <a:bodyPr wrap="square" lIns="0" tIns="0" rIns="0" bIns="0" rtlCol="0" anchor="t"/>
          <a:lstStyle/>
          <a:p>
            <a:pPr indent="0" marL="0">
              <a:buNone/>
            </a:pPr>
            <a:r>
              <a:rPr lang="en-US" sz="2000" b="1" dirty="0">
                <a:solidFill>
                  <a:srgbClr val="13897A"/>
                </a:solidFill>
                <a:latin typeface="Calibri" pitchFamily="34" charset="0"/>
                <a:ea typeface="Calibri" pitchFamily="34" charset="-122"/>
                <a:cs typeface="Calibri" pitchFamily="34" charset="-120"/>
              </a:rPr>
              <a:t>One neuron</a:t>
            </a:r>
            <a:endParaRPr lang="en-US" sz="2000" dirty="0"/>
          </a:p>
        </p:txBody>
      </p:sp>
      <p:sp>
        <p:nvSpPr>
          <p:cNvPr id="6" name="Text 3"/>
          <p:cNvSpPr txBox="1"/>
          <p:nvPr/>
        </p:nvSpPr>
        <p:spPr>
          <a:xfrm>
            <a:off x="822960" y="4297680"/>
            <a:ext cx="3017520" cy="109728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Multiply and add can only ever draw a straight line.</a:t>
            </a:r>
            <a:endParaRPr lang="en-US" sz="1600" dirty="0"/>
          </a:p>
        </p:txBody>
      </p:sp>
      <p:sp>
        <p:nvSpPr>
          <p:cNvPr id="7" name="Shape 4"/>
          <p:cNvSpPr/>
          <p:nvPr/>
        </p:nvSpPr>
        <p:spPr>
          <a:xfrm>
            <a:off x="4297680" y="1371600"/>
            <a:ext cx="3520440" cy="4206240"/>
          </a:xfrm>
          <a:prstGeom prst="roundRect">
            <a:avLst>
              <a:gd name="adj" fmla="val 3117"/>
            </a:avLst>
          </a:prstGeom>
          <a:solidFill>
            <a:srgbClr val="F3F5FA"/>
          </a:solidFill>
          <a:ln w="12700">
            <a:solidFill>
              <a:srgbClr val="F3F5FA"/>
            </a:solidFill>
            <a:prstDash val="solid"/>
          </a:ln>
        </p:spPr>
      </p:sp>
      <p:pic>
        <p:nvPicPr>
          <p:cNvPr id="8" name="Image 1" descr="preencoded.png">    </p:cNvPr>
          <p:cNvPicPr>
            <a:picLocks noChangeAspect="1"/>
          </p:cNvPicPr>
          <p:nvPr/>
        </p:nvPicPr>
        <p:blipFill>
          <a:blip r:embed="rId2"/>
          <a:stretch>
            <a:fillRect/>
          </a:stretch>
        </p:blipFill>
        <p:spPr>
          <a:xfrm>
            <a:off x="4572000" y="1554480"/>
            <a:ext cx="2971800" cy="2121408"/>
          </a:xfrm>
          <a:prstGeom prst="rect">
            <a:avLst/>
          </a:prstGeom>
        </p:spPr>
      </p:pic>
      <p:sp>
        <p:nvSpPr>
          <p:cNvPr id="9" name="Text 5"/>
          <p:cNvSpPr txBox="1"/>
          <p:nvPr/>
        </p:nvSpPr>
        <p:spPr>
          <a:xfrm>
            <a:off x="4572000" y="3840480"/>
            <a:ext cx="3017520" cy="411480"/>
          </a:xfrm>
          <a:prstGeom prst="rect">
            <a:avLst/>
          </a:prstGeom>
          <a:noFill/>
          <a:ln/>
        </p:spPr>
        <p:txBody>
          <a:bodyPr wrap="square" lIns="0" tIns="0" rIns="0" bIns="0" rtlCol="0" anchor="t"/>
          <a:lstStyle/>
          <a:p>
            <a:pPr indent="0" marL="0">
              <a:buNone/>
            </a:pPr>
            <a:r>
              <a:rPr lang="en-US" sz="2000" b="1" dirty="0">
                <a:solidFill>
                  <a:srgbClr val="13897A"/>
                </a:solidFill>
                <a:latin typeface="Calibri" pitchFamily="34" charset="0"/>
                <a:ea typeface="Calibri" pitchFamily="34" charset="-122"/>
                <a:cs typeface="Calibri" pitchFamily="34" charset="-120"/>
              </a:rPr>
              <a:t>Add a bend</a:t>
            </a:r>
            <a:endParaRPr lang="en-US" sz="2000" dirty="0"/>
          </a:p>
        </p:txBody>
      </p:sp>
      <p:sp>
        <p:nvSpPr>
          <p:cNvPr id="10" name="Text 6"/>
          <p:cNvSpPr txBox="1"/>
          <p:nvPr/>
        </p:nvSpPr>
        <p:spPr>
          <a:xfrm>
            <a:off x="4572000" y="4297680"/>
            <a:ext cx="3017520" cy="109728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“If the result is negative, output 0.” That's ReLU: a hinge.</a:t>
            </a:r>
            <a:endParaRPr lang="en-US" sz="1600" dirty="0"/>
          </a:p>
        </p:txBody>
      </p:sp>
      <p:sp>
        <p:nvSpPr>
          <p:cNvPr id="11" name="Shape 7"/>
          <p:cNvSpPr/>
          <p:nvPr/>
        </p:nvSpPr>
        <p:spPr>
          <a:xfrm>
            <a:off x="8046720" y="1371600"/>
            <a:ext cx="3520440" cy="4206240"/>
          </a:xfrm>
          <a:prstGeom prst="roundRect">
            <a:avLst>
              <a:gd name="adj" fmla="val 3117"/>
            </a:avLst>
          </a:prstGeom>
          <a:solidFill>
            <a:srgbClr val="F3F5FA"/>
          </a:solidFill>
          <a:ln w="12700">
            <a:solidFill>
              <a:srgbClr val="F3F5FA"/>
            </a:solidFill>
            <a:prstDash val="solid"/>
          </a:ln>
        </p:spPr>
      </p:sp>
      <p:pic>
        <p:nvPicPr>
          <p:cNvPr id="12" name="Image 2" descr="preencoded.png">    </p:cNvPr>
          <p:cNvPicPr>
            <a:picLocks noChangeAspect="1"/>
          </p:cNvPicPr>
          <p:nvPr/>
        </p:nvPicPr>
        <p:blipFill>
          <a:blip r:embed="rId3"/>
          <a:stretch>
            <a:fillRect/>
          </a:stretch>
        </p:blipFill>
        <p:spPr>
          <a:xfrm>
            <a:off x="8321040" y="1554480"/>
            <a:ext cx="2971800" cy="2121408"/>
          </a:xfrm>
          <a:prstGeom prst="rect">
            <a:avLst/>
          </a:prstGeom>
        </p:spPr>
      </p:pic>
      <p:sp>
        <p:nvSpPr>
          <p:cNvPr id="13" name="Text 8"/>
          <p:cNvSpPr txBox="1"/>
          <p:nvPr/>
        </p:nvSpPr>
        <p:spPr>
          <a:xfrm>
            <a:off x="8321040" y="3840480"/>
            <a:ext cx="3017520" cy="411480"/>
          </a:xfrm>
          <a:prstGeom prst="rect">
            <a:avLst/>
          </a:prstGeom>
          <a:noFill/>
          <a:ln/>
        </p:spPr>
        <p:txBody>
          <a:bodyPr wrap="square" lIns="0" tIns="0" rIns="0" bIns="0" rtlCol="0" anchor="t"/>
          <a:lstStyle/>
          <a:p>
            <a:pPr indent="0" marL="0">
              <a:buNone/>
            </a:pPr>
            <a:r>
              <a:rPr lang="en-US" sz="2000" b="1" dirty="0">
                <a:solidFill>
                  <a:srgbClr val="C77A12"/>
                </a:solidFill>
                <a:latin typeface="Calibri" pitchFamily="34" charset="0"/>
                <a:ea typeface="Calibri" pitchFamily="34" charset="-122"/>
                <a:cs typeface="Calibri" pitchFamily="34" charset="-120"/>
              </a:rPr>
              <a:t>Stack many hinges</a:t>
            </a:r>
            <a:endParaRPr lang="en-US" sz="2000" dirty="0"/>
          </a:p>
        </p:txBody>
      </p:sp>
      <p:sp>
        <p:nvSpPr>
          <p:cNvPr id="14" name="Text 9"/>
          <p:cNvSpPr txBox="1"/>
          <p:nvPr/>
        </p:nvSpPr>
        <p:spPr>
          <a:xfrm>
            <a:off x="8321040" y="4297680"/>
            <a:ext cx="3017520" cy="1097280"/>
          </a:xfrm>
          <a:prstGeom prst="rect">
            <a:avLst/>
          </a:prstGeom>
          <a:noFill/>
          <a:ln/>
        </p:spPr>
        <p:txBody>
          <a:bodyPr wrap="square" lIns="0" tIns="0" rIns="0" bIns="0" rtlCol="0" anchor="t"/>
          <a:lstStyle/>
          <a:p>
            <a:pPr indent="0" marL="0">
              <a:buNone/>
            </a:pPr>
            <a:r>
              <a:rPr lang="en-US" sz="1600" dirty="0">
                <a:solidFill>
                  <a:srgbClr val="1B1F3B"/>
                </a:solidFill>
                <a:latin typeface="Calibri" pitchFamily="34" charset="0"/>
                <a:ea typeface="Calibri" pitchFamily="34" charset="-122"/>
                <a:cs typeface="Calibri" pitchFamily="34" charset="-120"/>
              </a:rPr>
              <a:t>Each hidden neuron contributes one bend. Summed, they can trace any shape.</a:t>
            </a:r>
            <a:endParaRPr lang="en-US" sz="1600" dirty="0"/>
          </a:p>
        </p:txBody>
      </p:sp>
      <p:sp>
        <p:nvSpPr>
          <p:cNvPr id="15" name="Text 10"/>
          <p:cNvSpPr txBox="1"/>
          <p:nvPr/>
        </p:nvSpPr>
        <p:spPr>
          <a:xfrm>
            <a:off x="548640" y="5806440"/>
            <a:ext cx="11064240" cy="548640"/>
          </a:xfrm>
          <a:prstGeom prst="rect">
            <a:avLst/>
          </a:prstGeom>
          <a:noFill/>
          <a:ln/>
        </p:spPr>
        <p:txBody>
          <a:bodyPr wrap="square" lIns="0" tIns="0" rIns="0" bIns="0" rtlCol="0" anchor="t"/>
          <a:lstStyle/>
          <a:p>
            <a:pPr algn="ctr" indent="0" marL="0">
              <a:buNone/>
            </a:pPr>
            <a:r>
              <a:rPr lang="en-US" sz="1800" b="1" dirty="0">
                <a:solidFill>
                  <a:srgbClr val="1B1F3B"/>
                </a:solidFill>
                <a:latin typeface="Calibri" pitchFamily="34" charset="0"/>
                <a:ea typeface="Calibri" pitchFamily="34" charset="-122"/>
                <a:cs typeface="Calibri" pitchFamily="34" charset="-120"/>
              </a:rPr>
              <a:t>Hidden neurons and layers are just this: lots of hinges, stacked. The training loop doesn't change at all.</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1A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a:off x="6949440" y="822960"/>
            <a:ext cx="5120640" cy="5120640"/>
          </a:xfrm>
          <a:prstGeom prst="rect">
            <a:avLst/>
          </a:prstGeom>
        </p:spPr>
      </p:pic>
      <p:sp>
        <p:nvSpPr>
          <p:cNvPr id="3" name="Text 0"/>
          <p:cNvSpPr txBox="1"/>
          <p:nvPr/>
        </p:nvSpPr>
        <p:spPr>
          <a:xfrm>
            <a:off x="640080" y="1097280"/>
            <a:ext cx="5943600" cy="457200"/>
          </a:xfrm>
          <a:prstGeom prst="rect">
            <a:avLst/>
          </a:prstGeom>
          <a:noFill/>
          <a:ln/>
        </p:spPr>
        <p:txBody>
          <a:bodyPr wrap="square" lIns="0" tIns="0" rIns="0" bIns="0" rtlCol="0" anchor="t"/>
          <a:lstStyle/>
          <a:p>
            <a:pPr indent="0" marL="0">
              <a:buNone/>
            </a:pPr>
            <a:r>
              <a:rPr lang="en-US" sz="1800" b="1" dirty="0">
                <a:solidFill>
                  <a:srgbClr val="3CC6B0"/>
                </a:solidFill>
                <a:latin typeface="Calibri" pitchFamily="34" charset="0"/>
                <a:ea typeface="Calibri" pitchFamily="34" charset="-122"/>
                <a:cs typeface="Calibri" pitchFamily="34" charset="-120"/>
              </a:rPr>
              <a:t>Live demo 2</a:t>
            </a:r>
            <a:endParaRPr lang="en-US" sz="1800" dirty="0"/>
          </a:p>
        </p:txBody>
      </p:sp>
      <p:sp>
        <p:nvSpPr>
          <p:cNvPr id="4" name="Text 1"/>
          <p:cNvSpPr txBox="1"/>
          <p:nvPr/>
        </p:nvSpPr>
        <p:spPr>
          <a:xfrm>
            <a:off x="640080" y="1600200"/>
            <a:ext cx="6400800" cy="13716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Hinges building a curve</a:t>
            </a:r>
            <a:endParaRPr lang="en-US" sz="3800" dirty="0"/>
          </a:p>
        </p:txBody>
      </p:sp>
      <p:sp>
        <p:nvSpPr>
          <p:cNvPr id="5" name="Text 2"/>
          <p:cNvSpPr txBox="1"/>
          <p:nvPr/>
        </p:nvSpPr>
        <p:spPr>
          <a:xfrm>
            <a:off x="640080" y="3246120"/>
            <a:ext cx="5486400" cy="365760"/>
          </a:xfrm>
          <a:prstGeom prst="rect">
            <a:avLst/>
          </a:prstGeom>
          <a:noFill/>
          <a:ln/>
        </p:spPr>
        <p:txBody>
          <a:bodyPr wrap="square" lIns="0" tIns="0" rIns="0" bIns="0" rtlCol="0" anchor="t"/>
          <a:lstStyle/>
          <a:p>
            <a:pPr indent="0" marL="0">
              <a:buNone/>
            </a:pPr>
            <a:r>
              <a:rPr lang="en-US" sz="1600" dirty="0">
                <a:solidFill>
                  <a:srgbClr val="9AA2C8"/>
                </a:solidFill>
                <a:latin typeface="Calibri" pitchFamily="34" charset="0"/>
                <a:ea typeface="Calibri" pitchFamily="34" charset="-122"/>
                <a:cs typeface="Calibri" pitchFamily="34" charset="-120"/>
              </a:rPr>
              <a:t>What to watch</a:t>
            </a:r>
            <a:endParaRPr lang="en-US" sz="1600" dirty="0"/>
          </a:p>
        </p:txBody>
      </p:sp>
      <p:sp>
        <p:nvSpPr>
          <p:cNvPr id="6" name="Text 3"/>
          <p:cNvSpPr txBox="1"/>
          <p:nvPr/>
        </p:nvSpPr>
        <p:spPr>
          <a:xfrm>
            <a:off x="640080" y="3611880"/>
            <a:ext cx="6309360" cy="201168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1 neuron: one bend, and it can't make a wave</a:t>
            </a:r>
            <a:endParaRPr lang="en-US" sz="2000" dirty="0"/>
          </a:p>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8 neurons: the curve snaps into shape</a:t>
            </a:r>
            <a:endParaRPr lang="en-US" sz="2000" dirty="0"/>
          </a:p>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Each coloured dot is one neuron's bend</a:t>
            </a:r>
            <a:endParaRPr lang="en-US" sz="2000" dirty="0"/>
          </a:p>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Nobody assigned the jobs. The gradient did.</a:t>
            </a:r>
            <a:endParaRPr lang="en-US" sz="2000" dirty="0"/>
          </a:p>
        </p:txBody>
      </p:sp>
      <p:pic>
        <p:nvPicPr>
          <p:cNvPr id="7" name="Image 1" descr="preencoded.png">    </p:cNvPr>
          <p:cNvPicPr>
            <a:picLocks noChangeAspect="1"/>
          </p:cNvPicPr>
          <p:nvPr/>
        </p:nvPicPr>
        <p:blipFill>
          <a:blip r:embed="rId2"/>
          <a:stretch>
            <a:fillRect/>
          </a:stretch>
        </p:blipFill>
        <p:spPr>
          <a:xfrm>
            <a:off x="640080" y="5989320"/>
            <a:ext cx="292608" cy="292608"/>
          </a:xfrm>
          <a:prstGeom prst="rect">
            <a:avLst/>
          </a:prstGeom>
        </p:spPr>
      </p:pic>
      <p:sp>
        <p:nvSpPr>
          <p:cNvPr id="8" name="Text 4"/>
          <p:cNvSpPr txBox="1"/>
          <p:nvPr/>
        </p:nvSpPr>
        <p:spPr>
          <a:xfrm>
            <a:off x="1024128" y="5989320"/>
            <a:ext cx="5486400" cy="292608"/>
          </a:xfrm>
          <a:prstGeom prst="rect">
            <a:avLst/>
          </a:prstGeom>
          <a:noFill/>
          <a:ln/>
        </p:spPr>
        <p:txBody>
          <a:bodyPr wrap="square" lIns="0" tIns="0" rIns="0" bIns="0" rtlCol="0" anchor="ctr"/>
          <a:lstStyle/>
          <a:p>
            <a:pPr indent="0" marL="0">
              <a:buNone/>
            </a:pPr>
            <a:r>
              <a:rPr lang="en-US" sz="1400" dirty="0">
                <a:solidFill>
                  <a:srgbClr val="9AA2C8"/>
                </a:solidFill>
                <a:latin typeface="Calibri" pitchFamily="34" charset="0"/>
                <a:ea typeface="Calibri" pitchFamily="34" charset="-122"/>
                <a:cs typeface="Calibri" pitchFamily="34" charset="-120"/>
              </a:rPr>
              <a:t>Switch to the browser, press 2</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An LLM learns the same way. The loss is surprise.</a:t>
            </a:r>
            <a:endParaRPr lang="en-US" sz="3400" dirty="0"/>
          </a:p>
        </p:txBody>
      </p:sp>
      <p:sp>
        <p:nvSpPr>
          <p:cNvPr id="3" name="Shape 1"/>
          <p:cNvSpPr/>
          <p:nvPr/>
        </p:nvSpPr>
        <p:spPr>
          <a:xfrm>
            <a:off x="548640" y="1325880"/>
            <a:ext cx="6035040" cy="731520"/>
          </a:xfrm>
          <a:prstGeom prst="roundRect">
            <a:avLst>
              <a:gd name="adj" fmla="val 15000"/>
            </a:avLst>
          </a:prstGeom>
          <a:solidFill>
            <a:srgbClr val="151A33"/>
          </a:solidFill>
          <a:ln w="12700">
            <a:solidFill>
              <a:srgbClr val="151A33"/>
            </a:solidFill>
            <a:prstDash val="solid"/>
          </a:ln>
        </p:spPr>
      </p:sp>
      <p:sp>
        <p:nvSpPr>
          <p:cNvPr id="4" name="Text 2"/>
          <p:cNvSpPr txBox="1"/>
          <p:nvPr/>
        </p:nvSpPr>
        <p:spPr>
          <a:xfrm>
            <a:off x="822960" y="1325880"/>
            <a:ext cx="4114800" cy="731520"/>
          </a:xfrm>
          <a:prstGeom prst="rect">
            <a:avLst/>
          </a:prstGeom>
          <a:noFill/>
          <a:ln/>
        </p:spPr>
        <p:txBody>
          <a:bodyPr wrap="square" lIns="0" tIns="0" rIns="0" bIns="0" rtlCol="0" anchor="ctr"/>
          <a:lstStyle/>
          <a:p>
            <a:pPr indent="0" marL="0">
              <a:buNone/>
            </a:pPr>
            <a:r>
              <a:rPr lang="en-US" sz="2200" dirty="0">
                <a:solidFill>
                  <a:srgbClr val="ECEEF8"/>
                </a:solidFill>
                <a:latin typeface="Courier New" pitchFamily="34" charset="0"/>
                <a:ea typeface="Courier New" pitchFamily="34" charset="-122"/>
                <a:cs typeface="Courier New" pitchFamily="34" charset="-120"/>
              </a:rPr>
              <a:t>for i in range(</a:t>
            </a:r>
            <a:endParaRPr lang="en-US" sz="2200" dirty="0"/>
          </a:p>
        </p:txBody>
      </p:sp>
      <p:sp>
        <p:nvSpPr>
          <p:cNvPr id="5" name="Text 3"/>
          <p:cNvSpPr txBox="1"/>
          <p:nvPr/>
        </p:nvSpPr>
        <p:spPr>
          <a:xfrm>
            <a:off x="4206240" y="1325880"/>
            <a:ext cx="2194560" cy="731520"/>
          </a:xfrm>
          <a:prstGeom prst="rect">
            <a:avLst/>
          </a:prstGeom>
          <a:noFill/>
          <a:ln/>
        </p:spPr>
        <p:txBody>
          <a:bodyPr wrap="square" lIns="0" tIns="0" rIns="0" bIns="0" rtlCol="0" anchor="ctr"/>
          <a:lstStyle/>
          <a:p>
            <a:pPr algn="r" indent="0" marL="0">
              <a:buNone/>
            </a:pPr>
            <a:r>
              <a:rPr lang="en-US" sz="1600" b="1" dirty="0">
                <a:solidFill>
                  <a:srgbClr val="F2A541"/>
                </a:solidFill>
                <a:latin typeface="Calibri" pitchFamily="34" charset="0"/>
                <a:ea typeface="Calibri" pitchFamily="34" charset="-122"/>
                <a:cs typeface="Calibri" pitchFamily="34" charset="-120"/>
              </a:rPr>
              <a:t>next token?</a:t>
            </a:r>
            <a:endParaRPr lang="en-US" sz="1600" dirty="0"/>
          </a:p>
        </p:txBody>
      </p:sp>
      <p:graphicFrame>
        <p:nvGraphicFramePr>
          <p:cNvPr id="6" name="Chart 0" descr=""/>
          <p:cNvGraphicFramePr/>
          <p:nvPr/>
        </p:nvGraphicFramePr>
        <p:xfrm>
          <a:off x="548640" y="2240280"/>
          <a:ext cx="6035040" cy="29260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303520"/>
            <a:ext cx="6035040" cy="914400"/>
          </a:xfrm>
          <a:prstGeom prst="rect">
            <a:avLst/>
          </a:prstGeom>
          <a:noFill/>
          <a:ln/>
        </p:spPr>
        <p:txBody>
          <a:bodyPr wrap="square" lIns="0" tIns="0" rIns="0" bIns="0" rtlCol="0" anchor="t"/>
          <a:lstStyle/>
          <a:p>
            <a:pPr indent="0" marL="0">
              <a:buNone/>
            </a:pPr>
            <a:r>
              <a:rPr lang="en-US" sz="1600" dirty="0">
                <a:solidFill>
                  <a:srgbClr val="5A6285"/>
                </a:solidFill>
                <a:latin typeface="Calibri" pitchFamily="34" charset="0"/>
                <a:ea typeface="Calibri" pitchFamily="34" charset="-122"/>
                <a:cs typeface="Calibri" pitchFamily="34" charset="-120"/>
              </a:rPr>
              <a:t>The model guesses a probability for every token in its vocabulary. The real next token is revealed. Loss = how surprised it was.</a:t>
            </a:r>
            <a:endParaRPr lang="en-US" sz="1600" dirty="0"/>
          </a:p>
        </p:txBody>
      </p:sp>
      <p:sp>
        <p:nvSpPr>
          <p:cNvPr id="8" name="Text 5"/>
          <p:cNvSpPr txBox="1"/>
          <p:nvPr/>
        </p:nvSpPr>
        <p:spPr>
          <a:xfrm>
            <a:off x="7040880" y="1371600"/>
            <a:ext cx="4572000" cy="41148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Surprise scale</a:t>
            </a:r>
            <a:endParaRPr lang="en-US" sz="2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040880" y="1874520"/>
          <a:ext cx="4572000" cy="914400"/>
        </p:xfrm>
        <a:graphic>
          <a:graphicData uri="http://schemas.openxmlformats.org/drawingml/2006/table">
            <a:tbl>
              <a:tblPr/>
              <a:tblGrid>
                <a:gridCol w="3200400"/>
                <a:gridCol w="1371600"/>
              </a:tblGrid>
              <a:tr h="47548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Chance it gave the right token</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1B1F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Surprise</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1B1F3B"/>
                    </a:solidFill>
                  </a:tcPr>
                </a:tc>
              </a:tr>
              <a:tr h="475488">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r>
              <a:tr h="475488">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0.7</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r>
              <a:tr h="475488">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2.3</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r>
              <a:tr h="475488">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4.6</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r>
              <a:tr h="475488">
                <a:tc>
                  <a:txBody>
                    <a:bodyPr/>
                    <a:lstStyle/>
                    <a:p>
                      <a:pPr indent="0" marL="0">
                        <a:buNone/>
                      </a:pPr>
                      <a:r>
                        <a:rPr lang="en-US" sz="1600" dirty="0">
                          <a:solidFill>
                            <a:srgbClr val="1B1F3B"/>
                          </a:solidFill>
                          <a:latin typeface="Calibri" pitchFamily="34" charset="0"/>
                          <a:ea typeface="Calibri" pitchFamily="34" charset="-122"/>
                          <a:cs typeface="Calibri" pitchFamily="34" charset="-120"/>
                        </a:rPr>
                        <a:t>1 in 100,000 (random guess)</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indent="0" marL="0">
                        <a:buNone/>
                      </a:pPr>
                      <a:r>
                        <a:rPr lang="en-US" sz="1600" b="1" dirty="0">
                          <a:solidFill>
                            <a:srgbClr val="C77A12"/>
                          </a:solidFill>
                          <a:latin typeface="Calibri" pitchFamily="34" charset="0"/>
                          <a:ea typeface="Calibri" pitchFamily="34" charset="-122"/>
                          <a:cs typeface="Calibri" pitchFamily="34" charset="-120"/>
                        </a:rPr>
                        <a:t>11.5</a:t>
                      </a:r>
                      <a:endParaRPr lang="en-US" sz="16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tcPr>
                </a:tc>
              </a:tr>
            </a:tbl>
          </a:graphicData>
        </a:graphic>
      </p:graphicFrame>
      <p:sp>
        <p:nvSpPr>
          <p:cNvPr id="10" name="Shape 6"/>
          <p:cNvSpPr/>
          <p:nvPr/>
        </p:nvSpPr>
        <p:spPr>
          <a:xfrm>
            <a:off x="7040880" y="4892040"/>
            <a:ext cx="4572000" cy="1325880"/>
          </a:xfrm>
          <a:prstGeom prst="roundRect">
            <a:avLst>
              <a:gd name="adj" fmla="val 8276"/>
            </a:avLst>
          </a:prstGeom>
          <a:solidFill>
            <a:srgbClr val="E3F6F2"/>
          </a:solidFill>
          <a:ln w="12700">
            <a:solidFill>
              <a:srgbClr val="E3F6F2"/>
            </a:solidFill>
            <a:prstDash val="solid"/>
          </a:ln>
        </p:spPr>
      </p:sp>
      <p:sp>
        <p:nvSpPr>
          <p:cNvPr id="11" name="Text 7"/>
          <p:cNvSpPr txBox="1"/>
          <p:nvPr/>
        </p:nvSpPr>
        <p:spPr>
          <a:xfrm>
            <a:off x="7269480" y="4983480"/>
            <a:ext cx="4114800" cy="1143000"/>
          </a:xfrm>
          <a:prstGeom prst="rect">
            <a:avLst/>
          </a:prstGeom>
          <a:noFill/>
          <a:ln/>
        </p:spPr>
        <p:txBody>
          <a:bodyPr wrap="square" lIns="0" tIns="0" rIns="0" bIns="0" rtlCol="0" anchor="ctr"/>
          <a:lstStyle/>
          <a:p>
            <a:pPr indent="0" marL="0">
              <a:buNone/>
            </a:pPr>
            <a:r>
              <a:rPr lang="en-US" sz="1700" b="1" dirty="0">
                <a:solidFill>
                  <a:srgbClr val="13897A"/>
                </a:solidFill>
                <a:latin typeface="Calibri" pitchFamily="34" charset="0"/>
                <a:ea typeface="Calibri" pitchFamily="34" charset="-122"/>
                <a:cs typeface="Calibri" pitchFamily="34" charset="-120"/>
              </a:rPr>
              <a:t>Guess → score → backprop → nudge. Same loop, run on trillions of next-token guesses.</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51A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65000"/>
          </a:blip>
          <a:stretch>
            <a:fillRect/>
          </a:stretch>
        </p:blipFill>
        <p:spPr>
          <a:xfrm>
            <a:off x="6949440" y="822960"/>
            <a:ext cx="5120640" cy="5120640"/>
          </a:xfrm>
          <a:prstGeom prst="rect">
            <a:avLst/>
          </a:prstGeom>
        </p:spPr>
      </p:pic>
      <p:sp>
        <p:nvSpPr>
          <p:cNvPr id="3" name="Text 0"/>
          <p:cNvSpPr txBox="1"/>
          <p:nvPr/>
        </p:nvSpPr>
        <p:spPr>
          <a:xfrm>
            <a:off x="640080" y="1097280"/>
            <a:ext cx="5943600" cy="457200"/>
          </a:xfrm>
          <a:prstGeom prst="rect">
            <a:avLst/>
          </a:prstGeom>
          <a:noFill/>
          <a:ln/>
        </p:spPr>
        <p:txBody>
          <a:bodyPr wrap="square" lIns="0" tIns="0" rIns="0" bIns="0" rtlCol="0" anchor="t"/>
          <a:lstStyle/>
          <a:p>
            <a:pPr indent="0" marL="0">
              <a:buNone/>
            </a:pPr>
            <a:r>
              <a:rPr lang="en-US" sz="1800" b="1" dirty="0">
                <a:solidFill>
                  <a:srgbClr val="3CC6B0"/>
                </a:solidFill>
                <a:latin typeface="Calibri" pitchFamily="34" charset="0"/>
                <a:ea typeface="Calibri" pitchFamily="34" charset="-122"/>
                <a:cs typeface="Calibri" pitchFamily="34" charset="-120"/>
              </a:rPr>
              <a:t>Live demo 3</a:t>
            </a:r>
            <a:endParaRPr lang="en-US" sz="1800" dirty="0"/>
          </a:p>
        </p:txBody>
      </p:sp>
      <p:sp>
        <p:nvSpPr>
          <p:cNvPr id="4" name="Text 1"/>
          <p:cNvSpPr txBox="1"/>
          <p:nvPr/>
        </p:nvSpPr>
        <p:spPr>
          <a:xfrm>
            <a:off x="640080" y="1600200"/>
            <a:ext cx="6400800" cy="13716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 729-knob language model learns names</a:t>
            </a:r>
            <a:endParaRPr lang="en-US" sz="3800" dirty="0"/>
          </a:p>
        </p:txBody>
      </p:sp>
      <p:sp>
        <p:nvSpPr>
          <p:cNvPr id="5" name="Text 2"/>
          <p:cNvSpPr txBox="1"/>
          <p:nvPr/>
        </p:nvSpPr>
        <p:spPr>
          <a:xfrm>
            <a:off x="640080" y="3246120"/>
            <a:ext cx="5486400" cy="365760"/>
          </a:xfrm>
          <a:prstGeom prst="rect">
            <a:avLst/>
          </a:prstGeom>
          <a:noFill/>
          <a:ln/>
        </p:spPr>
        <p:txBody>
          <a:bodyPr wrap="square" lIns="0" tIns="0" rIns="0" bIns="0" rtlCol="0" anchor="t"/>
          <a:lstStyle/>
          <a:p>
            <a:pPr indent="0" marL="0">
              <a:buNone/>
            </a:pPr>
            <a:r>
              <a:rPr lang="en-US" sz="1600" dirty="0">
                <a:solidFill>
                  <a:srgbClr val="9AA2C8"/>
                </a:solidFill>
                <a:latin typeface="Calibri" pitchFamily="34" charset="0"/>
                <a:ea typeface="Calibri" pitchFamily="34" charset="-122"/>
                <a:cs typeface="Calibri" pitchFamily="34" charset="-120"/>
              </a:rPr>
              <a:t>What to watch</a:t>
            </a:r>
            <a:endParaRPr lang="en-US" sz="1600" dirty="0"/>
          </a:p>
        </p:txBody>
      </p:sp>
      <p:sp>
        <p:nvSpPr>
          <p:cNvPr id="6" name="Text 3"/>
          <p:cNvSpPr txBox="1"/>
          <p:nvPr/>
        </p:nvSpPr>
        <p:spPr>
          <a:xfrm>
            <a:off x="640080" y="3611880"/>
            <a:ext cx="6309360" cy="201168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It only sees the previous letter (an LLM sees thousands of tokens)</a:t>
            </a:r>
            <a:endParaRPr lang="en-US" sz="2000" dirty="0"/>
          </a:p>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Gibberish turns into name-shaped words</a:t>
            </a:r>
            <a:endParaRPr lang="en-US" sz="2000" dirty="0"/>
          </a:p>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Loss falls from 3.30, the "knows nothing" line</a:t>
            </a:r>
            <a:endParaRPr lang="en-US" sz="2000" dirty="0"/>
          </a:p>
          <a:p>
            <a:pPr marL="342900" indent="-342900">
              <a:spcAft>
                <a:spcPts val="800"/>
              </a:spcAft>
              <a:buSzPct val="100000"/>
              <a:buChar char="•"/>
            </a:pPr>
            <a:r>
              <a:rPr lang="en-US" sz="2000" dirty="0">
                <a:solidFill>
                  <a:srgbClr val="ECEEF8"/>
                </a:solidFill>
                <a:latin typeface="Calibri" pitchFamily="34" charset="0"/>
                <a:ea typeface="Calibri" pitchFamily="34" charset="-122"/>
                <a:cs typeface="Calibri" pitchFamily="34" charset="-120"/>
              </a:rPr>
              <a:t>Type a name: how surprised is it?</a:t>
            </a:r>
            <a:endParaRPr lang="en-US" sz="2000" dirty="0"/>
          </a:p>
        </p:txBody>
      </p:sp>
      <p:pic>
        <p:nvPicPr>
          <p:cNvPr id="7" name="Image 1" descr="preencoded.png">    </p:cNvPr>
          <p:cNvPicPr>
            <a:picLocks noChangeAspect="1"/>
          </p:cNvPicPr>
          <p:nvPr/>
        </p:nvPicPr>
        <p:blipFill>
          <a:blip r:embed="rId2"/>
          <a:stretch>
            <a:fillRect/>
          </a:stretch>
        </p:blipFill>
        <p:spPr>
          <a:xfrm>
            <a:off x="640080" y="5989320"/>
            <a:ext cx="292608" cy="292608"/>
          </a:xfrm>
          <a:prstGeom prst="rect">
            <a:avLst/>
          </a:prstGeom>
        </p:spPr>
      </p:pic>
      <p:sp>
        <p:nvSpPr>
          <p:cNvPr id="8" name="Text 4"/>
          <p:cNvSpPr txBox="1"/>
          <p:nvPr/>
        </p:nvSpPr>
        <p:spPr>
          <a:xfrm>
            <a:off x="1024128" y="5989320"/>
            <a:ext cx="5486400" cy="292608"/>
          </a:xfrm>
          <a:prstGeom prst="rect">
            <a:avLst/>
          </a:prstGeom>
          <a:noFill/>
          <a:ln/>
        </p:spPr>
        <p:txBody>
          <a:bodyPr wrap="square" lIns="0" tIns="0" rIns="0" bIns="0" rtlCol="0" anchor="ctr"/>
          <a:lstStyle/>
          <a:p>
            <a:pPr indent="0" marL="0">
              <a:buNone/>
            </a:pPr>
            <a:r>
              <a:rPr lang="en-US" sz="1400" dirty="0">
                <a:solidFill>
                  <a:srgbClr val="9AA2C8"/>
                </a:solidFill>
                <a:latin typeface="Calibri" pitchFamily="34" charset="0"/>
                <a:ea typeface="Calibri" pitchFamily="34" charset="-122"/>
                <a:cs typeface="Calibri" pitchFamily="34" charset="-120"/>
              </a:rPr>
              <a:t>Switch to the browser, press 3</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Same loop. Wildly different scale.</a:t>
            </a:r>
            <a:endParaRPr lang="en-US" sz="3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108960"/>
                <a:gridCol w="2194560"/>
                <a:gridCol w="2926080"/>
                <a:gridCol w="2834640"/>
              </a:tblGrid>
              <a:tr h="685800">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Model</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1B1F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Knobs</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1B1F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Training examples</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1B1F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Training time</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1B1F3B"/>
                    </a:solidFill>
                  </a:tcPr>
                </a:tc>
              </a:tr>
              <a:tr h="685800">
                <a:tc>
                  <a:txBody>
                    <a:bodyPr/>
                    <a:lstStyle/>
                    <a:p>
                      <a:pPr indent="0" marL="0">
                        <a:buNone/>
                      </a:pPr>
                      <a:r>
                        <a:rPr lang="en-US" sz="1900" dirty="0">
                          <a:solidFill>
                            <a:srgbClr val="1B1F3B"/>
                          </a:solidFill>
                          <a:latin typeface="Calibri" pitchFamily="34" charset="0"/>
                          <a:ea typeface="Calibri" pitchFamily="34" charset="-122"/>
                          <a:cs typeface="Calibri" pitchFamily="34" charset="-120"/>
                        </a:rPr>
                        <a:t>Our neuron (Demo 1)</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indent="0" marL="0">
                        <a:buNone/>
                      </a:pPr>
                      <a:r>
                        <a:rPr lang="en-US" sz="1900" dirty="0">
                          <a:solidFill>
                            <a:srgbClr val="1B1F3B"/>
                          </a:solidFill>
                          <a:latin typeface="Calibri" pitchFamily="34" charset="0"/>
                          <a:ea typeface="Calibri" pitchFamily="34" charset="-122"/>
                          <a:cs typeface="Calibri" pitchFamily="34" charset="-120"/>
                        </a:rPr>
                        <a:t>2</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indent="0" marL="0">
                        <a:buNone/>
                      </a:pPr>
                      <a:r>
                        <a:rPr lang="en-US" sz="1900" dirty="0">
                          <a:solidFill>
                            <a:srgbClr val="1B1F3B"/>
                          </a:solidFill>
                          <a:latin typeface="Calibri" pitchFamily="34" charset="0"/>
                          <a:ea typeface="Calibri" pitchFamily="34" charset="-122"/>
                          <a:cs typeface="Calibri" pitchFamily="34" charset="-120"/>
                        </a:rPr>
                        <a:t>24 readings</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indent="0" marL="0">
                        <a:buNone/>
                      </a:pPr>
                      <a:r>
                        <a:rPr lang="en-US" sz="1900" dirty="0">
                          <a:solidFill>
                            <a:srgbClr val="1B1F3B"/>
                          </a:solidFill>
                          <a:latin typeface="Calibri" pitchFamily="34" charset="0"/>
                          <a:ea typeface="Calibri" pitchFamily="34" charset="-122"/>
                          <a:cs typeface="Calibri" pitchFamily="34" charset="-120"/>
                        </a:rPr>
                        <a:t>milliseconds</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r>
              <a:tr h="685800">
                <a:tc>
                  <a:txBody>
                    <a:bodyPr/>
                    <a:lstStyle/>
                    <a:p>
                      <a:pPr indent="0" marL="0">
                        <a:buNone/>
                      </a:pPr>
                      <a:r>
                        <a:rPr lang="en-US" sz="1900" dirty="0">
                          <a:solidFill>
                            <a:srgbClr val="1B1F3B"/>
                          </a:solidFill>
                          <a:latin typeface="Calibri" pitchFamily="34" charset="0"/>
                          <a:ea typeface="Calibri" pitchFamily="34" charset="-122"/>
                          <a:cs typeface="Calibri" pitchFamily="34" charset="-120"/>
                        </a:rPr>
                        <a:t>Names model (Demo 3)</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indent="0" marL="0">
                        <a:buNone/>
                      </a:pPr>
                      <a:r>
                        <a:rPr lang="en-US" sz="1900" dirty="0">
                          <a:solidFill>
                            <a:srgbClr val="1B1F3B"/>
                          </a:solidFill>
                          <a:latin typeface="Calibri" pitchFamily="34" charset="0"/>
                          <a:ea typeface="Calibri" pitchFamily="34" charset="-122"/>
                          <a:cs typeface="Calibri" pitchFamily="34" charset="-120"/>
                        </a:rPr>
                        <a:t>729</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indent="0" marL="0">
                        <a:buNone/>
                      </a:pPr>
                      <a:r>
                        <a:rPr lang="en-US" sz="1900" dirty="0">
                          <a:solidFill>
                            <a:srgbClr val="1B1F3B"/>
                          </a:solidFill>
                          <a:latin typeface="Calibri" pitchFamily="34" charset="0"/>
                          <a:ea typeface="Calibri" pitchFamily="34" charset="-122"/>
                          <a:cs typeface="Calibri" pitchFamily="34" charset="-120"/>
                        </a:rPr>
                        <a:t>~1,160 letter pairs</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c>
                  <a:txBody>
                    <a:bodyPr/>
                    <a:lstStyle/>
                    <a:p>
                      <a:pPr indent="0" marL="0">
                        <a:buNone/>
                      </a:pPr>
                      <a:r>
                        <a:rPr lang="en-US" sz="1900" dirty="0">
                          <a:solidFill>
                            <a:srgbClr val="1B1F3B"/>
                          </a:solidFill>
                          <a:latin typeface="Calibri" pitchFamily="34" charset="0"/>
                          <a:ea typeface="Calibri" pitchFamily="34" charset="-122"/>
                          <a:cs typeface="Calibri" pitchFamily="34" charset="-120"/>
                        </a:rPr>
                        <a:t>seconds</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3F5FA"/>
                    </a:solidFill>
                  </a:tcPr>
                </a:tc>
              </a:tr>
              <a:tr h="685800">
                <a:tc>
                  <a:txBody>
                    <a:bodyPr/>
                    <a:lstStyle/>
                    <a:p>
                      <a:pPr indent="0" marL="0">
                        <a:buNone/>
                      </a:pPr>
                      <a:r>
                        <a:rPr lang="en-US" sz="1900" b="1" dirty="0">
                          <a:solidFill>
                            <a:srgbClr val="1B1F3B"/>
                          </a:solidFill>
                          <a:latin typeface="Calibri" pitchFamily="34" charset="0"/>
                          <a:ea typeface="Calibri" pitchFamily="34" charset="-122"/>
                          <a:cs typeface="Calibri" pitchFamily="34" charset="-120"/>
                        </a:rPr>
                        <a:t>Llama 3.1 405B</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indent="0" marL="0">
                        <a:buNone/>
                      </a:pPr>
                      <a:r>
                        <a:rPr lang="en-US" sz="1900" b="1" dirty="0">
                          <a:solidFill>
                            <a:srgbClr val="C77A12"/>
                          </a:solidFill>
                          <a:latin typeface="Calibri" pitchFamily="34" charset="0"/>
                          <a:ea typeface="Calibri" pitchFamily="34" charset="-122"/>
                          <a:cs typeface="Calibri" pitchFamily="34" charset="-120"/>
                        </a:rPr>
                        <a:t>~405 billion</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indent="0" marL="0">
                        <a:buNone/>
                      </a:pPr>
                      <a:r>
                        <a:rPr lang="en-US" sz="1900" b="1" dirty="0">
                          <a:solidFill>
                            <a:srgbClr val="C77A12"/>
                          </a:solidFill>
                          <a:latin typeface="Calibri" pitchFamily="34" charset="0"/>
                          <a:ea typeface="Calibri" pitchFamily="34" charset="-122"/>
                          <a:cs typeface="Calibri" pitchFamily="34" charset="-120"/>
                        </a:rPr>
                        <a:t>~15 trillion tokens</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c>
                  <a:txBody>
                    <a:bodyPr/>
                    <a:lstStyle/>
                    <a:p>
                      <a:pPr indent="0" marL="0">
                        <a:buNone/>
                      </a:pPr>
                      <a:r>
                        <a:rPr lang="en-US" sz="1900" b="1" dirty="0">
                          <a:solidFill>
                            <a:srgbClr val="C77A12"/>
                          </a:solidFill>
                          <a:latin typeface="Calibri" pitchFamily="34" charset="0"/>
                          <a:ea typeface="Calibri" pitchFamily="34" charset="-122"/>
                          <a:cs typeface="Calibri" pitchFamily="34" charset="-120"/>
                        </a:rPr>
                        <a:t>months, on ~16,000 GPUs</a:t>
                      </a:r>
                      <a:endParaRPr lang="en-US" sz="1900" dirty="0">
                        <a:latin typeface="Calibri" charset="0"/>
                        <a:ea typeface="Calibri" charset="0"/>
                        <a:cs typeface="Calibri" charset="0"/>
                      </a:endParaRPr>
                    </a:p>
                  </a:txBody>
                  <a:tcPr marL="91440" marR="91440" marT="45720" marB="45720" anchor="ctr">
                    <a:lnL w="12700" cap="flat" cmpd="sng" algn="ctr">
                      <a:solidFill>
                        <a:srgbClr val="E1E4EF"/>
                      </a:solidFill>
                      <a:prstDash val="solid"/>
                      <a:round/>
                      <a:headEnd type="none" w="med" len="med"/>
                      <a:tailEnd type="none" w="med" len="med"/>
                    </a:lnL>
                    <a:lnR w="12700" cap="flat" cmpd="sng" algn="ctr">
                      <a:solidFill>
                        <a:srgbClr val="E1E4EF"/>
                      </a:solidFill>
                      <a:prstDash val="solid"/>
                      <a:round/>
                      <a:headEnd type="none" w="med" len="med"/>
                      <a:tailEnd type="none" w="med" len="med"/>
                    </a:lnR>
                    <a:lnT w="12700" cap="flat" cmpd="sng" algn="ctr">
                      <a:solidFill>
                        <a:srgbClr val="E1E4EF"/>
                      </a:solidFill>
                      <a:prstDash val="solid"/>
                      <a:round/>
                      <a:headEnd type="none" w="med" len="med"/>
                      <a:tailEnd type="none" w="med" len="med"/>
                    </a:lnT>
                    <a:lnB w="12700" cap="flat" cmpd="sng" algn="ctr">
                      <a:solidFill>
                        <a:srgbClr val="E1E4EF"/>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572000"/>
            <a:ext cx="11064240" cy="1463040"/>
          </a:xfrm>
          <a:prstGeom prst="roundRect">
            <a:avLst>
              <a:gd name="adj" fmla="val 7500"/>
            </a:avLst>
          </a:prstGeom>
          <a:solidFill>
            <a:srgbClr val="E3F6F2"/>
          </a:solidFill>
          <a:ln w="12700">
            <a:solidFill>
              <a:srgbClr val="E3F6F2"/>
            </a:solidFill>
            <a:prstDash val="solid"/>
          </a:ln>
        </p:spPr>
      </p:sp>
      <p:sp>
        <p:nvSpPr>
          <p:cNvPr id="5" name="Text 2"/>
          <p:cNvSpPr txBox="1"/>
          <p:nvPr/>
        </p:nvSpPr>
        <p:spPr>
          <a:xfrm>
            <a:off x="868680" y="4663440"/>
            <a:ext cx="10424160" cy="1280160"/>
          </a:xfrm>
          <a:prstGeom prst="rect">
            <a:avLst/>
          </a:prstGeom>
          <a:noFill/>
          <a:ln/>
        </p:spPr>
        <p:txBody>
          <a:bodyPr wrap="square" lIns="0" tIns="0" rIns="0" bIns="0" rtlCol="0" anchor="ctr"/>
          <a:lstStyle/>
          <a:p>
            <a:pPr indent="0" marL="0">
              <a:buNone/>
            </a:pPr>
            <a:r>
              <a:rPr lang="en-US" sz="1800" b="1" dirty="0">
                <a:solidFill>
                  <a:srgbClr val="13897A"/>
                </a:solidFill>
                <a:latin typeface="Calibri" pitchFamily="34" charset="0"/>
                <a:ea typeface="Calibri" pitchFamily="34" charset="-122"/>
                <a:cs typeface="Calibri" pitchFamily="34" charset="-120"/>
              </a:rPr>
              <a:t>The ideas don't change with scale. The engineering does.</a:t>
            </a:r>
            <a:endParaRPr lang="en-US" sz="1800" dirty="0"/>
          </a:p>
          <a:p>
            <a:pPr indent="0" marL="0">
              <a:buNone/>
            </a:pPr>
            <a:r>
              <a:rPr lang="en-US" sz="1800" dirty="0">
                <a:solidFill>
                  <a:srgbClr val="1B1F3B"/>
                </a:solidFill>
                <a:latin typeface="Calibri" pitchFamily="34" charset="0"/>
                <a:ea typeface="Calibri" pitchFamily="34" charset="-122"/>
                <a:cs typeface="Calibri" pitchFamily="34" charset="-120"/>
              </a:rPr>
              <a:t>Those 405 billion numbers are the frozen weights file from the inference talk. Now you know where every one of them came from: millions of nudges.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1B1F3B"/>
                </a:solidFill>
                <a:latin typeface="Cambria" pitchFamily="34" charset="0"/>
                <a:ea typeface="Cambria" pitchFamily="34" charset="-122"/>
                <a:cs typeface="Cambria" pitchFamily="34" charset="-120"/>
              </a:rPr>
              <a:t>What this means for your day job</a:t>
            </a:r>
            <a:endParaRPr lang="en-US" sz="3400" dirty="0"/>
          </a:p>
        </p:txBody>
      </p:sp>
      <p:sp>
        <p:nvSpPr>
          <p:cNvPr id="3" name="Shape 1"/>
          <p:cNvSpPr/>
          <p:nvPr/>
        </p:nvSpPr>
        <p:spPr>
          <a:xfrm>
            <a:off x="548640" y="1417320"/>
            <a:ext cx="3520440" cy="4480560"/>
          </a:xfrm>
          <a:prstGeom prst="roundRect">
            <a:avLst>
              <a:gd name="adj" fmla="val 3117"/>
            </a:avLst>
          </a:prstGeom>
          <a:solidFill>
            <a:srgbClr val="FDF1DF"/>
          </a:solidFill>
          <a:ln w="12700">
            <a:solidFill>
              <a:srgbClr val="FDF1DF"/>
            </a:solidFill>
            <a:prstDash val="solid"/>
          </a:ln>
        </p:spPr>
      </p:sp>
      <p:sp>
        <p:nvSpPr>
          <p:cNvPr id="4" name="Shape 2"/>
          <p:cNvSpPr/>
          <p:nvPr/>
        </p:nvSpPr>
        <p:spPr>
          <a:xfrm>
            <a:off x="868680" y="1691640"/>
            <a:ext cx="868680" cy="86868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1069848" y="1892808"/>
            <a:ext cx="466344" cy="466344"/>
          </a:xfrm>
          <a:prstGeom prst="rect">
            <a:avLst/>
          </a:prstGeom>
        </p:spPr>
      </p:pic>
      <p:sp>
        <p:nvSpPr>
          <p:cNvPr id="6" name="Text 3"/>
          <p:cNvSpPr txBox="1"/>
          <p:nvPr/>
        </p:nvSpPr>
        <p:spPr>
          <a:xfrm>
            <a:off x="868680" y="2788920"/>
            <a:ext cx="2926080" cy="91440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Trained to be unsurprising, not correct</a:t>
            </a:r>
            <a:endParaRPr lang="en-US" sz="2000" dirty="0"/>
          </a:p>
        </p:txBody>
      </p:sp>
      <p:sp>
        <p:nvSpPr>
          <p:cNvPr id="7" name="Text 4"/>
          <p:cNvSpPr txBox="1"/>
          <p:nvPr/>
        </p:nvSpPr>
        <p:spPr>
          <a:xfrm>
            <a:off x="868680" y="3794760"/>
            <a:ext cx="2926080" cy="182880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A confident wrong answer is just a low-surprise guess. Verify facts, APIs and versions.</a:t>
            </a:r>
            <a:endParaRPr lang="en-US" sz="1700" dirty="0"/>
          </a:p>
        </p:txBody>
      </p:sp>
      <p:sp>
        <p:nvSpPr>
          <p:cNvPr id="8" name="Shape 5"/>
          <p:cNvSpPr/>
          <p:nvPr/>
        </p:nvSpPr>
        <p:spPr>
          <a:xfrm>
            <a:off x="4297680" y="1417320"/>
            <a:ext cx="3520440" cy="4480560"/>
          </a:xfrm>
          <a:prstGeom prst="roundRect">
            <a:avLst>
              <a:gd name="adj" fmla="val 3117"/>
            </a:avLst>
          </a:prstGeom>
          <a:solidFill>
            <a:srgbClr val="E3F6F2"/>
          </a:solidFill>
          <a:ln w="12700">
            <a:solidFill>
              <a:srgbClr val="E3F6F2"/>
            </a:solidFill>
            <a:prstDash val="solid"/>
          </a:ln>
        </p:spPr>
      </p:sp>
      <p:sp>
        <p:nvSpPr>
          <p:cNvPr id="9" name="Shape 6"/>
          <p:cNvSpPr/>
          <p:nvPr/>
        </p:nvSpPr>
        <p:spPr>
          <a:xfrm>
            <a:off x="4617720" y="1691640"/>
            <a:ext cx="868680" cy="868680"/>
          </a:xfrm>
          <a:prstGeom prst="ellipse">
            <a:avLst/>
          </a:prstGeom>
          <a:solidFill>
            <a:srgbClr val="3CC6B0"/>
          </a:solidFill>
          <a:ln w="12700">
            <a:solidFill>
              <a:srgbClr val="3CC6B0"/>
            </a:solidFill>
            <a:prstDash val="solid"/>
          </a:ln>
        </p:spPr>
      </p:sp>
      <p:pic>
        <p:nvPicPr>
          <p:cNvPr id="10" name="Image 1" descr="preencoded.png">    </p:cNvPr>
          <p:cNvPicPr>
            <a:picLocks noChangeAspect="1"/>
          </p:cNvPicPr>
          <p:nvPr/>
        </p:nvPicPr>
        <p:blipFill>
          <a:blip r:embed="rId2"/>
          <a:stretch>
            <a:fillRect/>
          </a:stretch>
        </p:blipFill>
        <p:spPr>
          <a:xfrm>
            <a:off x="4818888" y="1892808"/>
            <a:ext cx="466344" cy="466344"/>
          </a:xfrm>
          <a:prstGeom prst="rect">
            <a:avLst/>
          </a:prstGeom>
        </p:spPr>
      </p:pic>
      <p:sp>
        <p:nvSpPr>
          <p:cNvPr id="11" name="Text 7"/>
          <p:cNvSpPr txBox="1"/>
          <p:nvPr/>
        </p:nvSpPr>
        <p:spPr>
          <a:xfrm>
            <a:off x="4617720" y="2788920"/>
            <a:ext cx="2926080" cy="91440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It doesn't learn from your chat</a:t>
            </a:r>
            <a:endParaRPr lang="en-US" sz="2000" dirty="0"/>
          </a:p>
        </p:txBody>
      </p:sp>
      <p:sp>
        <p:nvSpPr>
          <p:cNvPr id="12" name="Text 8"/>
          <p:cNvSpPr txBox="1"/>
          <p:nvPr/>
        </p:nvSpPr>
        <p:spPr>
          <a:xfrm>
            <a:off x="4617720" y="3794760"/>
            <a:ext cx="2926080" cy="182880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Weights are frozen after training. Your conversation is input, not training. Next session, same knobs.</a:t>
            </a:r>
            <a:endParaRPr lang="en-US" sz="1700" dirty="0"/>
          </a:p>
        </p:txBody>
      </p:sp>
      <p:sp>
        <p:nvSpPr>
          <p:cNvPr id="13" name="Shape 9"/>
          <p:cNvSpPr/>
          <p:nvPr/>
        </p:nvSpPr>
        <p:spPr>
          <a:xfrm>
            <a:off x="8046720" y="1417320"/>
            <a:ext cx="3520440" cy="4480560"/>
          </a:xfrm>
          <a:prstGeom prst="roundRect">
            <a:avLst>
              <a:gd name="adj" fmla="val 3117"/>
            </a:avLst>
          </a:prstGeom>
          <a:solidFill>
            <a:srgbClr val="F3F5FA"/>
          </a:solidFill>
          <a:ln w="12700">
            <a:solidFill>
              <a:srgbClr val="F3F5FA"/>
            </a:solidFill>
            <a:prstDash val="solid"/>
          </a:ln>
        </p:spPr>
      </p:sp>
      <p:sp>
        <p:nvSpPr>
          <p:cNvPr id="14" name="Shape 10"/>
          <p:cNvSpPr/>
          <p:nvPr/>
        </p:nvSpPr>
        <p:spPr>
          <a:xfrm>
            <a:off x="8366760" y="1691640"/>
            <a:ext cx="868680" cy="868680"/>
          </a:xfrm>
          <a:prstGeom prst="ellipse">
            <a:avLst/>
          </a:prstGeom>
          <a:solidFill>
            <a:srgbClr val="1B1F3B"/>
          </a:solidFill>
          <a:ln w="12700">
            <a:solidFill>
              <a:srgbClr val="1B1F3B"/>
            </a:solidFill>
            <a:prstDash val="solid"/>
          </a:ln>
        </p:spPr>
      </p:sp>
      <p:pic>
        <p:nvPicPr>
          <p:cNvPr id="15" name="Image 2" descr="preencoded.png">    </p:cNvPr>
          <p:cNvPicPr>
            <a:picLocks noChangeAspect="1"/>
          </p:cNvPicPr>
          <p:nvPr/>
        </p:nvPicPr>
        <p:blipFill>
          <a:blip r:embed="rId3"/>
          <a:stretch>
            <a:fillRect/>
          </a:stretch>
        </p:blipFill>
        <p:spPr>
          <a:xfrm>
            <a:off x="8567928" y="1892808"/>
            <a:ext cx="466344" cy="466344"/>
          </a:xfrm>
          <a:prstGeom prst="rect">
            <a:avLst/>
          </a:prstGeom>
        </p:spPr>
      </p:pic>
      <p:sp>
        <p:nvSpPr>
          <p:cNvPr id="16" name="Text 11"/>
          <p:cNvSpPr txBox="1"/>
          <p:nvPr/>
        </p:nvSpPr>
        <p:spPr>
          <a:xfrm>
            <a:off x="8366760" y="2788920"/>
            <a:ext cx="2926080" cy="914400"/>
          </a:xfrm>
          <a:prstGeom prst="rect">
            <a:avLst/>
          </a:prstGeom>
          <a:noFill/>
          <a:ln/>
        </p:spPr>
        <p:txBody>
          <a:bodyPr wrap="square" lIns="0" tIns="0" rIns="0" bIns="0" rtlCol="0" anchor="t"/>
          <a:lstStyle/>
          <a:p>
            <a:pPr indent="0" marL="0">
              <a:buNone/>
            </a:pPr>
            <a:r>
              <a:rPr lang="en-US" sz="2000" b="1" dirty="0">
                <a:solidFill>
                  <a:srgbClr val="1B1F3B"/>
                </a:solidFill>
                <a:latin typeface="Calibri" pitchFamily="34" charset="0"/>
                <a:ea typeface="Calibri" pitchFamily="34" charset="-122"/>
                <a:cs typeface="Calibri" pitchFamily="34" charset="-120"/>
              </a:rPr>
              <a:t>Best at what it saw most</a:t>
            </a:r>
            <a:endParaRPr lang="en-US" sz="2000" dirty="0"/>
          </a:p>
        </p:txBody>
      </p:sp>
      <p:sp>
        <p:nvSpPr>
          <p:cNvPr id="17" name="Text 12"/>
          <p:cNvSpPr txBox="1"/>
          <p:nvPr/>
        </p:nvSpPr>
        <p:spPr>
          <a:xfrm>
            <a:off x="8366760" y="3794760"/>
            <a:ext cx="2926080" cy="1828800"/>
          </a:xfrm>
          <a:prstGeom prst="rect">
            <a:avLst/>
          </a:prstGeom>
          <a:noFill/>
          <a:ln/>
        </p:spPr>
        <p:txBody>
          <a:bodyPr wrap="square" lIns="0" tIns="0" rIns="0" bIns="0" rtlCol="0" anchor="t"/>
          <a:lstStyle/>
          <a:p>
            <a:pPr indent="0" marL="0">
              <a:buNone/>
            </a:pPr>
            <a:r>
              <a:rPr lang="en-US" sz="1700" dirty="0">
                <a:solidFill>
                  <a:srgbClr val="1B1F3B"/>
                </a:solidFill>
                <a:latin typeface="Calibri" pitchFamily="34" charset="0"/>
                <a:ea typeface="Calibri" pitchFamily="34" charset="-122"/>
                <a:cs typeface="Calibri" pitchFamily="34" charset="-120"/>
              </a:rPr>
              <a:t>Popular languages got billions of nudges. Your internal codebase got none. Give it context and examples.</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51A33"/>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mental model to walk out with</a:t>
            </a:r>
            <a:endParaRPr lang="en-US" sz="3400" dirty="0"/>
          </a:p>
        </p:txBody>
      </p:sp>
      <p:sp>
        <p:nvSpPr>
          <p:cNvPr id="3" name="Shape 1"/>
          <p:cNvSpPr/>
          <p:nvPr/>
        </p:nvSpPr>
        <p:spPr>
          <a:xfrm>
            <a:off x="640080" y="1463040"/>
            <a:ext cx="566928" cy="566928"/>
          </a:xfrm>
          <a:prstGeom prst="ellipse">
            <a:avLst/>
          </a:prstGeom>
          <a:solidFill>
            <a:srgbClr val="3CC6B0"/>
          </a:solidFill>
          <a:ln w="12700">
            <a:solidFill>
              <a:srgbClr val="3CC6B0"/>
            </a:solidFill>
            <a:prstDash val="solid"/>
          </a:ln>
        </p:spPr>
      </p:sp>
      <p:sp>
        <p:nvSpPr>
          <p:cNvPr id="4" name="Text 2"/>
          <p:cNvSpPr txBox="1"/>
          <p:nvPr/>
        </p:nvSpPr>
        <p:spPr>
          <a:xfrm>
            <a:off x="640080" y="1463040"/>
            <a:ext cx="566928" cy="566928"/>
          </a:xfrm>
          <a:prstGeom prst="rect">
            <a:avLst/>
          </a:prstGeom>
          <a:noFill/>
          <a:ln/>
        </p:spPr>
        <p:txBody>
          <a:bodyPr wrap="square" lIns="0" tIns="0" rIns="0" bIns="0" rtlCol="0" anchor="ctr"/>
          <a:lstStyle/>
          <a:p>
            <a:pPr algn="ctr" indent="0" marL="0">
              <a:buNone/>
            </a:pPr>
            <a:r>
              <a:rPr lang="en-US" sz="1800" b="1" dirty="0">
                <a:solidFill>
                  <a:srgbClr val="151A33"/>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463040" y="1417320"/>
            <a:ext cx="9875520" cy="384048"/>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A model is a function with knobs.</a:t>
            </a:r>
            <a:endParaRPr lang="en-US" sz="2200" dirty="0"/>
          </a:p>
        </p:txBody>
      </p:sp>
      <p:sp>
        <p:nvSpPr>
          <p:cNvPr id="6" name="Text 4"/>
          <p:cNvSpPr txBox="1"/>
          <p:nvPr/>
        </p:nvSpPr>
        <p:spPr>
          <a:xfrm>
            <a:off x="1463040" y="1810512"/>
            <a:ext cx="9875520" cy="347472"/>
          </a:xfrm>
          <a:prstGeom prst="rect">
            <a:avLst/>
          </a:prstGeom>
          <a:noFill/>
          <a:ln/>
        </p:spPr>
        <p:txBody>
          <a:bodyPr wrap="square" lIns="0" tIns="0" rIns="0" bIns="0" rtlCol="0" anchor="t"/>
          <a:lstStyle/>
          <a:p>
            <a:pPr indent="0" marL="0">
              <a:buNone/>
            </a:pPr>
            <a:r>
              <a:rPr lang="en-US" sz="1700" dirty="0">
                <a:solidFill>
                  <a:srgbClr val="C9CDEA"/>
                </a:solidFill>
                <a:latin typeface="Calibri" pitchFamily="34" charset="0"/>
                <a:ea typeface="Calibri" pitchFamily="34" charset="-122"/>
                <a:cs typeface="Calibri" pitchFamily="34" charset="-120"/>
              </a:rPr>
              <a:t>Training only changes the knob values.</a:t>
            </a:r>
            <a:endParaRPr lang="en-US" sz="1700" dirty="0"/>
          </a:p>
        </p:txBody>
      </p:sp>
      <p:sp>
        <p:nvSpPr>
          <p:cNvPr id="7" name="Shape 5"/>
          <p:cNvSpPr/>
          <p:nvPr/>
        </p:nvSpPr>
        <p:spPr>
          <a:xfrm>
            <a:off x="640080" y="2441448"/>
            <a:ext cx="566928" cy="566928"/>
          </a:xfrm>
          <a:prstGeom prst="ellipse">
            <a:avLst/>
          </a:prstGeom>
          <a:solidFill>
            <a:srgbClr val="3CC6B0"/>
          </a:solidFill>
          <a:ln w="12700">
            <a:solidFill>
              <a:srgbClr val="3CC6B0"/>
            </a:solidFill>
            <a:prstDash val="solid"/>
          </a:ln>
        </p:spPr>
      </p:sp>
      <p:sp>
        <p:nvSpPr>
          <p:cNvPr id="8" name="Text 6"/>
          <p:cNvSpPr txBox="1"/>
          <p:nvPr/>
        </p:nvSpPr>
        <p:spPr>
          <a:xfrm>
            <a:off x="640080" y="2441448"/>
            <a:ext cx="566928" cy="566928"/>
          </a:xfrm>
          <a:prstGeom prst="rect">
            <a:avLst/>
          </a:prstGeom>
          <a:noFill/>
          <a:ln/>
        </p:spPr>
        <p:txBody>
          <a:bodyPr wrap="square" lIns="0" tIns="0" rIns="0" bIns="0" rtlCol="0" anchor="ctr"/>
          <a:lstStyle/>
          <a:p>
            <a:pPr algn="ctr" indent="0" marL="0">
              <a:buNone/>
            </a:pPr>
            <a:r>
              <a:rPr lang="en-US" sz="1800" b="1" dirty="0">
                <a:solidFill>
                  <a:srgbClr val="151A33"/>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1463040" y="2395728"/>
            <a:ext cx="9875520" cy="384048"/>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Loss is one number for how wrong.</a:t>
            </a:r>
            <a:endParaRPr lang="en-US" sz="2200" dirty="0"/>
          </a:p>
        </p:txBody>
      </p:sp>
      <p:sp>
        <p:nvSpPr>
          <p:cNvPr id="10" name="Text 8"/>
          <p:cNvSpPr txBox="1"/>
          <p:nvPr/>
        </p:nvSpPr>
        <p:spPr>
          <a:xfrm>
            <a:off x="1463040" y="2788920"/>
            <a:ext cx="9875520" cy="347472"/>
          </a:xfrm>
          <a:prstGeom prst="rect">
            <a:avLst/>
          </a:prstGeom>
          <a:noFill/>
          <a:ln/>
        </p:spPr>
        <p:txBody>
          <a:bodyPr wrap="square" lIns="0" tIns="0" rIns="0" bIns="0" rtlCol="0" anchor="t"/>
          <a:lstStyle/>
          <a:p>
            <a:pPr indent="0" marL="0">
              <a:buNone/>
            </a:pPr>
            <a:r>
              <a:rPr lang="en-US" sz="1700" dirty="0">
                <a:solidFill>
                  <a:srgbClr val="C9CDEA"/>
                </a:solidFill>
                <a:latin typeface="Calibri" pitchFamily="34" charset="0"/>
                <a:ea typeface="Calibri" pitchFamily="34" charset="-122"/>
                <a:cs typeface="Calibri" pitchFamily="34" charset="-120"/>
              </a:rPr>
              <a:t>Learning = turning knobs so it goes down.</a:t>
            </a:r>
            <a:endParaRPr lang="en-US" sz="1700" dirty="0"/>
          </a:p>
        </p:txBody>
      </p:sp>
      <p:sp>
        <p:nvSpPr>
          <p:cNvPr id="11" name="Shape 9"/>
          <p:cNvSpPr/>
          <p:nvPr/>
        </p:nvSpPr>
        <p:spPr>
          <a:xfrm>
            <a:off x="640080" y="3419856"/>
            <a:ext cx="566928" cy="566928"/>
          </a:xfrm>
          <a:prstGeom prst="ellipse">
            <a:avLst/>
          </a:prstGeom>
          <a:solidFill>
            <a:srgbClr val="3CC6B0"/>
          </a:solidFill>
          <a:ln w="12700">
            <a:solidFill>
              <a:srgbClr val="3CC6B0"/>
            </a:solidFill>
            <a:prstDash val="solid"/>
          </a:ln>
        </p:spPr>
      </p:sp>
      <p:sp>
        <p:nvSpPr>
          <p:cNvPr id="12" name="Text 10"/>
          <p:cNvSpPr txBox="1"/>
          <p:nvPr/>
        </p:nvSpPr>
        <p:spPr>
          <a:xfrm>
            <a:off x="640080" y="3419856"/>
            <a:ext cx="566928" cy="566928"/>
          </a:xfrm>
          <a:prstGeom prst="rect">
            <a:avLst/>
          </a:prstGeom>
          <a:noFill/>
          <a:ln/>
        </p:spPr>
        <p:txBody>
          <a:bodyPr wrap="square" lIns="0" tIns="0" rIns="0" bIns="0" rtlCol="0" anchor="ctr"/>
          <a:lstStyle/>
          <a:p>
            <a:pPr algn="ctr" indent="0" marL="0">
              <a:buNone/>
            </a:pPr>
            <a:r>
              <a:rPr lang="en-US" sz="1800" b="1" dirty="0">
                <a:solidFill>
                  <a:srgbClr val="151A33"/>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1463040" y="3374136"/>
            <a:ext cx="9875520" cy="384048"/>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The gradient says which way to turn each knob.</a:t>
            </a:r>
            <a:endParaRPr lang="en-US" sz="2200" dirty="0"/>
          </a:p>
        </p:txBody>
      </p:sp>
      <p:sp>
        <p:nvSpPr>
          <p:cNvPr id="14" name="Text 12"/>
          <p:cNvSpPr txBox="1"/>
          <p:nvPr/>
        </p:nvSpPr>
        <p:spPr>
          <a:xfrm>
            <a:off x="1463040" y="3767328"/>
            <a:ext cx="9875520" cy="347472"/>
          </a:xfrm>
          <a:prstGeom prst="rect">
            <a:avLst/>
          </a:prstGeom>
          <a:noFill/>
          <a:ln/>
        </p:spPr>
        <p:txBody>
          <a:bodyPr wrap="square" lIns="0" tIns="0" rIns="0" bIns="0" rtlCol="0" anchor="t"/>
          <a:lstStyle/>
          <a:p>
            <a:pPr indent="0" marL="0">
              <a:buNone/>
            </a:pPr>
            <a:r>
              <a:rPr lang="en-US" sz="1700" dirty="0">
                <a:solidFill>
                  <a:srgbClr val="C9CDEA"/>
                </a:solidFill>
                <a:latin typeface="Calibri" pitchFamily="34" charset="0"/>
                <a:ea typeface="Calibri" pitchFamily="34" charset="-122"/>
                <a:cs typeface="Calibri" pitchFamily="34" charset="-120"/>
              </a:rPr>
              <a:t>And how much it matters right now.</a:t>
            </a:r>
            <a:endParaRPr lang="en-US" sz="1700" dirty="0"/>
          </a:p>
        </p:txBody>
      </p:sp>
      <p:sp>
        <p:nvSpPr>
          <p:cNvPr id="15" name="Shape 13"/>
          <p:cNvSpPr/>
          <p:nvPr/>
        </p:nvSpPr>
        <p:spPr>
          <a:xfrm>
            <a:off x="640080" y="4398264"/>
            <a:ext cx="566928" cy="566928"/>
          </a:xfrm>
          <a:prstGeom prst="ellipse">
            <a:avLst/>
          </a:prstGeom>
          <a:solidFill>
            <a:srgbClr val="3CC6B0"/>
          </a:solidFill>
          <a:ln w="12700">
            <a:solidFill>
              <a:srgbClr val="3CC6B0"/>
            </a:solidFill>
            <a:prstDash val="solid"/>
          </a:ln>
        </p:spPr>
      </p:sp>
      <p:sp>
        <p:nvSpPr>
          <p:cNvPr id="16" name="Text 14"/>
          <p:cNvSpPr txBox="1"/>
          <p:nvPr/>
        </p:nvSpPr>
        <p:spPr>
          <a:xfrm>
            <a:off x="640080" y="4398264"/>
            <a:ext cx="566928" cy="566928"/>
          </a:xfrm>
          <a:prstGeom prst="rect">
            <a:avLst/>
          </a:prstGeom>
          <a:noFill/>
          <a:ln/>
        </p:spPr>
        <p:txBody>
          <a:bodyPr wrap="square" lIns="0" tIns="0" rIns="0" bIns="0" rtlCol="0" anchor="ctr"/>
          <a:lstStyle/>
          <a:p>
            <a:pPr algn="ctr" indent="0" marL="0">
              <a:buNone/>
            </a:pPr>
            <a:r>
              <a:rPr lang="en-US" sz="1800" b="1" dirty="0">
                <a:solidFill>
                  <a:srgbClr val="151A33"/>
                </a:solidFill>
                <a:latin typeface="Calibri" pitchFamily="34" charset="0"/>
                <a:ea typeface="Calibri" pitchFamily="34" charset="-122"/>
                <a:cs typeface="Calibri" pitchFamily="34" charset="-120"/>
              </a:rPr>
              <a:t>4</a:t>
            </a:r>
            <a:endParaRPr lang="en-US" sz="1800" dirty="0"/>
          </a:p>
        </p:txBody>
      </p:sp>
      <p:sp>
        <p:nvSpPr>
          <p:cNvPr id="17" name="Text 15"/>
          <p:cNvSpPr txBox="1"/>
          <p:nvPr/>
        </p:nvSpPr>
        <p:spPr>
          <a:xfrm>
            <a:off x="1463040" y="4352544"/>
            <a:ext cx="9875520" cy="384048"/>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Backprop is the chain rule.</a:t>
            </a:r>
            <a:endParaRPr lang="en-US" sz="2200" dirty="0"/>
          </a:p>
        </p:txBody>
      </p:sp>
      <p:sp>
        <p:nvSpPr>
          <p:cNvPr id="18" name="Text 16"/>
          <p:cNvSpPr txBox="1"/>
          <p:nvPr/>
        </p:nvSpPr>
        <p:spPr>
          <a:xfrm>
            <a:off x="1463040" y="4745736"/>
            <a:ext cx="9875520" cy="347472"/>
          </a:xfrm>
          <a:prstGeom prst="rect">
            <a:avLst/>
          </a:prstGeom>
          <a:noFill/>
          <a:ln/>
        </p:spPr>
        <p:txBody>
          <a:bodyPr wrap="square" lIns="0" tIns="0" rIns="0" bIns="0" rtlCol="0" anchor="t"/>
          <a:lstStyle/>
          <a:p>
            <a:pPr indent="0" marL="0">
              <a:buNone/>
            </a:pPr>
            <a:r>
              <a:rPr lang="en-US" sz="1700" dirty="0">
                <a:solidFill>
                  <a:srgbClr val="C9CDEA"/>
                </a:solidFill>
                <a:latin typeface="Calibri" pitchFamily="34" charset="0"/>
                <a:ea typeface="Calibri" pitchFamily="34" charset="-122"/>
                <a:cs typeface="Calibri" pitchFamily="34" charset="-120"/>
              </a:rPr>
              <a:t>Every slope in one backward pass, at any scale.</a:t>
            </a:r>
            <a:endParaRPr lang="en-US" sz="1700" dirty="0"/>
          </a:p>
        </p:txBody>
      </p:sp>
      <p:sp>
        <p:nvSpPr>
          <p:cNvPr id="19" name="Shape 17"/>
          <p:cNvSpPr/>
          <p:nvPr/>
        </p:nvSpPr>
        <p:spPr>
          <a:xfrm>
            <a:off x="640080" y="5376672"/>
            <a:ext cx="566928" cy="566928"/>
          </a:xfrm>
          <a:prstGeom prst="ellipse">
            <a:avLst/>
          </a:prstGeom>
          <a:solidFill>
            <a:srgbClr val="F2A541"/>
          </a:solidFill>
          <a:ln w="12700">
            <a:solidFill>
              <a:srgbClr val="F2A541"/>
            </a:solidFill>
            <a:prstDash val="solid"/>
          </a:ln>
        </p:spPr>
      </p:sp>
      <p:sp>
        <p:nvSpPr>
          <p:cNvPr id="20" name="Text 18"/>
          <p:cNvSpPr txBox="1"/>
          <p:nvPr/>
        </p:nvSpPr>
        <p:spPr>
          <a:xfrm>
            <a:off x="640080" y="5376672"/>
            <a:ext cx="566928" cy="566928"/>
          </a:xfrm>
          <a:prstGeom prst="rect">
            <a:avLst/>
          </a:prstGeom>
          <a:noFill/>
          <a:ln/>
        </p:spPr>
        <p:txBody>
          <a:bodyPr wrap="square" lIns="0" tIns="0" rIns="0" bIns="0" rtlCol="0" anchor="ctr"/>
          <a:lstStyle/>
          <a:p>
            <a:pPr algn="ctr" indent="0" marL="0">
              <a:buNone/>
            </a:pPr>
            <a:r>
              <a:rPr lang="en-US" sz="1800" b="1" dirty="0">
                <a:solidFill>
                  <a:srgbClr val="151A33"/>
                </a:solidFill>
                <a:latin typeface="Calibri" pitchFamily="34" charset="0"/>
                <a:ea typeface="Calibri" pitchFamily="34" charset="-122"/>
                <a:cs typeface="Calibri" pitchFamily="34" charset="-120"/>
              </a:rPr>
              <a:t>5</a:t>
            </a:r>
            <a:endParaRPr lang="en-US" sz="1800" dirty="0"/>
          </a:p>
        </p:txBody>
      </p:sp>
      <p:sp>
        <p:nvSpPr>
          <p:cNvPr id="21" name="Text 19"/>
          <p:cNvSpPr txBox="1"/>
          <p:nvPr/>
        </p:nvSpPr>
        <p:spPr>
          <a:xfrm>
            <a:off x="1463040" y="5330952"/>
            <a:ext cx="9875520" cy="384048"/>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An LLM is this loop, enormous.</a:t>
            </a:r>
            <a:endParaRPr lang="en-US" sz="2200" dirty="0"/>
          </a:p>
        </p:txBody>
      </p:sp>
      <p:sp>
        <p:nvSpPr>
          <p:cNvPr id="22" name="Text 20"/>
          <p:cNvSpPr txBox="1"/>
          <p:nvPr/>
        </p:nvSpPr>
        <p:spPr>
          <a:xfrm>
            <a:off x="1463040" y="5724144"/>
            <a:ext cx="9875520" cy="347472"/>
          </a:xfrm>
          <a:prstGeom prst="rect">
            <a:avLst/>
          </a:prstGeom>
          <a:noFill/>
          <a:ln/>
        </p:spPr>
        <p:txBody>
          <a:bodyPr wrap="square" lIns="0" tIns="0" rIns="0" bIns="0" rtlCol="0" anchor="t"/>
          <a:lstStyle/>
          <a:p>
            <a:pPr indent="0" marL="0">
              <a:buNone/>
            </a:pPr>
            <a:r>
              <a:rPr lang="en-US" sz="1700" dirty="0">
                <a:solidFill>
                  <a:srgbClr val="C9CDEA"/>
                </a:solidFill>
                <a:latin typeface="Calibri" pitchFamily="34" charset="0"/>
                <a:ea typeface="Calibri" pitchFamily="34" charset="-122"/>
                <a:cs typeface="Calibri" pitchFamily="34" charset="-120"/>
              </a:rPr>
              <a:t>Next-token surprise is the loss.</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1A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5669280" y="0"/>
            <a:ext cx="6858000" cy="6858000"/>
          </a:xfrm>
          <a:prstGeom prst="rect">
            <a:avLst/>
          </a:prstGeom>
        </p:spPr>
      </p:pic>
      <p:sp>
        <p:nvSpPr>
          <p:cNvPr id="3" name="Text 0"/>
          <p:cNvSpPr txBox="1"/>
          <p:nvPr/>
        </p:nvSpPr>
        <p:spPr>
          <a:xfrm>
            <a:off x="640080" y="1280160"/>
            <a:ext cx="5943600" cy="219456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a:p>
            <a:pPr indent="0" marL="0">
              <a:buNone/>
            </a:pPr>
            <a:r>
              <a:rPr lang="en-US" sz="5000" b="1" dirty="0">
                <a:solidFill>
                  <a:srgbClr val="FFFFFF"/>
                </a:solidFill>
                <a:latin typeface="Cambria" pitchFamily="34" charset="0"/>
                <a:ea typeface="Cambria" pitchFamily="34" charset="-122"/>
                <a:cs typeface="Cambria" pitchFamily="34" charset="-120"/>
              </a:rPr>
              <a:t>Questions?</a:t>
            </a:r>
            <a:endParaRPr lang="en-US" sz="5000" dirty="0"/>
          </a:p>
        </p:txBody>
      </p:sp>
      <p:sp>
        <p:nvSpPr>
          <p:cNvPr id="4" name="Text 1"/>
          <p:cNvSpPr txBox="1"/>
          <p:nvPr/>
        </p:nvSpPr>
        <p:spPr>
          <a:xfrm>
            <a:off x="640080" y="3931920"/>
            <a:ext cx="5486400" cy="365760"/>
          </a:xfrm>
          <a:prstGeom prst="rect">
            <a:avLst/>
          </a:prstGeom>
          <a:noFill/>
          <a:ln/>
        </p:spPr>
        <p:txBody>
          <a:bodyPr wrap="square" lIns="0" tIns="0" rIns="0" bIns="0" rtlCol="0" anchor="t"/>
          <a:lstStyle/>
          <a:p>
            <a:pPr indent="0" marL="0">
              <a:buNone/>
            </a:pPr>
            <a:r>
              <a:rPr lang="en-US" sz="1600" b="1" dirty="0">
                <a:solidFill>
                  <a:srgbClr val="3CC6B0"/>
                </a:solidFill>
                <a:latin typeface="Calibri" pitchFamily="34" charset="0"/>
                <a:ea typeface="Calibri" pitchFamily="34" charset="-122"/>
                <a:cs typeface="Calibri" pitchFamily="34" charset="-120"/>
              </a:rPr>
              <a:t>Go deeper</a:t>
            </a:r>
            <a:endParaRPr lang="en-US" sz="1600" dirty="0"/>
          </a:p>
        </p:txBody>
      </p:sp>
      <p:sp>
        <p:nvSpPr>
          <p:cNvPr id="5" name="Text 2"/>
          <p:cNvSpPr txBox="1"/>
          <p:nvPr/>
        </p:nvSpPr>
        <p:spPr>
          <a:xfrm>
            <a:off x="640080" y="4343400"/>
            <a:ext cx="5669280" cy="1188720"/>
          </a:xfrm>
          <a:prstGeom prst="rect">
            <a:avLst/>
          </a:prstGeom>
          <a:noFill/>
          <a:ln/>
        </p:spPr>
        <p:txBody>
          <a:bodyPr wrap="square" lIns="0" tIns="0" rIns="0" bIns="0" rtlCol="0" anchor="t"/>
          <a:lstStyle/>
          <a:p>
            <a:pPr indent="0" marL="0">
              <a:buNone/>
            </a:pPr>
            <a:r>
              <a:rPr lang="en-US" sz="1700" dirty="0">
                <a:solidFill>
                  <a:srgbClr val="C9CDEA"/>
                </a:solidFill>
                <a:latin typeface="Calibri" pitchFamily="34" charset="0"/>
                <a:ea typeface="Calibri" pitchFamily="34" charset="-122"/>
                <a:cs typeface="Calibri" pitchFamily="34" charset="-120"/>
              </a:rPr>
              <a:t>Andrej Karpathy, "Neural Networks: Zero to Hero". Build micrograd (backprop in ~100 lines) and makemore (Demo 3, grown into a GPT) from scratch.</a:t>
            </a:r>
            <a:endParaRPr lang="en-US" sz="1700" dirty="0"/>
          </a:p>
        </p:txBody>
      </p:sp>
      <p:sp>
        <p:nvSpPr>
          <p:cNvPr id="6" name="Text 3"/>
          <p:cNvSpPr txBox="1"/>
          <p:nvPr/>
        </p:nvSpPr>
        <p:spPr>
          <a:xfrm>
            <a:off x="640080" y="5760720"/>
            <a:ext cx="5669280" cy="457200"/>
          </a:xfrm>
          <a:prstGeom prst="rect">
            <a:avLst/>
          </a:prstGeom>
          <a:noFill/>
          <a:ln/>
        </p:spPr>
        <p:txBody>
          <a:bodyPr wrap="square" lIns="0" tIns="0" rIns="0" bIns="0" rtlCol="0" anchor="t"/>
          <a:lstStyle/>
          <a:p>
            <a:pPr indent="0" marL="0">
              <a:buNone/>
            </a:pPr>
            <a:r>
              <a:rPr lang="en-US" sz="1500" dirty="0">
                <a:solidFill>
                  <a:srgbClr val="9AA2C8"/>
                </a:solidFill>
                <a:latin typeface="Calibri" pitchFamily="34" charset="0"/>
                <a:ea typeface="Calibri" pitchFamily="34" charset="-122"/>
                <a:cs typeface="Calibri" pitchFamily="34" charset="-120"/>
              </a:rPr>
              <a:t>The demo is a single HTML file. It runs offline in any browser.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a Neural Network Learns</dc:title>
  <dc:subject>PptxGenJS Presentation</dc:subject>
  <dc:creator>PptxGenJS</dc:creator>
  <cp:lastModifiedBy>PptxGenJS</cp:lastModifiedBy>
  <cp:revision>1</cp:revision>
  <dcterms:created xsi:type="dcterms:W3CDTF">2026-09-19T12:14:27Z</dcterms:created>
  <dcterms:modified xsi:type="dcterms:W3CDTF">2026-09-19T12:14:27Z</dcterms:modified>
</cp:coreProperties>
</file>