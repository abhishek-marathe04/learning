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182880"/>
            <a:ext cx="502920" cy="502920"/>
          </a:xfrm>
          <a:prstGeom prst="ellipse">
            <a:avLst/>
          </a:prstGeom>
          <a:solidFill>
            <a:srgbClr val="0891B2">
              <a:alpha val="18000"/>
            </a:srgbClr>
          </a:solidFill>
          <a:ln w="1524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548640"/>
            <a:ext cx="685800" cy="685800"/>
          </a:xfrm>
          <a:prstGeom prst="ellipse">
            <a:avLst/>
          </a:prstGeom>
          <a:solidFill>
            <a:srgbClr val="0891B2">
              <a:alpha val="18000"/>
            </a:srgbClr>
          </a:solidFill>
          <a:ln w="1524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1188720"/>
            <a:ext cx="411480" cy="411480"/>
          </a:xfrm>
          <a:prstGeom prst="ellipse">
            <a:avLst/>
          </a:prstGeom>
          <a:solidFill>
            <a:srgbClr val="0891B2">
              <a:alpha val="18000"/>
            </a:srgbClr>
          </a:solidFill>
          <a:ln w="1524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1645920"/>
            <a:ext cx="548640" cy="548640"/>
          </a:xfrm>
          <a:prstGeom prst="ellipse">
            <a:avLst/>
          </a:prstGeom>
          <a:solidFill>
            <a:srgbClr val="0891B2">
              <a:alpha val="18000"/>
            </a:srgbClr>
          </a:solidFill>
          <a:ln w="1524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1828800"/>
            <a:ext cx="320040" cy="320040"/>
          </a:xfrm>
          <a:prstGeom prst="ellipse">
            <a:avLst/>
          </a:prstGeom>
          <a:solidFill>
            <a:srgbClr val="0891B2">
              <a:alpha val="18000"/>
            </a:srgbClr>
          </a:solidFill>
          <a:ln w="1524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2468880"/>
            <a:ext cx="457200" cy="457200"/>
          </a:xfrm>
          <a:prstGeom prst="ellipse">
            <a:avLst/>
          </a:prstGeom>
          <a:solidFill>
            <a:srgbClr val="0891B2">
              <a:alpha val="18000"/>
            </a:srgbClr>
          </a:solidFill>
          <a:ln w="1524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3017520"/>
            <a:ext cx="3200400" cy="32004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43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 ENGINEERING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7772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Practical Introduction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57200" y="29443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Simple LLM Calls to Autonomous AI Agents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Team  ·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50976" y="10058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LLMs?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50976" y="124358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context window, how they work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64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50976" y="176479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Capabilities &amp; Limits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50976" y="20025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LLMs are — and are not — good at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237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50976" y="252374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NOT to Use Them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0976" y="27614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situations to avoid LLMs entirely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82696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826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" y="328269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First LLM Call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976" y="35204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basics and prompt engineering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41648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416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50976" y="404164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 AI Agent?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0976" y="42793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single-turn Q&amp;A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005840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058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02936" y="10058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Agents Think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02936" y="124358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 and reasoning models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176479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764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02936" y="176479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ReAct Pattern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02936" y="20025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→ Act → Observe loop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2523744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5237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02936" y="252374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Function Calling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02936" y="27614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agents with external capabilities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282696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2826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02936" y="328269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&amp; RAG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02936" y="35204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LLMs know YOUR data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4041648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40416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02936" y="404164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Stack &amp; Next Steps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02936" y="42793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Pitfalls, resources, where to begin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26280" y="960120"/>
            <a:ext cx="9144" cy="3749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Large Language Models?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neural networks trained on massive amounts of text with one simple objective: predict the next token.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this objective, they develop remarkable emergent abilities: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through complex, multi-step problems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Writing, summarising, and translating text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and explaining code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questions and following instructions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and structuring information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914400"/>
            <a:ext cx="1828800" cy="1005840"/>
          </a:xfrm>
          <a:prstGeom prst="rect">
            <a:avLst/>
          </a:prstGeom>
          <a:solidFill>
            <a:srgbClr val="E0F7FA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9875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29844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tokens: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web, code…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12280" y="11887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91B2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178040" y="914400"/>
            <a:ext cx="1600200" cy="1005840"/>
          </a:xfrm>
          <a:prstGeom prst="rect">
            <a:avLst/>
          </a:prstGeom>
          <a:solidFill>
            <a:srgbClr val="0D1B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10058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178040" y="138988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params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37760" y="2331720"/>
            <a:ext cx="1828800" cy="82296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331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Prompt  (input)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12280" y="2514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CAF50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178040" y="2331720"/>
            <a:ext cx="1600200" cy="822960"/>
          </a:xfrm>
          <a:prstGeom prst="rect">
            <a:avLst/>
          </a:prstGeom>
          <a:solidFill>
            <a:srgbClr val="FFF3E0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23317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 (output)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160520"/>
            <a:ext cx="8412480" cy="667512"/>
          </a:xfrm>
          <a:prstGeom prst="rect">
            <a:avLst/>
          </a:prstGeom>
          <a:solidFill>
            <a:srgbClr val="EFF6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1879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LLMs don't "know" facts — they predict likely token sequences based on patterns in training data. This is why they can be wrong, yet still extraordinarily useful.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Concepts Every AI Engineer Should Know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783080"/>
          </a:xfrm>
          <a:prstGeom prst="rect">
            <a:avLst/>
          </a:prstGeom>
          <a:solidFill>
            <a:srgbClr val="EDE7F6"/>
          </a:solidFill>
          <a:ln w="19050">
            <a:solidFill>
              <a:srgbClr val="7E57C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15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🔤  Tokens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don't see characters or words — they process tokens (≈ 4 chars / ¾ word).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 world!" = 3 tokens. Cost and context length are measured in tokens.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1783080"/>
          </a:xfrm>
          <a:prstGeom prst="rect">
            <a:avLst/>
          </a:prstGeom>
          <a:solidFill>
            <a:srgbClr val="E3F2FD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115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Context Window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tokens the model can "see" at once — prompt + response combined.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GPT-4o: ~128K | Claude 3.7: ~200K  |  Exceeding it = oldest content discarded.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4023360" cy="1783080"/>
          </a:xfrm>
          <a:prstGeom prst="rect">
            <a:avLst/>
          </a:prstGeom>
          <a:solidFill>
            <a:srgbClr val="FFF8E1"/>
          </a:solidFill>
          <a:ln w="1905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9900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🌡️  Temperature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output randomness. Temperature 0 = deterministic. Temperature 1 = creative.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0 for code / analysis. Use 0.7–1 for brainstorming / creative writing.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4023360" cy="1783080"/>
          </a:xfrm>
          <a:prstGeom prst="rect">
            <a:avLst/>
          </a:prstGeom>
          <a:solidFill>
            <a:srgbClr val="E8F5E9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9900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System Prompt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33832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the model reads before the user's message. Sets persona, rules, tone, and output format.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#1 lever for controlling model behaviour.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LLMs Are Good 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35040" y="3383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(when used correctly)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1508760"/>
          </a:xfrm>
          <a:prstGeom prst="rect">
            <a:avLst/>
          </a:prstGeom>
          <a:solidFill>
            <a:srgbClr val="F5F9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✍️  Natural Language Generation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emails, docs, summaries, reports — at scale and with quality that often rivals human writers.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1508760"/>
          </a:xfrm>
          <a:prstGeom prst="rect">
            <a:avLst/>
          </a:prstGeom>
          <a:solidFill>
            <a:srgbClr val="F5F9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1430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🐛  Code Generation &amp; Review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5087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explain, debug, and refactor code across virtually any programming language.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51760" cy="1508760"/>
          </a:xfrm>
          <a:prstGeom prst="rect">
            <a:avLst/>
          </a:prstGeom>
          <a:solidFill>
            <a:srgbClr val="F5F9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0584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1430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Information Extraction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5087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unstructured text, extract entities, classify intent, fill structured schemas from raw data.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2651760" cy="1508760"/>
          </a:xfrm>
          <a:prstGeom prst="rect">
            <a:avLst/>
          </a:prstGeom>
          <a:solidFill>
            <a:srgbClr val="F5F9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9748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346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❓  Question Answering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2004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 over large documents, conversations, or any corpus you provide as context.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2697480"/>
            <a:ext cx="2651760" cy="1508760"/>
          </a:xfrm>
          <a:prstGeom prst="rect">
            <a:avLst/>
          </a:prstGeom>
          <a:solidFill>
            <a:srgbClr val="F5F9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69748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8346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Translation &amp; Localisation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32004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translation between 100+ languages, with cultural nuance and tone matching.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2697480"/>
            <a:ext cx="2651760" cy="1508760"/>
          </a:xfrm>
          <a:prstGeom prst="rect">
            <a:avLst/>
          </a:prstGeom>
          <a:solidFill>
            <a:srgbClr val="F5F9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69748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8346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🧩  Reasoning &amp; Planning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2004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problem decomposition, chain-of-thought analysis — especially with modern reasoning models.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343400"/>
            <a:ext cx="8412480" cy="521208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3708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these improve significantly with better prompting. The model's capability ceiling is usually higher than your first attempt suggests.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When NOT to Use LLMs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powerful but not universal. Choosing the wrong tool here creates unreliable, expensive, or unsafe systems.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65176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" y="135331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 Precise Math &amp; Computation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93776" y="1719072"/>
            <a:ext cx="2395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approximate. For exact calculations, use a proper calculator or run code.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261872"/>
            <a:ext cx="265176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74136" y="135331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⏱️  Real-time or Current Data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74136" y="1719072"/>
            <a:ext cx="2395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have a knowledge cutoff. They cannot fetch live prices, news, or events.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261872"/>
            <a:ext cx="265176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54496" y="135331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Strict Determinism Required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54496" y="1719072"/>
            <a:ext cx="2395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same output every time? LLMs are probabilistic. Use deterministic code.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265176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" y="292608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Simple Rule-Based Logic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" y="3291840"/>
            <a:ext cx="2395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it's an if/else statement, don't pay 200ms + API cost for it.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2834640"/>
            <a:ext cx="265176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74136" y="292608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🏥  High-Stakes Without Checks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74136" y="3291840"/>
            <a:ext cx="2395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Medical, legal, financial decisions — LLM output must always be verified by humans.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2834640"/>
            <a:ext cx="265176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54496" y="292608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Sensitive or Private Data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54496" y="3291840"/>
            <a:ext cx="2395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PII or trade secrets to a third-party API is a compliance and security risk.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315968"/>
            <a:ext cx="8412480" cy="53035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33425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Ask yourself: Does this task actually require language understanding and reasoning — or is it just computation or rule-matching?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First LLM Call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349240" cy="3977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— Anthropic SDK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507492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anthropic
</a:t>
            </a:r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anthropic.</a:t>
            </a:r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</a:t>
            </a:r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client.messages.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model=</a:t>
            </a:r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"claude-3-7-sonnet-latest"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max_tokens=</a:t>
            </a:r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system=</a:t>
            </a:r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helpful code assistant."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messages=[{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"role": </a:t>
            </a:r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"content": </a:t>
            </a:r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"Explain recursion briefly."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}]
)
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(response.content[</a:t>
            </a:r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].text)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97880" y="1005840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35040" y="12801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LLM to call. Controls capability, cost, and speed. Match the model to the task complexity.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97880" y="1911096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9110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35040" y="218541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prompt. Defines the model's persona, constraints, and output format. Your most powerful control lever.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97880" y="2816352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8163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35040" y="309067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as an array of user/assistant turns. Enables multi-turn chat.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97880" y="3721608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37216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max_tokens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35040" y="399592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 on output length. Controls cost and prevents runaway responses.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 Essentials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 is your primary interface. These five techniques cover 90% of what you'll need.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49224"/>
          </a:xfrm>
          <a:prstGeom prst="rect">
            <a:avLst/>
          </a:prstGeom>
          <a:solidFill>
            <a:srgbClr val="EDE7F6"/>
          </a:solidFill>
          <a:ln w="19050">
            <a:solidFill>
              <a:srgbClr val="7E57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16736"/>
            <a:ext cx="384048" cy="384048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16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 Explicit &amp; Specific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1280160"/>
            <a:ext cx="9144" cy="457200"/>
          </a:xfrm>
          <a:prstGeom prst="rect">
            <a:avLst/>
          </a:prstGeom>
          <a:solidFill>
            <a:srgbClr val="7E57C2">
              <a:alpha val="50000"/>
            </a:srgbClr>
          </a:solidFill>
          <a:ln w="12700">
            <a:solidFill>
              <a:srgbClr val="7E57C2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24358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Bad: "summarise this"  |  Good: "Summarise in 3 bullet points for a non-technical manager, focusing on business impact."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29384"/>
            <a:ext cx="8412480" cy="649224"/>
          </a:xfrm>
          <a:prstGeom prst="rect">
            <a:avLst/>
          </a:prstGeom>
          <a:solidFill>
            <a:srgbClr val="E3F2FD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057400"/>
            <a:ext cx="384048" cy="38404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0208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 a Role / Persona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29000" y="2020824"/>
            <a:ext cx="9144" cy="457200"/>
          </a:xfrm>
          <a:prstGeom prst="rect">
            <a:avLst/>
          </a:prstGeom>
          <a:solidFill>
            <a:srgbClr val="1E88E5">
              <a:alpha val="50000"/>
            </a:srgbClr>
          </a:solidFill>
          <a:ln w="12700">
            <a:solidFill>
              <a:srgbClr val="1E88E5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198424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 senior security engineer reviewing this PR for vulnerabilities." Role framing dramatically improves quality and focus.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670048"/>
            <a:ext cx="8412480" cy="649224"/>
          </a:xfrm>
          <a:prstGeom prst="rect">
            <a:avLst/>
          </a:prstGeom>
          <a:solidFill>
            <a:srgbClr val="E8F5E9"/>
          </a:solidFill>
          <a:ln w="19050">
            <a:solidFill>
              <a:srgbClr val="43A0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798064"/>
            <a:ext cx="384048" cy="38404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7614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Few-Shot Examples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29000" y="2761488"/>
            <a:ext cx="9144" cy="457200"/>
          </a:xfrm>
          <a:prstGeom prst="rect">
            <a:avLst/>
          </a:prstGeom>
          <a:solidFill>
            <a:srgbClr val="43A047">
              <a:alpha val="50000"/>
            </a:srgbClr>
          </a:solidFill>
          <a:ln w="12700">
            <a:solidFill>
              <a:srgbClr val="43A047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72491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 are two examples of the format I want: [example1] [example2]. Now do the same for: ..." LLMs excel at pattern matching.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410712"/>
            <a:ext cx="8412480" cy="649224"/>
          </a:xfrm>
          <a:prstGeom prst="rect">
            <a:avLst/>
          </a:prstGeom>
          <a:solidFill>
            <a:srgbClr val="FFF8E1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538728"/>
            <a:ext cx="384048" cy="38404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538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3502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Step by Step (Chain of Thought)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29000" y="3502152"/>
            <a:ext cx="9144" cy="457200"/>
          </a:xfrm>
          <a:prstGeom prst="rect">
            <a:avLst/>
          </a:prstGeom>
          <a:solidFill>
            <a:srgbClr val="FFB300">
              <a:alpha val="50000"/>
            </a:srgbClr>
          </a:solidFill>
          <a:ln w="12700">
            <a:solidFill>
              <a:srgbClr val="FFB300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346557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"Think step by step before answering" or "Reason through this carefully" dramatically improves accuracy on hard tasks.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151376"/>
            <a:ext cx="8412480" cy="649224"/>
          </a:xfrm>
          <a:prstGeom prst="rect">
            <a:avLst/>
          </a:prstGeom>
          <a:solidFill>
            <a:srgbClr val="FCE4EC"/>
          </a:solidFill>
          <a:ln w="19050">
            <a:solidFill>
              <a:srgbClr val="E91E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279392"/>
            <a:ext cx="384048" cy="384048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279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1560" y="42428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Specify Output Format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429000" y="4242816"/>
            <a:ext cx="9144" cy="457200"/>
          </a:xfrm>
          <a:prstGeom prst="rect">
            <a:avLst/>
          </a:prstGeom>
          <a:solidFill>
            <a:srgbClr val="E91E63">
              <a:alpha val="50000"/>
            </a:srgbClr>
          </a:solidFill>
          <a:ln w="12700">
            <a:solidFill>
              <a:srgbClr val="E91E63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42062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"Return a JSON object with fields: {title, summary, tags[]}". Constraining the format makes responses easy to parse programmatically.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731520"/>
            <a:ext cx="4572000" cy="45720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6B6D4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85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Agent?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7132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an LLM that can take actions in the world 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respond, but plan, call tools, and iterate toward a goal.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1874520" cy="749808"/>
          </a:xfrm>
          <a:prstGeom prst="rect">
            <a:avLst/>
          </a:prstGeom>
          <a:solidFill>
            <a:srgbClr val="0891B2">
              <a:alpha val="82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023360"/>
            <a:ext cx="1874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60320" y="4023360"/>
            <a:ext cx="1874520" cy="749808"/>
          </a:xfrm>
          <a:prstGeom prst="rect">
            <a:avLst/>
          </a:prstGeom>
          <a:solidFill>
            <a:srgbClr val="7E57C2">
              <a:alpha val="82000"/>
            </a:srgbClr>
          </a:solidFill>
          <a:ln w="19050">
            <a:solidFill>
              <a:srgbClr val="7E57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4023360"/>
            <a:ext cx="1874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4023360"/>
            <a:ext cx="1874520" cy="749808"/>
          </a:xfrm>
          <a:prstGeom prst="rect">
            <a:avLst/>
          </a:prstGeom>
          <a:solidFill>
            <a:srgbClr val="43A047">
              <a:alpha val="82000"/>
            </a:srgbClr>
          </a:solidFill>
          <a:ln w="19050">
            <a:solidFill>
              <a:srgbClr val="43A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4023360"/>
            <a:ext cx="1874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766560" y="4023360"/>
            <a:ext cx="1874520" cy="749808"/>
          </a:xfrm>
          <a:prstGeom prst="rect">
            <a:avLst/>
          </a:prstGeom>
          <a:solidFill>
            <a:srgbClr val="F97316">
              <a:alpha val="82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4023360"/>
            <a:ext cx="1874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Loop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Agents Think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 of Thought (CoT)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jumping to an answer, the model is prompted to reason step-by-step first.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significantly improves accuracy on complex tasks and makes the model's reasoning visible and debuggable.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2651760"/>
            <a:ext cx="4114800" cy="21488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68833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Chain-of-thought in action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944368"/>
            <a:ext cx="3840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17 × 24?
</a:t>
            </a:r>
            <a:pPr indent="0" marL="0">
              <a:buNone/>
            </a:pPr>
            <a:r>
              <a:rPr lang="en-US" sz="115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Thinking: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me break this down.
17 × 20 = 340
17 × 4  = 68
340 + 68 = 408
</a:t>
            </a:r>
            <a:pPr indent="0" marL="0">
              <a:buNone/>
            </a:pPr>
            <a:r>
              <a:rPr lang="en-US" sz="115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408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46320" y="89611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Reasoning Models (Extended Thinking)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023360" cy="74980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6245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49240" y="1389888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models (Claude 3.7, o1, o3) have dedicated 'thinking' budgets — tokens spent reasoning before responding.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12848"/>
            <a:ext cx="4023360" cy="74980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24942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49240" y="2276856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valuable for: multi-step planning, complex debugging, ambiguous instructions, and mathematical reasoning.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99816"/>
            <a:ext cx="4023360" cy="74980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13639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49240" y="3163824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tokens cost more but produce substantially better results. Match the thinking budget to the task's complexity.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986784"/>
            <a:ext cx="4023360" cy="74980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402336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49240" y="4050792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is often visible in the API response — a useful debugging and trust-building tool for developers.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ReAct Pattern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 + Act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gives agents a structured thinking loop: reason about the problem, take an action, observe the result, then reason again.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2240280" cy="1508760"/>
          </a:xfrm>
          <a:prstGeom prst="rect">
            <a:avLst/>
          </a:prstGeom>
          <a:solidFill>
            <a:srgbClr val="EDE7F6"/>
          </a:solidFill>
          <a:ln w="25400">
            <a:solidFill>
              <a:srgbClr val="7E57C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35331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35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💭  THOUGHT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reasons about current state, available info, and what to do next.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891B2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56432" y="1261872"/>
            <a:ext cx="2240280" cy="1508760"/>
          </a:xfrm>
          <a:prstGeom prst="rect">
            <a:avLst/>
          </a:prstGeom>
          <a:solidFill>
            <a:srgbClr val="E3F2FD"/>
          </a:solidFill>
          <a:ln w="25400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93592" y="135331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ACTION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93592" y="17373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Invokes a tool: web search, code execution, database query, API call.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24144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891B2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55664" y="1261872"/>
            <a:ext cx="2240280" cy="1508760"/>
          </a:xfrm>
          <a:prstGeom prst="rect">
            <a:avLst/>
          </a:prstGeom>
          <a:solidFill>
            <a:srgbClr val="E8F5E9"/>
          </a:solidFill>
          <a:ln w="25400">
            <a:solidFill>
              <a:srgbClr val="43A0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92824" y="135331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👁️  OBSERVATION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92824" y="17373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 is fed back into context. The model reads it and reasons again.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00200" y="2834640"/>
            <a:ext cx="9144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600200" y="3218688"/>
            <a:ext cx="5980176" cy="91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580376" y="2834640"/>
            <a:ext cx="9144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017520" y="327355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← loop until task is complete 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841248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Thought: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need today's weather in Mumbai. I'll use the search tool.
</a:t>
            </a:r>
            <a:pPr indent="0" marL="0">
              <a:buNone/>
            </a:pPr>
            <a:r>
              <a:rPr lang="en-US" sz="105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search_tool(query="Mumbai weather today")  →  </a:t>
            </a:r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Observation: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"Mumbai: 32°C, partly cloudy"
</a:t>
            </a:r>
            <a:pPr indent="0" marL="0">
              <a:buNone/>
            </a:pPr>
            <a:r>
              <a:rPr lang="en-US" sz="105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Thought: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have the answer.  </a:t>
            </a:r>
            <a:pPr indent="0" marL="0">
              <a:buNone/>
            </a:pPr>
            <a:r>
              <a:rPr lang="en-US" sz="105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Answer: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"It's 32°C and partly cloudy in Mumbai."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Function Calling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955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extend an agent's capabilities beyond language — they allow it to interact with external systems and the real world.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5029200" cy="35844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definition — JSON Schema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499616"/>
            <a:ext cx="4754880" cy="3172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[{
</a:t>
            </a:r>
            <a:pPr indent="0" marL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0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"get_weather"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"description"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0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 current weather for a city"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"input_schema"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
</a:t>
            </a:r>
            <a:pPr indent="0" marL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0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"object"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"properties"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
</a:t>
            </a:r>
            <a:pPr indent="0" marL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"city"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
</a:t>
            </a:r>
            <a:pPr indent="0" marL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0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"string"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"description"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0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"City name"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   }
    },
</a:t>
            </a:r>
            <a:pPr indent="0" marL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"required"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indent="0" marL="0">
              <a:buNone/>
            </a:pPr>
            <a:r>
              <a:rPr lang="en-US" sz="10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"city"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5623560" y="12344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Function Calling Works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23560" y="1728216"/>
            <a:ext cx="301752" cy="3017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728216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16752" y="16916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pass tool definitions (schemas) alongside your message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23560" y="2304288"/>
            <a:ext cx="301752" cy="3017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230428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16752" y="226771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reads the descriptions and decides if/when to call a tool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23560" y="2880360"/>
            <a:ext cx="301752" cy="3017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288036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16752" y="284378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returns a structured tool_call — not natural language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23560" y="3456432"/>
            <a:ext cx="301752" cy="3017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3456432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16752" y="341985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executes the actual function with the model's args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23560" y="4032504"/>
            <a:ext cx="301752" cy="3017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4032504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16752" y="399592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pass the result back as a tool_result message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23560" y="4608576"/>
            <a:ext cx="301752" cy="3017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4608576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16752" y="45720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continues reasoning with the new information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0" y="4572000"/>
            <a:ext cx="3383280" cy="329184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457200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The model never runs code directly — you do.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Context Protocol (MCP)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standard that gives AI agents a plug-and-play way to connect to tools, data sources, and services.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an MCP Server exposes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3931920" cy="822960"/>
          </a:xfrm>
          <a:prstGeom prst="rect">
            <a:avLst/>
          </a:prstGeom>
          <a:solidFill>
            <a:srgbClr val="E3F2FD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190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Tools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20299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Callable functions — search the web, execute code, write a file, hit an API.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87752"/>
            <a:ext cx="3931920" cy="822960"/>
          </a:xfrm>
          <a:prstGeom prst="rect">
            <a:avLst/>
          </a:prstGeom>
          <a:solidFill>
            <a:srgbClr val="E8F5E9"/>
          </a:solidFill>
          <a:ln w="19050">
            <a:solidFill>
              <a:srgbClr val="43A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6791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📄  Resources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29900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data the model can access — file contents, DB rows, API responses.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47872"/>
            <a:ext cx="3931920" cy="822960"/>
          </a:xfrm>
          <a:prstGeom prst="rect">
            <a:avLst/>
          </a:prstGeom>
          <a:solidFill>
            <a:srgbClr val="EDE7F6"/>
          </a:solidFill>
          <a:ln w="19050">
            <a:solidFill>
              <a:srgbClr val="7E57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6393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Prompts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" y="39502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prompt templates shared with the model for consistent interactions.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1887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MCP Works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627632"/>
            <a:ext cx="4069080" cy="658368"/>
          </a:xfrm>
          <a:prstGeom prst="rect">
            <a:avLst/>
          </a:prstGeom>
          <a:solidFill>
            <a:srgbClr val="0D1B2A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62763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App  (LLM Agent)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1737360"/>
            <a:ext cx="169164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73736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Client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35915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 italic" pitchFamily="34" charset="0"/>
                <a:ea typeface="Consolas italic" pitchFamily="34" charset="-122"/>
                <a:cs typeface="Consolas italic" pitchFamily="34" charset="-120"/>
              </a:rPr>
              <a:t>↕  JSON-RPC  (stdio or HTTP/SSE)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697480"/>
            <a:ext cx="4069080" cy="658368"/>
          </a:xfrm>
          <a:prstGeom prst="rect">
            <a:avLst/>
          </a:prstGeom>
          <a:solidFill>
            <a:srgbClr val="132613"/>
          </a:solidFill>
          <a:ln w="25400">
            <a:solidFill>
              <a:srgbClr val="43A0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6974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Server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27249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·  Resources  ·  Prompts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340156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3A047"/>
                </a:solidFill>
              </a:rPr>
              <a:t>↓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754880" y="3794760"/>
            <a:ext cx="1234440" cy="502920"/>
          </a:xfrm>
          <a:prstGeom prst="rect">
            <a:avLst/>
          </a:prstGeom>
          <a:solidFill>
            <a:srgbClr val="1C1C2E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7947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44768" y="3794760"/>
            <a:ext cx="1234440" cy="502920"/>
          </a:xfrm>
          <a:prstGeom prst="rect">
            <a:avLst/>
          </a:prstGeom>
          <a:solidFill>
            <a:srgbClr val="0C2A2A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37947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34656" y="3794760"/>
            <a:ext cx="1234440" cy="502920"/>
          </a:xfrm>
          <a:prstGeom prst="rect">
            <a:avLst/>
          </a:prstGeom>
          <a:solidFill>
            <a:srgbClr val="1A1A0E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34656" y="37947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Filesystem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462272"/>
            <a:ext cx="8412480" cy="384048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46227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MCP decouples tool implementation from the agent — any MCP server can plug into any MCP-compatible app. Think of it as USB for AI tools.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a Simple Agent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554480" cy="685800"/>
          </a:xfrm>
          <a:prstGeom prst="rect">
            <a:avLst/>
          </a:prstGeom>
          <a:solidFill>
            <a:srgbClr val="E8F5E9"/>
          </a:solidFill>
          <a:ln w="25400">
            <a:solidFill>
              <a:srgbClr val="43A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65960" y="138988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891B2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377440" y="1051560"/>
            <a:ext cx="2011680" cy="1280160"/>
          </a:xfrm>
          <a:prstGeom prst="rect">
            <a:avLst/>
          </a:prstGeom>
          <a:solidFill>
            <a:srgbClr val="0D1B2A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143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377440" y="157276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History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Tools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25696" y="138988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891B2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828032" y="1234440"/>
            <a:ext cx="1691640" cy="804672"/>
          </a:xfrm>
          <a:prstGeom prst="rect">
            <a:avLst/>
          </a:prstGeom>
          <a:solidFill>
            <a:srgbClr val="FFF8E1"/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234440"/>
            <a:ext cx="1691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call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needed?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56248" y="1325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05472" y="1051560"/>
            <a:ext cx="1737360" cy="1143000"/>
          </a:xfrm>
          <a:prstGeom prst="rect">
            <a:avLst/>
          </a:prstGeom>
          <a:solidFill>
            <a:srgbClr val="E3F2FD"/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05472" y="1143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Tool(s)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05472" y="161848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function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result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74152" y="914400"/>
            <a:ext cx="9144" cy="137160"/>
          </a:xfrm>
          <a:prstGeom prst="rect">
            <a:avLst/>
          </a:prstGeom>
          <a:solidFill>
            <a:srgbClr val="64748B"/>
          </a:solidFill>
          <a:ln w="15240">
            <a:solidFill>
              <a:srgbClr val="64748B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383280" y="914400"/>
            <a:ext cx="4700016" cy="9144"/>
          </a:xfrm>
          <a:prstGeom prst="rect">
            <a:avLst/>
          </a:prstGeom>
          <a:solidFill>
            <a:srgbClr val="64748B"/>
          </a:solidFill>
          <a:ln w="15240">
            <a:solidFill>
              <a:srgbClr val="64748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383280" y="914400"/>
            <a:ext cx="9144" cy="137160"/>
          </a:xfrm>
          <a:prstGeom prst="rect">
            <a:avLst/>
          </a:prstGeom>
          <a:solidFill>
            <a:srgbClr val="64748B"/>
          </a:solidFill>
          <a:ln w="15240">
            <a:solidFill>
              <a:srgbClr val="64748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114800" y="76809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← tool result loops back to LLM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23560" y="206654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NO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28032" y="2377440"/>
            <a:ext cx="1691640" cy="658368"/>
          </a:xfrm>
          <a:prstGeom prst="rect">
            <a:avLst/>
          </a:prstGeom>
          <a:solidFill>
            <a:srgbClr val="E8F5E9"/>
          </a:solidFill>
          <a:ln w="25400">
            <a:solidFill>
              <a:srgbClr val="43A0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37744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Answer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246120"/>
            <a:ext cx="8412480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27355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loop (simplified Python)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3529584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iterations &lt; max_iterations:
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llm.call(messages, tools)
</a:t>
            </a:r>
            <a:pPr indent="0" marL="0">
              <a:buNone/>
            </a:pPr>
            <a:r>
              <a:rPr lang="en-US" sz="108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response.stop_reason == </a:t>
            </a:r>
            <a:pPr indent="0" marL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"end_turn"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</a:t>
            </a:r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  # done!
</a:t>
            </a:r>
            <a:pPr indent="0" marL="0">
              <a:buNone/>
            </a:pPr>
            <a:r>
              <a:rPr lang="en-US" sz="108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tool_call </a:t>
            </a:r>
            <a:pPr indent="0" marL="0">
              <a:buNone/>
            </a:pPr>
            <a:r>
              <a:rPr lang="en-US" sz="108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response.tool_calls:
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execute_tool(tool_call)  # YOUR code runs
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messages.append(tool_result(tool_call.id, result))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&amp; RAG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3931920" cy="850392"/>
          </a:xfrm>
          <a:prstGeom prst="rect">
            <a:avLst/>
          </a:prstGeom>
          <a:solidFill>
            <a:srgbClr val="EDE7F6"/>
          </a:solidFill>
          <a:ln w="19050">
            <a:solidFill>
              <a:srgbClr val="7E57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813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In-Context  (Short-term)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773936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passed in the prompt. Fast but limited by context window size.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3931920" cy="850392"/>
          </a:xfrm>
          <a:prstGeom prst="rect">
            <a:avLst/>
          </a:prstGeom>
          <a:solidFill>
            <a:srgbClr val="E3F2FD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4688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 (Long-term)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2761488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key-value stores. Persist across sessions. Retrieved and injected when relevant.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364992"/>
            <a:ext cx="3931920" cy="850392"/>
          </a:xfrm>
          <a:prstGeom prst="rect">
            <a:avLst/>
          </a:prstGeom>
          <a:solidFill>
            <a:srgbClr val="E8F5E9"/>
          </a:solidFill>
          <a:ln w="19050">
            <a:solidFill>
              <a:srgbClr val="43A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4564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 (RAG)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374904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 of documents. Retrieve the most relevant chunks at query time. Scales to millions of docs.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914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— Retrieval Augmented Generation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13258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LLM knowledge of YOUR data — no retraining needed.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719072"/>
            <a:ext cx="1234440" cy="841248"/>
          </a:xfrm>
          <a:prstGeom prst="rect">
            <a:avLst/>
          </a:prstGeom>
          <a:solidFill>
            <a:srgbClr val="E3F2FD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7373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63440" y="213055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16168" y="1901952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91B2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08192" y="1719072"/>
            <a:ext cx="1234440" cy="841248"/>
          </a:xfrm>
          <a:prstGeom prst="rect">
            <a:avLst/>
          </a:prstGeom>
          <a:solidFill>
            <a:srgbClr val="EDE7F6"/>
          </a:solidFill>
          <a:ln w="19050">
            <a:solidFill>
              <a:srgbClr val="7E57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17373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08192" y="213055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60920" y="1901952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91B2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552944" y="1719072"/>
            <a:ext cx="1234440" cy="841248"/>
          </a:xfrm>
          <a:prstGeom prst="rect">
            <a:avLst/>
          </a:prstGeom>
          <a:solidFill>
            <a:srgbClr val="FFF8E1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52944" y="17373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552944" y="213055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DB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2615184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Ingestion (one-time)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944368"/>
            <a:ext cx="1234440" cy="841248"/>
          </a:xfrm>
          <a:prstGeom prst="rect">
            <a:avLst/>
          </a:prstGeom>
          <a:solidFill>
            <a:srgbClr val="E8F5E9"/>
          </a:solidFill>
          <a:ln w="19050">
            <a:solidFill>
              <a:srgbClr val="43A0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96265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663440" y="335584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16168" y="3127248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91B2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108192" y="2944368"/>
            <a:ext cx="1234440" cy="841248"/>
          </a:xfrm>
          <a:prstGeom prst="rect">
            <a:avLst/>
          </a:prstGeom>
          <a:solidFill>
            <a:srgbClr val="E3F2FD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296265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108192" y="335584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 Top-K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60920" y="3127248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91B2"/>
                </a:solidFill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552944" y="2944368"/>
            <a:ext cx="1234440" cy="841248"/>
          </a:xfrm>
          <a:prstGeom prst="rect">
            <a:avLst/>
          </a:prstGeom>
          <a:solidFill>
            <a:srgbClr val="0D1B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52944" y="296265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552944" y="335584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+ Context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63440" y="38404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Query time (real-time)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3708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RAG is usually more practical than fine-tuning: no training required, data stays fresh, and you can audit every retrieved chunk.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828800"/>
            <a:ext cx="4114800" cy="4114800"/>
          </a:xfrm>
          <a:prstGeom prst="ellipse">
            <a:avLst/>
          </a:prstGeom>
          <a:solidFill>
            <a:srgbClr val="0891B2">
              <a:alpha val="8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Engineering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full stack helps you make smarter architecture decisions and pick the right level of abstraction.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1E2D3D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41239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☁️  Observability &amp; Evaluation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44074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· Weights &amp; Biases · Helicone · Braintrust  |  Tracing, evals, cost tracking, prompt versioning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15304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33467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Agent Frameworks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36301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LangGraph · CrewAI · AutoGen · Semantic Kernel  |  Or just raw API calls — often the simplest choice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0C3540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5694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Tools &amp; Integrations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" y="28529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· MCP (Model Context Protocol) · REST APIs · Databases · Vector stores · Web search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solidFill>
            <a:srgbClr val="1A2E1A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17922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Prompt &amp; Memory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" y="20756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· Context management · RAG pipelines · Conversation history · Structured output parsing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2D1B69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10149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LLM APIs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" y="12984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(Claude) · OpenAI (GPT-4o) · Google (Gemini) · Meta (Llama) · Local models via Ollama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LiteLLM  —  Our Model Gateway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52360" y="246888"/>
            <a:ext cx="141732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52360" y="2468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Used in our Org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proxy that gives every team a single, consistent API to any LLM — no matter the provider.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 Use It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65506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 Single Endpoint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1636776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behind one URL. Your code uses OpenAI-compatible format regardless of whether it's Claude, GPT-4o, or Gemini.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0" y="1691640"/>
            <a:ext cx="9144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4942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30428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Centralised API Keys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77440" y="2286000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provider keys in your code or repos. The gateway holds all credentials — devs just use their team token.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2340864"/>
            <a:ext cx="9144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98648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95351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 Cost &amp; Usage Tracking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2935224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Per-team, per-user, per-model spend visibility. Set budgets, get alerts, charge back to projects.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2990088"/>
            <a:ext cx="9144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54787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60273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Fallbacks &amp; Load Balance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77440" y="3584448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Claude is slow, automatically retry on GPT-4o or another model. Configurable fallback chains.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0" y="3639312"/>
            <a:ext cx="9144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9709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425196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Rate Limiting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77440" y="4233672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any team or user from hammering the API. Fine-grained limits by model, user, or team.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0" y="4288536"/>
            <a:ext cx="9144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1704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 Architecture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03520" y="1600200"/>
            <a:ext cx="3200400" cy="566928"/>
          </a:xfrm>
          <a:prstGeom prst="rect">
            <a:avLst/>
          </a:prstGeom>
          <a:solidFill>
            <a:srgbClr val="0D1B2A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160020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Code  (any language)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2258568"/>
            <a:ext cx="384048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2286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openai.chat.completions.</a:t>
            </a:r>
            <a:pPr indent="0" marL="0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(model=</a:t>
            </a:r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"claude-3-7-sonnet"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35040" y="27797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↓  routes to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0" y="3063240"/>
            <a:ext cx="3749040" cy="658368"/>
          </a:xfrm>
          <a:prstGeom prst="rect">
            <a:avLst/>
          </a:prstGeom>
          <a:solidFill>
            <a:srgbClr val="0C2A3A"/>
          </a:solidFill>
          <a:ln w="3175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306324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LiteLLM Gateway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315200" y="309067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Routing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· Logging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35040" y="37673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↓  dispatches to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4069080"/>
            <a:ext cx="868680" cy="658368"/>
          </a:xfrm>
          <a:prstGeom prst="rect">
            <a:avLst/>
          </a:prstGeom>
          <a:solidFill>
            <a:srgbClr val="1C0A2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41148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0" y="441655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833872" y="4069080"/>
            <a:ext cx="868680" cy="658368"/>
          </a:xfrm>
          <a:prstGeom prst="rect">
            <a:avLst/>
          </a:prstGeom>
          <a:solidFill>
            <a:srgbClr val="0A1F0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33872" y="41148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GPT-4o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833872" y="441655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821424" y="4069080"/>
            <a:ext cx="868680" cy="658368"/>
          </a:xfrm>
          <a:prstGeom prst="rect">
            <a:avLst/>
          </a:prstGeom>
          <a:solidFill>
            <a:srgbClr val="1A100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21424" y="41148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21424" y="441655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808976" y="4069080"/>
            <a:ext cx="868680" cy="658368"/>
          </a:xfrm>
          <a:prstGeom prst="rect">
            <a:avLst/>
          </a:prstGeom>
          <a:solidFill>
            <a:srgbClr val="0A1A2A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08976" y="41148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Llama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808976" y="441655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Pitfalls &amp; Anti-Patterns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1508760"/>
          </a:xfrm>
          <a:prstGeom prst="rect">
            <a:avLst/>
          </a:prstGeom>
          <a:solidFill>
            <a:srgbClr val="FFF3E0"/>
          </a:solidFill>
          <a:ln w="19050">
            <a:solidFill>
              <a:srgbClr val="FF98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3776" y="109728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🫠  Hallucinations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3776" y="146304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confidently produce wrong facts. Never use LLM output for citations, numbers, or decisions without independent verification.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651760" cy="1508760"/>
          </a:xfrm>
          <a:prstGeom prst="rect">
            <a:avLst/>
          </a:prstGeom>
          <a:solidFill>
            <a:srgbClr val="FCE4EC"/>
          </a:solidFill>
          <a:ln w="19050">
            <a:solidFill>
              <a:srgbClr val="E91E6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74136" y="109728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💉  Prompt Injection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74136" y="146304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can hijack system prompts: "Ignore all instructions and...". Treat ALL user input as untrusted. Validate and sanitise.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651760" cy="150876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109728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🏗️  Over-Engineering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54496" y="146304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build 10 agents when a single prompt works. Start with the simplest solution. Add complexity only when proven necessary.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2651760" cy="150876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" y="278892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📏  Skipping Evaluation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" y="315468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without evals is flying blind. Build an eval harness early — prompt regressions are silent and painful to debug.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2697480"/>
            <a:ext cx="2651760" cy="1508760"/>
          </a:xfrm>
          <a:prstGeom prst="rect">
            <a:avLst/>
          </a:prstGeom>
          <a:solidFill>
            <a:srgbClr val="EDE7F6"/>
          </a:solidFill>
          <a:ln w="19050">
            <a:solidFill>
              <a:srgbClr val="9C27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74136" y="278892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💸  Ignoring Cost &amp; Latency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74136" y="315468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call costs money and time. Design for caching, model-routing (small vs large), and batching from the start.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2697480"/>
            <a:ext cx="2651760" cy="1508760"/>
          </a:xfrm>
          <a:prstGeom prst="rect">
            <a:avLst/>
          </a:prstGeom>
          <a:solidFill>
            <a:srgbClr val="FFF8E1"/>
          </a:solidFill>
          <a:ln w="19050">
            <a:solidFill>
              <a:srgbClr val="FFC10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54496" y="278892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🎲  Assuming Determinism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54496" y="315468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outputs vary. Your system must handle unexpected formats, missing fields, and edge cases gracefully. Always validate structure.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Start with human-in-the-loop for high-stakes actions. Automate only after thorough evaluation and proven reliability.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to Start  —  A Practical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incrementally. Ship something real at each stage.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4160520" cy="1719072"/>
          </a:xfrm>
          <a:prstGeom prst="rect">
            <a:avLst/>
          </a:prstGeom>
          <a:solidFill>
            <a:srgbClr val="EDE7F6"/>
          </a:solidFill>
          <a:ln w="25400">
            <a:solidFill>
              <a:srgbClr val="7E57C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44168"/>
            <a:ext cx="475488" cy="475488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44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API Calls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SDK (pip install anthropic)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system prompt and test 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basic completion call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temperature and max_tokens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207008"/>
            <a:ext cx="4160520" cy="1719072"/>
          </a:xfrm>
          <a:prstGeom prst="rect">
            <a:avLst/>
          </a:prstGeom>
          <a:solidFill>
            <a:srgbClr val="E3F2FD"/>
          </a:solidFill>
          <a:ln w="25400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344168"/>
            <a:ext cx="475488" cy="47548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44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18288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on system prompts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few-shot examples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JSON output formats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chain-of-thought prompting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160520" cy="1719072"/>
          </a:xfrm>
          <a:prstGeom prst="rect">
            <a:avLst/>
          </a:prstGeom>
          <a:solidFill>
            <a:srgbClr val="E8F5E9"/>
          </a:solidFill>
          <a:ln w="25400">
            <a:solidFill>
              <a:srgbClr val="43A0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246120"/>
            <a:ext cx="475488" cy="47548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46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2735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Tools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373075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simple tool (e.g. calculator)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tool_call in your code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web search or DB tool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edge cases and errors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108960"/>
            <a:ext cx="4160520" cy="1719072"/>
          </a:xfrm>
          <a:prstGeom prst="rect">
            <a:avLst/>
          </a:prstGeom>
          <a:solidFill>
            <a:srgbClr val="FFF8E1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3246120"/>
            <a:ext cx="475488" cy="47548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246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32735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an Agent Loop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0" y="373075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Reason-Act-Observe loop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max iteration guard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conversation memory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observability + logging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 &amp;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65960" cy="3520440"/>
          </a:xfrm>
          <a:prstGeom prst="rect">
            <a:avLst/>
          </a:prstGeom>
          <a:solidFill>
            <a:srgbClr val="E3F2FD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0515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 SDKs &amp; APIs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9768" y="1463040"/>
            <a:ext cx="1719072" cy="914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581912"/>
            <a:ext cx="1755648" cy="272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SDK (Python &amp; JS)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(run models locally)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Generative AI SDK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1965960" cy="3520440"/>
          </a:xfrm>
          <a:prstGeom prst="rect">
            <a:avLst/>
          </a:prstGeom>
          <a:solidFill>
            <a:srgbClr val="EDE7F6"/>
          </a:solidFill>
          <a:ln w="19050">
            <a:solidFill>
              <a:srgbClr val="7E57C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78608" y="10515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Frameworks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78608" y="1463040"/>
            <a:ext cx="1719072" cy="9144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581912"/>
            <a:ext cx="1755648" cy="272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LangGraph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(multi-agent)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(Microsoft)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 (.NET/Python)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960120"/>
            <a:ext cx="1965960" cy="3520440"/>
          </a:xfrm>
          <a:prstGeom prst="rect">
            <a:avLst/>
          </a:prstGeom>
          <a:solidFill>
            <a:srgbClr val="E8F5E9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27448" y="10515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 Learning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27448" y="1463040"/>
            <a:ext cx="1719072" cy="914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1581912"/>
            <a:ext cx="1755648" cy="272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docs.anthropic.com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DeepLearning.ai short courses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Guide (promptingguide.ai)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cookbook (GitHub)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960120"/>
            <a:ext cx="1965960" cy="3520440"/>
          </a:xfrm>
          <a:prstGeom prst="rect">
            <a:avLst/>
          </a:prstGeom>
          <a:solidFill>
            <a:srgbClr val="FFF8E1"/>
          </a:solidFill>
          <a:ln w="1905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76288" y="10515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Observability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76288" y="1463040"/>
            <a:ext cx="1719072" cy="914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76288" y="1581912"/>
            <a:ext cx="1755648" cy="272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(LangChain tracing)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 Traces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Helicone (proxy + analytics)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Braintrust (evals)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Best way to learn: pick ONE real problem and solve it end-to-end. Start simple, measure, then add complexity.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5029200" cy="5029200"/>
          </a:xfrm>
          <a:prstGeom prst="ellipse">
            <a:avLst/>
          </a:prstGeom>
          <a:solidFill>
            <a:srgbClr val="0891B2">
              <a:alpha val="9000"/>
            </a:srgbClr>
          </a:solidFill>
          <a:ln w="12700">
            <a:solidFill>
              <a:srgbClr val="06B6D4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0891B2">
              <a:alpha val="7000"/>
            </a:srgbClr>
          </a:solidFill>
          <a:ln w="12700">
            <a:solidFill>
              <a:srgbClr val="06B6D4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18288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0" b="1" dirty="0">
                <a:solidFill>
                  <a:srgbClr val="0891B2">
                    <a:alpha val="22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26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something useful together.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832104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93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predict tokens — they don't know facts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combine LLMs + tools + a reasoning loop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= Reason → Act → Observe, repeated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direct API calls, add complexity gradually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evaluate — no evals = flying blind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Engineering: A Practical Introduction</dc:title>
  <dc:subject>PptxGenJS Presentation</dc:subject>
  <dc:creator>Engineering Team</dc:creator>
  <cp:lastModifiedBy>Engineering Team</cp:lastModifiedBy>
  <cp:revision>1</cp:revision>
  <dcterms:created xsi:type="dcterms:W3CDTF">2026-03-25T08:21:15Z</dcterms:created>
  <dcterms:modified xsi:type="dcterms:W3CDTF">2026-03-25T08:21:15Z</dcterms:modified>
</cp:coreProperties>
</file>